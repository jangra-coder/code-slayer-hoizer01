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46daccb2-0216-3320-9898-0d5761628dee}">
          <p14:sldIdLst>
            <p14:sldId id="256"/>
          </p14:sldIdLst>
        </p14:section>
        <p14:section name="Problem" id="{01b86149-13fa-01a3-946e-ddf3ca3bdedb}">
          <p14:sldIdLst>
            <p14:sldId id="257"/>
          </p14:sldIdLst>
        </p14:section>
        <p14:section name="Solution" id="{0d64bc49-7eb0-3a40-8846-695d93af3752}">
          <p14:sldIdLst>
            <p14:sldId id="258"/>
          </p14:sldIdLst>
        </p14:section>
        <p14:section name="Technology" id="{51d1669e-bcc0-1b31-b639-edbb919d3fc0}">
          <p14:sldIdLst>
            <p14:sldId id="259"/>
          </p14:sldIdLst>
        </p14:section>
        <p14:section name="Feasibility" id="{ec08077c-bbf3-44eb-88c7-8cfccf37b24c}">
          <p14:sldIdLst>
            <p14:sldId id="260"/>
          </p14:sldIdLst>
        </p14:section>
        <p14:section name="USP and Business Model" id="{925b30c5-2b20-5d66-49d7-c510ce9a992e}">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RepairOS is the decision layer between a broken device and a replacement purchase. In one guided session it identifies the device, collects real evidence (including the device's own health data), ranks likely faults with confidence, and turns that into a costed repair / service / replace decision that is saved to a Repair Passport. The screen on the right is an illustrative prototype result for a laptop that shuts down when unplugged.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failure is not the hard part — the decision is. Owners lack three answers: what failed, what a fair fix costs, and whether the device is worth fixing. Today those answers come from someone who profits from the outcome.
Sources:
1. Counterpoint Research — Survey: 4 in 10 India smartphone consumers require repeat visits for repairs (15 Sep 2025): https://www.counterpointresearch.com/insights/survey-4-in-10-india-smartphone-consumers-require-repeat-visits%20for-repairs
2. CPCB data via MoHUA written reply, Rajya Sabha, 16 Dec 2024 (1.751 MT in FY2023-24 vs 1.01 MT in FY2019-20): https://www.downtoearth.org.in/waste/indias-e-waste-surges-by-73-in-5-years
3. European Environmental Bureau, Coolproducts don't cost the Earth (2019): https://eeb.org/wp-content/uploads/2019/09/Coolproducts-briefing.pdf
4. Counterpoint Research, global active smartphone installed base 2025 (India &gt;740M).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one session: identify → collect evidence → diagnose → decide → track. Two things are new: (1) evidence comes from the device itself — Windows battery reports, macOS system_profiler, browser self-tests — not only from the user's description; (2) the output is a decision with economics (₹ per extra month of use, fair-price band, quote check), not a list of possible faults. The repairability score uses the same six factors as India's Repairability Index framework and the EU A–E label: disassembly depth, fasteners, tools, spare-part availability, software updates and repair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flow: the PWA collects answers, photos, self-test results and uploaded OS reports; FastAPI validates every payload against JSON schemas; the LLM is used only to turn messy text into structured symptoms (and to phrase the explanation) — it never makes the decision. The Bayesian engine combines model-specific priors from the knowledge base with the evidence to rank faults and pick the next question by expected information gain. The safety gate can override everything. The decision engine computes repairability and economics; the report and Passport are generated last and stored in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rests on scope discipline: two device categories, ten high-frequency fault families, ~25 popular models. Nothing needs training — the LLM and vision model are called through APIs with JSON-schema output, and the diagnostic engine is a small Bayesian model plus a rule graph in Python. Real evidence is available for free: `powercfg /batteryreport` on Windows gives design vs full-charge capacity, macOS `system_profiler SPPowerDataType` gives cycle count and condition, and browser APIs cover touch, audio, camera and motion sensors. All prices, scores and confidence values in the prototype are labelled indicative/model-generated; RepairOS does not issue official repairability ratings or safety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Monetisation is deliberately outcome-neutral: consumers get diagnosis free; we earn from verified reports, booked-repair commissions, shop SaaS, B2B diagnostics API, and trade-in/recycling referrals when replacement genuinely is the right call. That alignment is the core of the USP — the recommendation never depends on which path makes us money.
Sources:
- Department of Consumer Affairs: committee on Repairability Index for mobile and electronics (constituted Sep 2024, report 2025; parameters: disassembly depth, repair information, spare-part availability, software updates, tools, fasteners).
- EU Delegated Regulation 2023/1669 — energy label for smartphones and tablets incl. repairability class A–E, applicable from 20 June 2025: https://energy-efficient-products.ec.europa.eu/product-list/smartphones-and-tablets_en
- E-Waste (Management) Rules, 2022 (MoEFCC), in force 1 Apr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user/code-slayer-hoizer01/pitch-deck/assets/devsphere-logo.png">    </p:cNvPr>
          <p:cNvPicPr>
            <a:picLocks noChangeAspect="1"/>
          </p:cNvPicPr>
          <p:nvPr/>
        </p:nvPicPr>
        <p:blipFill>
          <a:blip r:embed="rId1"/>
          <a:stretch>
            <a:fillRect/>
          </a:stretch>
        </p:blipFill>
        <p:spPr>
          <a:xfrm>
            <a:off x="9692640" y="-109728"/>
            <a:ext cx="1143000" cy="1106424"/>
          </a:xfrm>
          <a:prstGeom prst="rect">
            <a:avLst/>
          </a:prstGeom>
        </p:spPr>
      </p:pic>
      <p:sp>
        <p:nvSpPr>
          <p:cNvPr id="3" name="Text 0"/>
          <p:cNvSpPr/>
          <p:nvPr/>
        </p:nvSpPr>
        <p:spPr>
          <a:xfrm>
            <a:off x="9445752" y="731520"/>
            <a:ext cx="1645920" cy="237744"/>
          </a:xfrm>
          <a:prstGeom prst="rect">
            <a:avLst/>
          </a:prstGeom>
          <a:noFill/>
          <a:ln/>
        </p:spPr>
        <p:txBody>
          <a:bodyPr wrap="square" lIns="0" tIns="0" rIns="0" bIns="0" rtlCol="0" anchor="ctr"/>
          <a:lstStyle/>
          <a:p>
            <a:pPr algn="ctr" indent="0" marL="0">
              <a:buNone/>
            </a:pPr>
            <a:r>
              <a:rPr lang="en-US" sz="1100" b="1" dirty="0">
                <a:solidFill>
                  <a:schemeClr val="tx1"/>
                </a:solidFill>
              </a:rPr>
              <a:t>DevSphereIndia</a:t>
            </a:r>
            <a:endParaRPr lang="en-US" sz="1100" dirty="0"/>
          </a:p>
        </p:txBody>
      </p:sp>
      <p:pic>
        <p:nvPicPr>
          <p:cNvPr id="4" name="Image 1" descr="/home/user/code-slayer-hoizer01/pitch-deck/assets/codeslayer-logo.png">    </p:cNvPr>
          <p:cNvPicPr>
            <a:picLocks noChangeAspect="1"/>
          </p:cNvPicPr>
          <p:nvPr/>
        </p:nvPicPr>
        <p:blipFill>
          <a:blip r:embed="rId2"/>
          <a:stretch>
            <a:fillRect/>
          </a:stretch>
        </p:blipFill>
        <p:spPr>
          <a:xfrm>
            <a:off x="10863072" y="-54864"/>
            <a:ext cx="1042416" cy="1042416"/>
          </a:xfrm>
          <a:prstGeom prst="rect">
            <a:avLst/>
          </a:prstGeom>
        </p:spPr>
      </p:pic>
      <p:sp>
        <p:nvSpPr>
          <p:cNvPr id="5" name="Text 1"/>
          <p:cNvSpPr/>
          <p:nvPr/>
        </p:nvSpPr>
        <p:spPr>
          <a:xfrm>
            <a:off x="219456" y="932688"/>
            <a:ext cx="2240280" cy="850392"/>
          </a:xfrm>
          <a:prstGeom prst="ellipse">
            <a:avLst/>
          </a:prstGeom>
          <a:noFill/>
          <a:ln w="9525">
            <a:solidFill>
              <a:srgbClr val="595959"/>
            </a:solidFill>
          </a:ln>
        </p:spPr>
        <p:txBody>
          <a:bodyPr wrap="square" lIns="50800" tIns="50800" rIns="50800" bIns="50800" rtlCol="0" anchor="ctr"/>
          <a:lstStyle/>
          <a:p>
            <a:pPr algn="ctr" indent="0" marL="0">
              <a:buNone/>
            </a:pPr>
            <a:r>
              <a:rPr lang="en-US" sz="1700" dirty="0">
                <a:solidFill>
                  <a:schemeClr val="tx1"/>
                </a:solidFill>
              </a:rPr>
              <a:t>Team Name</a:t>
            </a:r>
            <a:endParaRPr lang="en-US" sz="1700" dirty="0"/>
          </a:p>
        </p:txBody>
      </p:sp>
      <p:sp>
        <p:nvSpPr>
          <p:cNvPr id="6" name="Text 2"/>
          <p:cNvSpPr/>
          <p:nvPr>
            <p:ph idx="104" type="title" hasCustomPrompt="1"/>
          </p:nvPr>
        </p:nvSpPr>
        <p:spPr>
          <a:xfrm>
            <a:off x="2514600" y="146304"/>
            <a:ext cx="7086600" cy="987552"/>
          </a:xfrm>
          <a:prstGeom prst="rect">
            <a:avLst/>
          </a:prstGeom>
          <a:noFill/>
          <a:ln/>
        </p:spPr>
        <p:txBody>
          <a:bodyPr wrap="square" rtlCol="0"/>
          <a:lstStyle>
            <a:lvl1pPr algn="ctr" indent="0" marL="0">
              <a:buNone/>
              <a:defRPr lang="en-US" sz="2700" b="1" dirty="0">
                <a:solidFill>
                  <a:schemeClr val="tx1"/>
                </a:solidFill>
                <a:latin typeface="Georgia" pitchFamily="34" charset="0"/>
                <a:ea typeface="Georgia" pitchFamily="34" charset="-122"/>
                <a:cs typeface="Georgia" pitchFamily="34" charset="-120"/>
              </a:defRPr>
            </a:lvl1pPr>
          </a:lstStyle>
          <a:p>
            <a:pPr algn="ctr" indent="0" marL="0">
              <a:buNone/>
            </a:pP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pic>
        <p:nvPicPr>
          <p:cNvPr id="2" name="Image 0" descr="/home/user/code-slayer-hoizer01/pitch-deck/assets/banner.png">    </p:cNvPr>
          <p:cNvPicPr>
            <a:picLocks noChangeAspect="1"/>
          </p:cNvPicPr>
          <p:nvPr/>
        </p:nvPicPr>
        <p:blipFill>
          <a:blip r:embed="rId1"/>
          <a:stretch>
            <a:fillRect/>
          </a:stretch>
        </p:blipFill>
        <p:spPr>
          <a:xfrm>
            <a:off x="-73152" y="-201168"/>
            <a:ext cx="12335256" cy="4105656"/>
          </a:xfrm>
          <a:prstGeom prst="rect">
            <a:avLst/>
          </a:prstGeom>
        </p:spPr>
      </p:pic>
      <p:pic>
        <p:nvPicPr>
          <p:cNvPr id="3" name="Image 1" descr="/home/user/code-slayer-hoizer01/pitch-deck/assets/devsphere-logo.png">    </p:cNvPr>
          <p:cNvPicPr>
            <a:picLocks noChangeAspect="1"/>
          </p:cNvPicPr>
          <p:nvPr/>
        </p:nvPicPr>
        <p:blipFill>
          <a:blip r:embed="rId2"/>
          <a:stretch>
            <a:fillRect/>
          </a:stretch>
        </p:blipFill>
        <p:spPr>
          <a:xfrm>
            <a:off x="9564624" y="9144"/>
            <a:ext cx="1143000" cy="1106424"/>
          </a:xfrm>
          <a:prstGeom prst="rect">
            <a:avLst/>
          </a:prstGeom>
        </p:spPr>
      </p:pic>
      <p:sp>
        <p:nvSpPr>
          <p:cNvPr id="4" name="Text 0"/>
          <p:cNvSpPr/>
          <p:nvPr/>
        </p:nvSpPr>
        <p:spPr>
          <a:xfrm>
            <a:off x="9317736" y="886968"/>
            <a:ext cx="1645920" cy="219456"/>
          </a:xfrm>
          <a:prstGeom prst="rect">
            <a:avLst/>
          </a:prstGeom>
          <a:noFill/>
          <a:ln/>
        </p:spPr>
        <p:txBody>
          <a:bodyPr wrap="square" lIns="0" tIns="0" rIns="0" bIns="0" rtlCol="0" anchor="ctr"/>
          <a:lstStyle/>
          <a:p>
            <a:pPr algn="ctr" indent="0" marL="0">
              <a:buNone/>
            </a:pPr>
            <a:r>
              <a:rPr lang="en-US" sz="1100" b="1" dirty="0">
                <a:solidFill>
                  <a:schemeClr val="tx1"/>
                </a:solidFill>
              </a:rPr>
              <a:t>DevSphereIndia</a:t>
            </a:r>
            <a:endParaRPr lang="en-US" sz="1100" dirty="0"/>
          </a:p>
        </p:txBody>
      </p:sp>
      <p:pic>
        <p:nvPicPr>
          <p:cNvPr id="5" name="Image 2" descr="/home/user/code-slayer-hoizer01/pitch-deck/assets/codeslayer-logo.png">    </p:cNvPr>
          <p:cNvPicPr>
            <a:picLocks noChangeAspect="1"/>
          </p:cNvPicPr>
          <p:nvPr/>
        </p:nvPicPr>
        <p:blipFill>
          <a:blip r:embed="rId3"/>
          <a:stretch>
            <a:fillRect/>
          </a:stretch>
        </p:blipFill>
        <p:spPr>
          <a:xfrm>
            <a:off x="10844784" y="91440"/>
            <a:ext cx="1060704" cy="1060704"/>
          </a:xfrm>
          <a:prstGeom prst="rect">
            <a:avLst/>
          </a:prstGeom>
        </p:spPr>
      </p:pic>
      <p:sp>
        <p:nvSpPr>
          <p:cNvPr id="6" name="Text 1"/>
          <p:cNvSpPr/>
          <p:nvPr/>
        </p:nvSpPr>
        <p:spPr>
          <a:xfrm>
            <a:off x="219456" y="1078992"/>
            <a:ext cx="2240280" cy="850392"/>
          </a:xfrm>
          <a:prstGeom prst="ellipse">
            <a:avLst/>
          </a:prstGeom>
          <a:noFill/>
          <a:ln w="9525">
            <a:solidFill>
              <a:srgbClr val="595959"/>
            </a:solidFill>
          </a:ln>
        </p:spPr>
        <p:txBody>
          <a:bodyPr wrap="square" lIns="50800" tIns="50800" rIns="50800" bIns="50800" rtlCol="0" anchor="ctr"/>
          <a:lstStyle/>
          <a:p>
            <a:pPr algn="ctr" indent="0" marL="0">
              <a:buNone/>
            </a:pPr>
            <a:r>
              <a:rPr lang="en-US" sz="1700" dirty="0">
                <a:solidFill>
                  <a:schemeClr val="tx1"/>
                </a:solidFill>
              </a:rPr>
              <a:t>Team Name</a:t>
            </a:r>
            <a:endParaRPr lang="en-US" sz="1700" dirty="0"/>
          </a:p>
        </p:txBody>
      </p:sp>
      <p:pic>
        <p:nvPicPr>
          <p:cNvPr id="7" name="Image 3" descr="/home/user/code-slayer-hoizer01/pitch-deck/assets/codeslayer-wordmark.png">    </p:cNvPr>
          <p:cNvPicPr>
            <a:picLocks noChangeAspect="1"/>
          </p:cNvPicPr>
          <p:nvPr/>
        </p:nvPicPr>
        <p:blipFill>
          <a:blip r:embed="rId4"/>
          <a:stretch>
            <a:fillRect/>
          </a:stretch>
        </p:blipFill>
        <p:spPr>
          <a:xfrm>
            <a:off x="4144975" y="1521562"/>
            <a:ext cx="3895344" cy="40873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3.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image" Target="../media/image-3-32.png"/><Relationship Id="rId33" Type="http://schemas.openxmlformats.org/officeDocument/2006/relationships/image" Target="../media/image-3-33.png"/><Relationship Id="rId34" Type="http://schemas.openxmlformats.org/officeDocument/2006/relationships/image" Target="../media/image-3-34.png"/><Relationship Id="rId35" Type="http://schemas.openxmlformats.org/officeDocument/2006/relationships/image" Target="../media/image-3-35.png"/><Relationship Id="rId36" Type="http://schemas.openxmlformats.org/officeDocument/2006/relationships/slideLayout" Target="../slideLayouts/slideLayout2.xml"/><Relationship Id="rId3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2395728"/>
            <a:ext cx="2194560" cy="384048"/>
          </a:xfrm>
          <a:prstGeom prst="rect">
            <a:avLst/>
          </a:prstGeom>
          <a:noFill/>
          <a:ln/>
        </p:spPr>
        <p:txBody>
          <a:bodyPr wrap="square" lIns="0" tIns="0" rIns="0" bIns="0" rtlCol="0" anchor="ctr"/>
          <a:lstStyle/>
          <a:p>
            <a:pPr indent="0" marL="0">
              <a:buNone/>
            </a:pPr>
            <a:r>
              <a:rPr lang="en-US" sz="2000" b="1" dirty="0">
                <a:solidFill>
                  <a:schemeClr val="tx1"/>
                </a:solidFill>
              </a:rPr>
              <a:t>Project Title :</a:t>
            </a:r>
            <a:endParaRPr lang="en-US" sz="2000" dirty="0"/>
          </a:p>
        </p:txBody>
      </p:sp>
      <p:sp>
        <p:nvSpPr>
          <p:cNvPr id="3" name="Project title"/>
          <p:cNvSpPr txBox="1"/>
          <p:nvPr/>
        </p:nvSpPr>
        <p:spPr>
          <a:xfrm>
            <a:off x="2697480" y="2313432"/>
            <a:ext cx="6263640" cy="548640"/>
          </a:xfrm>
          <a:prstGeom prst="rect">
            <a:avLst/>
          </a:prstGeom>
          <a:noFill/>
          <a:ln/>
        </p:spPr>
        <p:txBody>
          <a:bodyPr wrap="square" lIns="0" tIns="0" rIns="0" bIns="0" rtlCol="0" anchor="ctr"/>
          <a:lstStyle/>
          <a:p>
            <a:pPr indent="0" marL="0">
              <a:buNone/>
            </a:pPr>
            <a:r>
              <a:rPr lang="en-US" sz="2800" b="1" dirty="0">
                <a:solidFill>
                  <a:schemeClr val="accent1"/>
                </a:solidFill>
                <a:latin typeface="Georgia" pitchFamily="34" charset="0"/>
                <a:ea typeface="Georgia" pitchFamily="34" charset="-122"/>
                <a:cs typeface="Georgia" pitchFamily="34" charset="-120"/>
              </a:rPr>
              <a:t>RepairOS</a:t>
            </a:r>
            <a:pPr indent="0" marL="0">
              <a:buNone/>
            </a:pPr>
            <a:r>
              <a:rPr lang="en-US" sz="1600" i="1" dirty="0">
                <a:solidFill>
                  <a:schemeClr val="accent4"/>
                </a:solidFill>
              </a:rPr>
              <a:t>   Diagnose Before You Replace</a:t>
            </a:r>
            <a:endParaRPr lang="en-US" sz="2800" dirty="0"/>
          </a:p>
        </p:txBody>
      </p:sp>
      <p:sp>
        <p:nvSpPr>
          <p:cNvPr id="4" name="One-line pitch"/>
          <p:cNvSpPr txBox="1"/>
          <p:nvPr/>
        </p:nvSpPr>
        <p:spPr>
          <a:xfrm>
            <a:off x="2697480" y="2834640"/>
            <a:ext cx="6126480" cy="530352"/>
          </a:xfrm>
          <a:prstGeom prst="rect">
            <a:avLst/>
          </a:prstGeom>
          <a:noFill/>
          <a:ln/>
        </p:spPr>
        <p:txBody>
          <a:bodyPr wrap="square" lIns="0" tIns="0" rIns="0" bIns="0" rtlCol="0" anchor="t"/>
          <a:lstStyle/>
          <a:p>
            <a:pPr indent="0" marL="0">
              <a:buNone/>
            </a:pPr>
            <a:r>
              <a:rPr lang="en-US" sz="1250" dirty="0">
                <a:solidFill>
                  <a:schemeClr val="tx1"/>
                </a:solidFill>
              </a:rPr>
              <a:t>An evidence-first AI platform that tells phone and laptop owners what failed, what a fair fix should cost, and whether to repair, service or replace.</a:t>
            </a:r>
            <a:endParaRPr lang="en-US" sz="1250" dirty="0"/>
          </a:p>
        </p:txBody>
      </p:sp>
      <p:sp>
        <p:nvSpPr>
          <p:cNvPr id="5" name="Text 3"/>
          <p:cNvSpPr txBox="1"/>
          <p:nvPr/>
        </p:nvSpPr>
        <p:spPr>
          <a:xfrm>
            <a:off x="685800" y="3529584"/>
            <a:ext cx="2194560" cy="384048"/>
          </a:xfrm>
          <a:prstGeom prst="rect">
            <a:avLst/>
          </a:prstGeom>
          <a:noFill/>
          <a:ln/>
        </p:spPr>
        <p:txBody>
          <a:bodyPr wrap="square" lIns="0" tIns="0" rIns="0" bIns="0" rtlCol="0" anchor="ctr"/>
          <a:lstStyle/>
          <a:p>
            <a:pPr indent="0" marL="0">
              <a:buNone/>
            </a:pPr>
            <a:r>
              <a:rPr lang="en-US" sz="2000" b="1" dirty="0">
                <a:solidFill>
                  <a:schemeClr val="tx1"/>
                </a:solidFill>
              </a:rPr>
              <a:t>Team Name :</a:t>
            </a:r>
            <a:endParaRPr lang="en-US" sz="2000" dirty="0"/>
          </a:p>
        </p:txBody>
      </p:sp>
      <p:sp>
        <p:nvSpPr>
          <p:cNvPr id="6" name="Team name"/>
          <p:cNvSpPr txBox="1"/>
          <p:nvPr/>
        </p:nvSpPr>
        <p:spPr>
          <a:xfrm>
            <a:off x="2697480" y="3529584"/>
            <a:ext cx="5943600" cy="384048"/>
          </a:xfrm>
          <a:prstGeom prst="rect">
            <a:avLst/>
          </a:prstGeom>
          <a:noFill/>
          <a:ln/>
        </p:spPr>
        <p:txBody>
          <a:bodyPr wrap="square" lIns="0" tIns="0" rIns="0" bIns="0" rtlCol="0" anchor="ctr"/>
          <a:lstStyle/>
          <a:p>
            <a:pPr indent="0" marL="0">
              <a:buNone/>
            </a:pPr>
            <a:r>
              <a:rPr lang="en-US" sz="1800" dirty="0">
                <a:solidFill>
                  <a:schemeClr val="tx1"/>
                </a:solidFill>
              </a:rPr>
              <a:t>Team Name</a:t>
            </a:r>
            <a:endParaRPr lang="en-US" sz="1800" dirty="0"/>
          </a:p>
        </p:txBody>
      </p:sp>
      <p:sp>
        <p:nvSpPr>
          <p:cNvPr id="7" name="Text 5"/>
          <p:cNvSpPr txBox="1"/>
          <p:nvPr/>
        </p:nvSpPr>
        <p:spPr>
          <a:xfrm>
            <a:off x="685800" y="4078224"/>
            <a:ext cx="6858000" cy="384048"/>
          </a:xfrm>
          <a:prstGeom prst="rect">
            <a:avLst/>
          </a:prstGeom>
          <a:noFill/>
          <a:ln/>
        </p:spPr>
        <p:txBody>
          <a:bodyPr wrap="square" lIns="0" tIns="0" rIns="0" bIns="0" rtlCol="0" anchor="ctr"/>
          <a:lstStyle/>
          <a:p>
            <a:pPr indent="0" marL="0">
              <a:buNone/>
            </a:pPr>
            <a:r>
              <a:rPr lang="en-US" sz="2000" b="1" dirty="0">
                <a:solidFill>
                  <a:schemeClr val="tx1"/>
                </a:solidFill>
              </a:rPr>
              <a:t>Team Members </a:t>
            </a:r>
            <a:pPr indent="0" marL="0">
              <a:buNone/>
            </a:pPr>
            <a:r>
              <a:rPr lang="en-US" sz="1500" i="1" dirty="0">
                <a:solidFill>
                  <a:schemeClr val="tx1"/>
                </a:solidFill>
              </a:rPr>
              <a:t>(Names + Roles Briefly)</a:t>
            </a:r>
            <a:pPr indent="0" marL="0">
              <a:buNone/>
            </a:pPr>
            <a:r>
              <a:rPr lang="en-US" sz="2000" b="1" dirty="0">
                <a:solidFill>
                  <a:schemeClr val="tx1"/>
                </a:solidFill>
              </a:rPr>
              <a:t>:</a:t>
            </a:r>
            <a:endParaRPr lang="en-US" sz="2000" dirty="0"/>
          </a:p>
        </p:txBody>
      </p:sp>
      <p:pic>
        <p:nvPicPr>
          <p:cNvPr id="8" name="Image 0" descr="preencoded.png">    </p:cNvPr>
          <p:cNvPicPr>
            <a:picLocks noChangeAspect="1"/>
          </p:cNvPicPr>
          <p:nvPr/>
        </p:nvPicPr>
        <p:blipFill>
          <a:blip r:embed="rId1"/>
          <a:stretch>
            <a:fillRect/>
          </a:stretch>
        </p:blipFill>
        <p:spPr>
          <a:xfrm>
            <a:off x="713232" y="4622292"/>
            <a:ext cx="82296" cy="82296"/>
          </a:xfrm>
          <a:prstGeom prst="rect">
            <a:avLst/>
          </a:prstGeom>
        </p:spPr>
      </p:pic>
      <p:sp>
        <p:nvSpPr>
          <p:cNvPr id="9" name="Member 1"/>
          <p:cNvSpPr txBox="1"/>
          <p:nvPr/>
        </p:nvSpPr>
        <p:spPr>
          <a:xfrm>
            <a:off x="896112" y="4526280"/>
            <a:ext cx="7863840" cy="274320"/>
          </a:xfrm>
          <a:prstGeom prst="rect">
            <a:avLst/>
          </a:prstGeom>
          <a:noFill/>
          <a:ln/>
        </p:spPr>
        <p:txBody>
          <a:bodyPr wrap="square" lIns="0" tIns="0" rIns="0" bIns="0" rtlCol="0" anchor="ctr"/>
          <a:lstStyle/>
          <a:p>
            <a:pPr indent="0" marL="0">
              <a:buNone/>
            </a:pPr>
            <a:r>
              <a:rPr lang="en-US" sz="1300" b="1" dirty="0">
                <a:solidFill>
                  <a:schemeClr val="tx1"/>
                </a:solidFill>
              </a:rPr>
              <a:t>Member 1</a:t>
            </a:r>
            <a:pPr indent="0" marL="0">
              <a:buNone/>
            </a:pPr>
            <a:r>
              <a:rPr lang="en-US" sz="1150" dirty="0">
                <a:solidFill>
                  <a:schemeClr val="accent4"/>
                </a:solidFill>
              </a:rPr>
              <a:t>  —  Team lead · product, decision logic &amp; pitch</a:t>
            </a:r>
            <a:endParaRPr lang="en-US" sz="1300" dirty="0"/>
          </a:p>
        </p:txBody>
      </p:sp>
      <p:pic>
        <p:nvPicPr>
          <p:cNvPr id="10" name="Image 1" descr="preencoded.png">    </p:cNvPr>
          <p:cNvPicPr>
            <a:picLocks noChangeAspect="1"/>
          </p:cNvPicPr>
          <p:nvPr/>
        </p:nvPicPr>
        <p:blipFill>
          <a:blip r:embed="rId2"/>
          <a:stretch>
            <a:fillRect/>
          </a:stretch>
        </p:blipFill>
        <p:spPr>
          <a:xfrm>
            <a:off x="713232" y="4905756"/>
            <a:ext cx="82296" cy="82296"/>
          </a:xfrm>
          <a:prstGeom prst="rect">
            <a:avLst/>
          </a:prstGeom>
        </p:spPr>
      </p:pic>
      <p:sp>
        <p:nvSpPr>
          <p:cNvPr id="11" name="Member 2"/>
          <p:cNvSpPr txBox="1"/>
          <p:nvPr/>
        </p:nvSpPr>
        <p:spPr>
          <a:xfrm>
            <a:off x="896112" y="4809744"/>
            <a:ext cx="7863840" cy="274320"/>
          </a:xfrm>
          <a:prstGeom prst="rect">
            <a:avLst/>
          </a:prstGeom>
          <a:noFill/>
          <a:ln/>
        </p:spPr>
        <p:txBody>
          <a:bodyPr wrap="square" lIns="0" tIns="0" rIns="0" bIns="0" rtlCol="0" anchor="ctr"/>
          <a:lstStyle/>
          <a:p>
            <a:pPr indent="0" marL="0">
              <a:buNone/>
            </a:pPr>
            <a:r>
              <a:rPr lang="en-US" sz="1300" b="1" dirty="0">
                <a:solidFill>
                  <a:schemeClr val="tx1"/>
                </a:solidFill>
              </a:rPr>
              <a:t>Member 2</a:t>
            </a:r>
            <a:pPr indent="0" marL="0">
              <a:buNone/>
            </a:pPr>
            <a:r>
              <a:rPr lang="en-US" sz="1150" dirty="0">
                <a:solidFill>
                  <a:schemeClr val="accent4"/>
                </a:solidFill>
              </a:rPr>
              <a:t>  —  Frontend · Next.js PWA, self-tests, Passport UI</a:t>
            </a:r>
            <a:endParaRPr lang="en-US" sz="1300" dirty="0"/>
          </a:p>
        </p:txBody>
      </p:sp>
      <p:pic>
        <p:nvPicPr>
          <p:cNvPr id="12" name="Image 2" descr="preencoded.png">    </p:cNvPr>
          <p:cNvPicPr>
            <a:picLocks noChangeAspect="1"/>
          </p:cNvPicPr>
          <p:nvPr/>
        </p:nvPicPr>
        <p:blipFill>
          <a:blip r:embed="rId3"/>
          <a:stretch>
            <a:fillRect/>
          </a:stretch>
        </p:blipFill>
        <p:spPr>
          <a:xfrm>
            <a:off x="713232" y="5189220"/>
            <a:ext cx="82296" cy="82296"/>
          </a:xfrm>
          <a:prstGeom prst="rect">
            <a:avLst/>
          </a:prstGeom>
        </p:spPr>
      </p:pic>
      <p:sp>
        <p:nvSpPr>
          <p:cNvPr id="13" name="Member 3"/>
          <p:cNvSpPr txBox="1"/>
          <p:nvPr/>
        </p:nvSpPr>
        <p:spPr>
          <a:xfrm>
            <a:off x="896112" y="5093208"/>
            <a:ext cx="7863840" cy="274320"/>
          </a:xfrm>
          <a:prstGeom prst="rect">
            <a:avLst/>
          </a:prstGeom>
          <a:noFill/>
          <a:ln/>
        </p:spPr>
        <p:txBody>
          <a:bodyPr wrap="square" lIns="0" tIns="0" rIns="0" bIns="0" rtlCol="0" anchor="ctr"/>
          <a:lstStyle/>
          <a:p>
            <a:pPr indent="0" marL="0">
              <a:buNone/>
            </a:pPr>
            <a:r>
              <a:rPr lang="en-US" sz="1300" b="1" dirty="0">
                <a:solidFill>
                  <a:schemeClr val="tx1"/>
                </a:solidFill>
              </a:rPr>
              <a:t>Member 3</a:t>
            </a:r>
            <a:pPr indent="0" marL="0">
              <a:buNone/>
            </a:pPr>
            <a:r>
              <a:rPr lang="en-US" sz="1150" dirty="0">
                <a:solidFill>
                  <a:schemeClr val="accent4"/>
                </a:solidFill>
              </a:rPr>
              <a:t>  —  Backend · FastAPI, Bayesian engine, data model</a:t>
            </a:r>
            <a:endParaRPr lang="en-US" sz="1300" dirty="0"/>
          </a:p>
        </p:txBody>
      </p:sp>
      <p:pic>
        <p:nvPicPr>
          <p:cNvPr id="14" name="Image 3" descr="preencoded.png">    </p:cNvPr>
          <p:cNvPicPr>
            <a:picLocks noChangeAspect="1"/>
          </p:cNvPicPr>
          <p:nvPr/>
        </p:nvPicPr>
        <p:blipFill>
          <a:blip r:embed="rId4"/>
          <a:stretch>
            <a:fillRect/>
          </a:stretch>
        </p:blipFill>
        <p:spPr>
          <a:xfrm>
            <a:off x="713232" y="5472684"/>
            <a:ext cx="82296" cy="82296"/>
          </a:xfrm>
          <a:prstGeom prst="rect">
            <a:avLst/>
          </a:prstGeom>
        </p:spPr>
      </p:pic>
      <p:sp>
        <p:nvSpPr>
          <p:cNvPr id="15" name="Member 4"/>
          <p:cNvSpPr txBox="1"/>
          <p:nvPr/>
        </p:nvSpPr>
        <p:spPr>
          <a:xfrm>
            <a:off x="896112" y="5376672"/>
            <a:ext cx="7863840" cy="274320"/>
          </a:xfrm>
          <a:prstGeom prst="rect">
            <a:avLst/>
          </a:prstGeom>
          <a:noFill/>
          <a:ln/>
        </p:spPr>
        <p:txBody>
          <a:bodyPr wrap="square" lIns="0" tIns="0" rIns="0" bIns="0" rtlCol="0" anchor="ctr"/>
          <a:lstStyle/>
          <a:p>
            <a:pPr indent="0" marL="0">
              <a:buNone/>
            </a:pPr>
            <a:r>
              <a:rPr lang="en-US" sz="1300" b="1" dirty="0">
                <a:solidFill>
                  <a:schemeClr val="tx1"/>
                </a:solidFill>
              </a:rPr>
              <a:t>Member 4</a:t>
            </a:r>
            <a:pPr indent="0" marL="0">
              <a:buNone/>
            </a:pPr>
            <a:r>
              <a:rPr lang="en-US" sz="1150" dirty="0">
                <a:solidFill>
                  <a:schemeClr val="accent4"/>
                </a:solidFill>
              </a:rPr>
              <a:t>  —  AI/ML · LLM extraction, OCR/vision, RAG</a:t>
            </a:r>
            <a:endParaRPr lang="en-US" sz="1300" dirty="0"/>
          </a:p>
        </p:txBody>
      </p:sp>
      <p:sp>
        <p:nvSpPr>
          <p:cNvPr id="16" name="Text 10"/>
          <p:cNvSpPr txBox="1"/>
          <p:nvPr/>
        </p:nvSpPr>
        <p:spPr>
          <a:xfrm>
            <a:off x="685800" y="5760720"/>
            <a:ext cx="2194560" cy="384048"/>
          </a:xfrm>
          <a:prstGeom prst="rect">
            <a:avLst/>
          </a:prstGeom>
          <a:noFill/>
          <a:ln/>
        </p:spPr>
        <p:txBody>
          <a:bodyPr wrap="square" lIns="0" tIns="0" rIns="0" bIns="0" rtlCol="0" anchor="ctr"/>
          <a:lstStyle/>
          <a:p>
            <a:pPr indent="0" marL="0">
              <a:buNone/>
            </a:pPr>
            <a:r>
              <a:rPr lang="en-US" sz="2000" b="1" dirty="0">
                <a:solidFill>
                  <a:schemeClr val="tx1"/>
                </a:solidFill>
              </a:rPr>
              <a:t>Tracks Chosen:</a:t>
            </a:r>
            <a:endParaRPr lang="en-US" sz="2000" dirty="0"/>
          </a:p>
        </p:txBody>
      </p:sp>
      <p:sp>
        <p:nvSpPr>
          <p:cNvPr id="17" name="Track"/>
          <p:cNvSpPr txBox="1"/>
          <p:nvPr/>
        </p:nvSpPr>
        <p:spPr>
          <a:xfrm>
            <a:off x="3017520" y="5760720"/>
            <a:ext cx="6035040" cy="384048"/>
          </a:xfrm>
          <a:prstGeom prst="rect">
            <a:avLst/>
          </a:prstGeom>
          <a:noFill/>
          <a:ln/>
        </p:spPr>
        <p:txBody>
          <a:bodyPr wrap="square" lIns="0" tIns="0" rIns="0" bIns="0" rtlCol="0" anchor="ctr"/>
          <a:lstStyle/>
          <a:p>
            <a:pPr indent="0" marL="0">
              <a:buNone/>
            </a:pPr>
            <a:r>
              <a:rPr lang="en-US" sz="1800" b="1" dirty="0">
                <a:solidFill>
                  <a:schemeClr val="accent1"/>
                </a:solidFill>
              </a:rPr>
              <a:t>Open Innovation</a:t>
            </a:r>
            <a:pPr indent="0" marL="0">
              <a:buNone/>
            </a:pPr>
            <a:r>
              <a:rPr lang="en-US" sz="1300" dirty="0">
                <a:solidFill>
                  <a:schemeClr val="accent4"/>
                </a:solidFill>
              </a:rPr>
              <a:t>   with an AI/ML core and a Sustainability outcome</a:t>
            </a:r>
            <a:endParaRPr lang="en-US" sz="1800" dirty="0"/>
          </a:p>
        </p:txBody>
      </p:sp>
      <p:sp>
        <p:nvSpPr>
          <p:cNvPr id="18" name="Phone frame"/>
          <p:cNvSpPr/>
          <p:nvPr/>
        </p:nvSpPr>
        <p:spPr>
          <a:xfrm>
            <a:off x="9189720" y="2176272"/>
            <a:ext cx="2377440" cy="4315968"/>
          </a:xfrm>
          <a:prstGeom prst="roundRect">
            <a:avLst>
              <a:gd name="adj" fmla="val 12308"/>
            </a:avLst>
          </a:prstGeom>
          <a:solidFill>
            <a:schemeClr val="tx2"/>
          </a:solidFill>
          <a:ln w="12700">
            <a:solidFill>
              <a:schemeClr val="tx2"/>
            </a:solidFill>
            <a:prstDash val="solid"/>
          </a:ln>
          <a:effectLst>
            <a:outerShdw sx="100000" sy="100000" kx="0" ky="0" algn="bl" rotWithShape="0" blurRad="177800" dist="63500" dir="5400000">
              <a:srgbClr val="000000">
                <a:alpha val="22000"/>
              </a:srgbClr>
            </a:outerShdw>
          </a:effectLst>
        </p:spPr>
      </p:sp>
      <p:sp>
        <p:nvSpPr>
          <p:cNvPr id="19" name="Shape 13"/>
          <p:cNvSpPr/>
          <p:nvPr/>
        </p:nvSpPr>
        <p:spPr>
          <a:xfrm>
            <a:off x="9281160" y="2267712"/>
            <a:ext cx="2194560" cy="4133088"/>
          </a:xfrm>
          <a:prstGeom prst="roundRect">
            <a:avLst>
              <a:gd name="adj" fmla="val 10000"/>
            </a:avLst>
          </a:prstGeom>
          <a:solidFill>
            <a:schemeClr val="bg1"/>
          </a:solidFill>
          <a:ln w="12700">
            <a:solidFill>
              <a:schemeClr val="bg1"/>
            </a:solidFill>
            <a:prstDash val="solid"/>
          </a:ln>
        </p:spPr>
      </p:sp>
      <p:sp>
        <p:nvSpPr>
          <p:cNvPr id="20" name="Shape 14"/>
          <p:cNvSpPr/>
          <p:nvPr/>
        </p:nvSpPr>
        <p:spPr>
          <a:xfrm>
            <a:off x="10067544" y="2331720"/>
            <a:ext cx="621792" cy="91440"/>
          </a:xfrm>
          <a:prstGeom prst="roundRect">
            <a:avLst>
              <a:gd name="adj" fmla="val 50000"/>
            </a:avLst>
          </a:prstGeom>
          <a:solidFill>
            <a:schemeClr val="tx2"/>
          </a:solidFill>
          <a:ln w="12700">
            <a:solidFill>
              <a:schemeClr val="tx2"/>
            </a:solidFill>
            <a:prstDash val="solid"/>
          </a:ln>
        </p:spPr>
      </p:sp>
      <p:sp>
        <p:nvSpPr>
          <p:cNvPr id="21" name="Text 15"/>
          <p:cNvSpPr txBox="1"/>
          <p:nvPr/>
        </p:nvSpPr>
        <p:spPr>
          <a:xfrm>
            <a:off x="9409176" y="2505456"/>
            <a:ext cx="1097280" cy="219456"/>
          </a:xfrm>
          <a:prstGeom prst="rect">
            <a:avLst/>
          </a:prstGeom>
          <a:noFill/>
          <a:ln/>
        </p:spPr>
        <p:txBody>
          <a:bodyPr wrap="square" lIns="0" tIns="0" rIns="0" bIns="0" rtlCol="0" anchor="ctr"/>
          <a:lstStyle/>
          <a:p>
            <a:pPr indent="0" marL="0">
              <a:buNone/>
            </a:pPr>
            <a:r>
              <a:rPr lang="en-US" sz="1150" b="1" dirty="0">
                <a:solidFill>
                  <a:schemeClr val="accent1"/>
                </a:solidFill>
                <a:latin typeface="Georgia" pitchFamily="34" charset="0"/>
                <a:ea typeface="Georgia" pitchFamily="34" charset="-122"/>
                <a:cs typeface="Georgia" pitchFamily="34" charset="-120"/>
              </a:rPr>
              <a:t>RepairOS</a:t>
            </a:r>
            <a:endParaRPr lang="en-US" sz="1150" dirty="0"/>
          </a:p>
        </p:txBody>
      </p:sp>
      <p:sp>
        <p:nvSpPr>
          <p:cNvPr id="22" name="Text 16"/>
          <p:cNvSpPr txBox="1"/>
          <p:nvPr/>
        </p:nvSpPr>
        <p:spPr>
          <a:xfrm>
            <a:off x="10323576" y="2505456"/>
            <a:ext cx="1024128" cy="219456"/>
          </a:xfrm>
          <a:prstGeom prst="rect">
            <a:avLst/>
          </a:prstGeom>
          <a:noFill/>
          <a:ln/>
        </p:spPr>
        <p:txBody>
          <a:bodyPr wrap="square" lIns="0" tIns="0" rIns="0" bIns="0" rtlCol="0" anchor="ctr"/>
          <a:lstStyle/>
          <a:p>
            <a:pPr algn="r" indent="0" marL="0">
              <a:buNone/>
            </a:pPr>
            <a:r>
              <a:rPr lang="en-US" sz="700" dirty="0">
                <a:solidFill>
                  <a:schemeClr val="accent4"/>
                </a:solidFill>
              </a:rPr>
              <a:t>Report R-2417</a:t>
            </a:r>
            <a:endParaRPr lang="en-US" sz="700" dirty="0"/>
          </a:p>
        </p:txBody>
      </p:sp>
      <p:sp>
        <p:nvSpPr>
          <p:cNvPr id="23" name="Text 17"/>
          <p:cNvSpPr txBox="1"/>
          <p:nvPr/>
        </p:nvSpPr>
        <p:spPr>
          <a:xfrm>
            <a:off x="9409176" y="2779776"/>
            <a:ext cx="1938528" cy="182880"/>
          </a:xfrm>
          <a:prstGeom prst="rect">
            <a:avLst/>
          </a:prstGeom>
          <a:noFill/>
          <a:ln/>
        </p:spPr>
        <p:txBody>
          <a:bodyPr wrap="square" lIns="0" tIns="0" rIns="0" bIns="0" rtlCol="0" anchor="ctr"/>
          <a:lstStyle/>
          <a:p>
            <a:pPr indent="0" marL="0">
              <a:buNone/>
            </a:pPr>
            <a:r>
              <a:rPr lang="en-US" sz="900" b="1" dirty="0">
                <a:solidFill>
                  <a:schemeClr val="tx1"/>
                </a:solidFill>
              </a:rPr>
              <a:t>Dell Inspiron 15 3511</a:t>
            </a:r>
            <a:endParaRPr lang="en-US" sz="900" dirty="0"/>
          </a:p>
        </p:txBody>
      </p:sp>
      <p:sp>
        <p:nvSpPr>
          <p:cNvPr id="24" name="Text 18"/>
          <p:cNvSpPr txBox="1"/>
          <p:nvPr/>
        </p:nvSpPr>
        <p:spPr>
          <a:xfrm>
            <a:off x="9409176" y="2953512"/>
            <a:ext cx="1938528" cy="155448"/>
          </a:xfrm>
          <a:prstGeom prst="rect">
            <a:avLst/>
          </a:prstGeom>
          <a:noFill/>
          <a:ln/>
        </p:spPr>
        <p:txBody>
          <a:bodyPr wrap="square" lIns="0" tIns="0" rIns="0" bIns="0" rtlCol="0" anchor="ctr"/>
          <a:lstStyle/>
          <a:p>
            <a:pPr indent="0" marL="0">
              <a:buNone/>
            </a:pPr>
            <a:r>
              <a:rPr lang="en-US" sz="700" dirty="0">
                <a:solidFill>
                  <a:schemeClr val="accent4"/>
                </a:solidFill>
              </a:rPr>
              <a:t>Laptop · 3.4 yrs old · out of warranty</a:t>
            </a:r>
            <a:endParaRPr lang="en-US" sz="700" dirty="0"/>
          </a:p>
        </p:txBody>
      </p:sp>
      <p:sp>
        <p:nvSpPr>
          <p:cNvPr id="25" name="Shape 19"/>
          <p:cNvSpPr/>
          <p:nvPr/>
        </p:nvSpPr>
        <p:spPr>
          <a:xfrm>
            <a:off x="9409176" y="3182112"/>
            <a:ext cx="1938528" cy="365760"/>
          </a:xfrm>
          <a:prstGeom prst="roundRect">
            <a:avLst>
              <a:gd name="adj" fmla="val 20000"/>
            </a:avLst>
          </a:prstGeom>
          <a:solidFill>
            <a:schemeClr val="bg2"/>
          </a:solidFill>
          <a:ln w="12700">
            <a:solidFill>
              <a:schemeClr val="bg2"/>
            </a:solidFill>
            <a:prstDash val="solid"/>
          </a:ln>
        </p:spPr>
      </p:sp>
      <p:sp>
        <p:nvSpPr>
          <p:cNvPr id="26" name="Text 20"/>
          <p:cNvSpPr txBox="1"/>
          <p:nvPr/>
        </p:nvSpPr>
        <p:spPr>
          <a:xfrm>
            <a:off x="9482328" y="3182112"/>
            <a:ext cx="1792224" cy="365760"/>
          </a:xfrm>
          <a:prstGeom prst="rect">
            <a:avLst/>
          </a:prstGeom>
          <a:noFill/>
          <a:ln/>
        </p:spPr>
        <p:txBody>
          <a:bodyPr wrap="square" lIns="0" tIns="0" rIns="0" bIns="0" rtlCol="0" anchor="ctr"/>
          <a:lstStyle/>
          <a:p>
            <a:pPr indent="0" marL="0">
              <a:buNone/>
            </a:pPr>
            <a:r>
              <a:rPr lang="en-US" sz="750" i="1" dirty="0">
                <a:solidFill>
                  <a:schemeClr val="tx1"/>
                </a:solidFill>
              </a:rPr>
              <a:t>“Shuts down the moment I unplug the charger.”</a:t>
            </a:r>
            <a:endParaRPr lang="en-US" sz="750" dirty="0"/>
          </a:p>
        </p:txBody>
      </p:sp>
      <p:sp>
        <p:nvSpPr>
          <p:cNvPr id="27" name="Text 21"/>
          <p:cNvSpPr txBox="1"/>
          <p:nvPr/>
        </p:nvSpPr>
        <p:spPr>
          <a:xfrm>
            <a:off x="9409176" y="3639312"/>
            <a:ext cx="1938528" cy="146304"/>
          </a:xfrm>
          <a:prstGeom prst="rect">
            <a:avLst/>
          </a:prstGeom>
          <a:noFill/>
          <a:ln/>
        </p:spPr>
        <p:txBody>
          <a:bodyPr wrap="square" lIns="0" tIns="0" rIns="0" bIns="0" rtlCol="0" anchor="ctr"/>
          <a:lstStyle/>
          <a:p>
            <a:pPr indent="0" marL="0">
              <a:buNone/>
            </a:pPr>
            <a:r>
              <a:rPr lang="en-US" sz="650" b="1" spc="100" kern="0" dirty="0">
                <a:solidFill>
                  <a:schemeClr val="accent4"/>
                </a:solidFill>
              </a:rPr>
              <a:t>EVIDENCE</a:t>
            </a:r>
            <a:endParaRPr lang="en-US" sz="650" dirty="0"/>
          </a:p>
        </p:txBody>
      </p:sp>
      <p:pic>
        <p:nvPicPr>
          <p:cNvPr id="28" name="Image 4" descr="preencoded.png">    </p:cNvPr>
          <p:cNvPicPr>
            <a:picLocks noChangeAspect="1"/>
          </p:cNvPicPr>
          <p:nvPr/>
        </p:nvPicPr>
        <p:blipFill>
          <a:blip r:embed="rId5"/>
          <a:stretch>
            <a:fillRect/>
          </a:stretch>
        </p:blipFill>
        <p:spPr>
          <a:xfrm>
            <a:off x="9409176" y="3822192"/>
            <a:ext cx="109728" cy="109728"/>
          </a:xfrm>
          <a:prstGeom prst="rect">
            <a:avLst/>
          </a:prstGeom>
        </p:spPr>
      </p:pic>
      <p:sp>
        <p:nvSpPr>
          <p:cNvPr id="29" name="Text 22"/>
          <p:cNvSpPr txBox="1"/>
          <p:nvPr/>
        </p:nvSpPr>
        <p:spPr>
          <a:xfrm>
            <a:off x="9564624" y="3794760"/>
            <a:ext cx="1783080" cy="164592"/>
          </a:xfrm>
          <a:prstGeom prst="rect">
            <a:avLst/>
          </a:prstGeom>
          <a:noFill/>
          <a:ln/>
        </p:spPr>
        <p:txBody>
          <a:bodyPr wrap="square" lIns="0" tIns="0" rIns="0" bIns="0" rtlCol="0" anchor="ctr"/>
          <a:lstStyle/>
          <a:p>
            <a:pPr indent="0" marL="0">
              <a:buNone/>
            </a:pPr>
            <a:r>
              <a:rPr lang="en-US" sz="700" dirty="0">
                <a:solidFill>
                  <a:schemeClr val="tx1"/>
                </a:solidFill>
              </a:rPr>
              <a:t>Battery report: 31% of design capacity</a:t>
            </a:r>
            <a:endParaRPr lang="en-US" sz="700" dirty="0"/>
          </a:p>
        </p:txBody>
      </p:sp>
      <p:pic>
        <p:nvPicPr>
          <p:cNvPr id="30" name="Image 5" descr="preencoded.png">    </p:cNvPr>
          <p:cNvPicPr>
            <a:picLocks noChangeAspect="1"/>
          </p:cNvPicPr>
          <p:nvPr/>
        </p:nvPicPr>
        <p:blipFill>
          <a:blip r:embed="rId6"/>
          <a:stretch>
            <a:fillRect/>
          </a:stretch>
        </p:blipFill>
        <p:spPr>
          <a:xfrm>
            <a:off x="9409176" y="3986784"/>
            <a:ext cx="109728" cy="109728"/>
          </a:xfrm>
          <a:prstGeom prst="rect">
            <a:avLst/>
          </a:prstGeom>
        </p:spPr>
      </p:pic>
      <p:sp>
        <p:nvSpPr>
          <p:cNvPr id="31" name="Text 23"/>
          <p:cNvSpPr txBox="1"/>
          <p:nvPr/>
        </p:nvSpPr>
        <p:spPr>
          <a:xfrm>
            <a:off x="9564624" y="3959352"/>
            <a:ext cx="1783080" cy="164592"/>
          </a:xfrm>
          <a:prstGeom prst="rect">
            <a:avLst/>
          </a:prstGeom>
          <a:noFill/>
          <a:ln/>
        </p:spPr>
        <p:txBody>
          <a:bodyPr wrap="square" lIns="0" tIns="0" rIns="0" bIns="0" rtlCol="0" anchor="ctr"/>
          <a:lstStyle/>
          <a:p>
            <a:pPr indent="0" marL="0">
              <a:buNone/>
            </a:pPr>
            <a:r>
              <a:rPr lang="en-US" sz="700" dirty="0">
                <a:solidFill>
                  <a:schemeClr val="tx1"/>
                </a:solidFill>
              </a:rPr>
              <a:t>Runs normally on AC power</a:t>
            </a:r>
            <a:endParaRPr lang="en-US" sz="700" dirty="0"/>
          </a:p>
        </p:txBody>
      </p:sp>
      <p:pic>
        <p:nvPicPr>
          <p:cNvPr id="32" name="Image 6" descr="preencoded.png">    </p:cNvPr>
          <p:cNvPicPr>
            <a:picLocks noChangeAspect="1"/>
          </p:cNvPicPr>
          <p:nvPr/>
        </p:nvPicPr>
        <p:blipFill>
          <a:blip r:embed="rId7"/>
          <a:stretch>
            <a:fillRect/>
          </a:stretch>
        </p:blipFill>
        <p:spPr>
          <a:xfrm>
            <a:off x="9409176" y="4151376"/>
            <a:ext cx="109728" cy="109728"/>
          </a:xfrm>
          <a:prstGeom prst="rect">
            <a:avLst/>
          </a:prstGeom>
        </p:spPr>
      </p:pic>
      <p:sp>
        <p:nvSpPr>
          <p:cNvPr id="33" name="Text 24"/>
          <p:cNvSpPr txBox="1"/>
          <p:nvPr/>
        </p:nvSpPr>
        <p:spPr>
          <a:xfrm>
            <a:off x="9564624" y="4123944"/>
            <a:ext cx="1783080" cy="164592"/>
          </a:xfrm>
          <a:prstGeom prst="rect">
            <a:avLst/>
          </a:prstGeom>
          <a:noFill/>
          <a:ln/>
        </p:spPr>
        <p:txBody>
          <a:bodyPr wrap="square" lIns="0" tIns="0" rIns="0" bIns="0" rtlCol="0" anchor="ctr"/>
          <a:lstStyle/>
          <a:p>
            <a:pPr indent="0" marL="0">
              <a:buNone/>
            </a:pPr>
            <a:r>
              <a:rPr lang="en-US" sz="700" dirty="0">
                <a:solidFill>
                  <a:schemeClr val="tx1"/>
                </a:solidFill>
              </a:rPr>
              <a:t>Photo check: no battery swelling</a:t>
            </a:r>
            <a:endParaRPr lang="en-US" sz="700" dirty="0"/>
          </a:p>
        </p:txBody>
      </p:sp>
      <p:sp>
        <p:nvSpPr>
          <p:cNvPr id="34" name="Text 25"/>
          <p:cNvSpPr txBox="1"/>
          <p:nvPr/>
        </p:nvSpPr>
        <p:spPr>
          <a:xfrm>
            <a:off x="9409176" y="4370832"/>
            <a:ext cx="1938528" cy="146304"/>
          </a:xfrm>
          <a:prstGeom prst="rect">
            <a:avLst/>
          </a:prstGeom>
          <a:noFill/>
          <a:ln/>
        </p:spPr>
        <p:txBody>
          <a:bodyPr wrap="square" lIns="0" tIns="0" rIns="0" bIns="0" rtlCol="0" anchor="ctr"/>
          <a:lstStyle/>
          <a:p>
            <a:pPr indent="0" marL="0">
              <a:buNone/>
            </a:pPr>
            <a:r>
              <a:rPr lang="en-US" sz="650" b="1" spc="100" kern="0" dirty="0">
                <a:solidFill>
                  <a:schemeClr val="accent4"/>
                </a:solidFill>
              </a:rPr>
              <a:t>LIKELY CAUSE</a:t>
            </a:r>
            <a:endParaRPr lang="en-US" sz="650" dirty="0"/>
          </a:p>
        </p:txBody>
      </p:sp>
      <p:sp>
        <p:nvSpPr>
          <p:cNvPr id="35" name="Text 26"/>
          <p:cNvSpPr txBox="1"/>
          <p:nvPr/>
        </p:nvSpPr>
        <p:spPr>
          <a:xfrm>
            <a:off x="9409176" y="4553712"/>
            <a:ext cx="841248" cy="155448"/>
          </a:xfrm>
          <a:prstGeom prst="rect">
            <a:avLst/>
          </a:prstGeom>
          <a:noFill/>
          <a:ln/>
        </p:spPr>
        <p:txBody>
          <a:bodyPr wrap="square" lIns="0" tIns="0" rIns="0" bIns="0" rtlCol="0" anchor="ctr"/>
          <a:lstStyle/>
          <a:p>
            <a:pPr indent="0" marL="0">
              <a:buNone/>
            </a:pPr>
            <a:r>
              <a:rPr lang="en-US" sz="700" dirty="0">
                <a:solidFill>
                  <a:schemeClr val="tx1"/>
                </a:solidFill>
              </a:rPr>
              <a:t>Battery wear</a:t>
            </a:r>
            <a:endParaRPr lang="en-US" sz="700" dirty="0"/>
          </a:p>
        </p:txBody>
      </p:sp>
      <p:sp>
        <p:nvSpPr>
          <p:cNvPr id="36" name="Shape 27"/>
          <p:cNvSpPr/>
          <p:nvPr/>
        </p:nvSpPr>
        <p:spPr>
          <a:xfrm>
            <a:off x="10277856" y="4604004"/>
            <a:ext cx="749808" cy="64008"/>
          </a:xfrm>
          <a:prstGeom prst="roundRect">
            <a:avLst>
              <a:gd name="adj" fmla="val 50000"/>
            </a:avLst>
          </a:prstGeom>
          <a:solidFill>
            <a:schemeClr val="bg2"/>
          </a:solidFill>
          <a:ln w="12700">
            <a:solidFill>
              <a:schemeClr val="bg2"/>
            </a:solidFill>
            <a:prstDash val="solid"/>
          </a:ln>
        </p:spPr>
      </p:sp>
      <p:sp>
        <p:nvSpPr>
          <p:cNvPr id="37" name="Shape 28"/>
          <p:cNvSpPr/>
          <p:nvPr/>
        </p:nvSpPr>
        <p:spPr>
          <a:xfrm>
            <a:off x="10277856" y="4604004"/>
            <a:ext cx="614843" cy="64008"/>
          </a:xfrm>
          <a:prstGeom prst="roundRect">
            <a:avLst>
              <a:gd name="adj" fmla="val 50000"/>
            </a:avLst>
          </a:prstGeom>
          <a:solidFill>
            <a:schemeClr val="accent1"/>
          </a:solidFill>
          <a:ln w="12700">
            <a:solidFill>
              <a:schemeClr val="accent1"/>
            </a:solidFill>
            <a:prstDash val="solid"/>
          </a:ln>
        </p:spPr>
      </p:sp>
      <p:sp>
        <p:nvSpPr>
          <p:cNvPr id="38" name="Text 29"/>
          <p:cNvSpPr txBox="1"/>
          <p:nvPr/>
        </p:nvSpPr>
        <p:spPr>
          <a:xfrm>
            <a:off x="11055096" y="4553712"/>
            <a:ext cx="292608" cy="155448"/>
          </a:xfrm>
          <a:prstGeom prst="rect">
            <a:avLst/>
          </a:prstGeom>
          <a:noFill/>
          <a:ln/>
        </p:spPr>
        <p:txBody>
          <a:bodyPr wrap="square" lIns="0" tIns="0" rIns="0" bIns="0" rtlCol="0" anchor="ctr"/>
          <a:lstStyle/>
          <a:p>
            <a:pPr algn="r" indent="0" marL="0">
              <a:buNone/>
            </a:pPr>
            <a:r>
              <a:rPr lang="en-US" sz="700" b="1" dirty="0">
                <a:solidFill>
                  <a:schemeClr val="tx1"/>
                </a:solidFill>
              </a:rPr>
              <a:t>82%</a:t>
            </a:r>
            <a:endParaRPr lang="en-US" sz="700" dirty="0"/>
          </a:p>
        </p:txBody>
      </p:sp>
      <p:sp>
        <p:nvSpPr>
          <p:cNvPr id="39" name="Text 30"/>
          <p:cNvSpPr txBox="1"/>
          <p:nvPr/>
        </p:nvSpPr>
        <p:spPr>
          <a:xfrm>
            <a:off x="9409176" y="4736592"/>
            <a:ext cx="841248" cy="155448"/>
          </a:xfrm>
          <a:prstGeom prst="rect">
            <a:avLst/>
          </a:prstGeom>
          <a:noFill/>
          <a:ln/>
        </p:spPr>
        <p:txBody>
          <a:bodyPr wrap="square" lIns="0" tIns="0" rIns="0" bIns="0" rtlCol="0" anchor="ctr"/>
          <a:lstStyle/>
          <a:p>
            <a:pPr indent="0" marL="0">
              <a:buNone/>
            </a:pPr>
            <a:r>
              <a:rPr lang="en-US" sz="700" dirty="0">
                <a:solidFill>
                  <a:schemeClr val="tx1"/>
                </a:solidFill>
              </a:rPr>
              <a:t>Charging circuit</a:t>
            </a:r>
            <a:endParaRPr lang="en-US" sz="700" dirty="0"/>
          </a:p>
        </p:txBody>
      </p:sp>
      <p:sp>
        <p:nvSpPr>
          <p:cNvPr id="40" name="Shape 31"/>
          <p:cNvSpPr/>
          <p:nvPr/>
        </p:nvSpPr>
        <p:spPr>
          <a:xfrm>
            <a:off x="10277856" y="4786884"/>
            <a:ext cx="749808" cy="64008"/>
          </a:xfrm>
          <a:prstGeom prst="roundRect">
            <a:avLst>
              <a:gd name="adj" fmla="val 50000"/>
            </a:avLst>
          </a:prstGeom>
          <a:solidFill>
            <a:schemeClr val="bg2"/>
          </a:solidFill>
          <a:ln w="12700">
            <a:solidFill>
              <a:schemeClr val="bg2"/>
            </a:solidFill>
            <a:prstDash val="solid"/>
          </a:ln>
        </p:spPr>
      </p:sp>
      <p:sp>
        <p:nvSpPr>
          <p:cNvPr id="41" name="Shape 32"/>
          <p:cNvSpPr/>
          <p:nvPr/>
        </p:nvSpPr>
        <p:spPr>
          <a:xfrm>
            <a:off x="10277856" y="4786884"/>
            <a:ext cx="89977" cy="64008"/>
          </a:xfrm>
          <a:prstGeom prst="roundRect">
            <a:avLst>
              <a:gd name="adj" fmla="val 50000"/>
            </a:avLst>
          </a:prstGeom>
          <a:solidFill>
            <a:schemeClr val="accent4"/>
          </a:solidFill>
          <a:ln w="12700">
            <a:solidFill>
              <a:schemeClr val="accent4"/>
            </a:solidFill>
            <a:prstDash val="solid"/>
          </a:ln>
        </p:spPr>
      </p:sp>
      <p:sp>
        <p:nvSpPr>
          <p:cNvPr id="42" name="Text 33"/>
          <p:cNvSpPr txBox="1"/>
          <p:nvPr/>
        </p:nvSpPr>
        <p:spPr>
          <a:xfrm>
            <a:off x="11055096" y="4736592"/>
            <a:ext cx="292608" cy="155448"/>
          </a:xfrm>
          <a:prstGeom prst="rect">
            <a:avLst/>
          </a:prstGeom>
          <a:noFill/>
          <a:ln/>
        </p:spPr>
        <p:txBody>
          <a:bodyPr wrap="square" lIns="0" tIns="0" rIns="0" bIns="0" rtlCol="0" anchor="ctr"/>
          <a:lstStyle/>
          <a:p>
            <a:pPr algn="r" indent="0" marL="0">
              <a:buNone/>
            </a:pPr>
            <a:r>
              <a:rPr lang="en-US" sz="700" b="1" dirty="0">
                <a:solidFill>
                  <a:schemeClr val="tx1"/>
                </a:solidFill>
              </a:rPr>
              <a:t>12%</a:t>
            </a:r>
            <a:endParaRPr lang="en-US" sz="700" dirty="0"/>
          </a:p>
        </p:txBody>
      </p:sp>
      <p:sp>
        <p:nvSpPr>
          <p:cNvPr id="43" name="Text 34"/>
          <p:cNvSpPr txBox="1"/>
          <p:nvPr/>
        </p:nvSpPr>
        <p:spPr>
          <a:xfrm>
            <a:off x="9409176" y="4919472"/>
            <a:ext cx="841248" cy="155448"/>
          </a:xfrm>
          <a:prstGeom prst="rect">
            <a:avLst/>
          </a:prstGeom>
          <a:noFill/>
          <a:ln/>
        </p:spPr>
        <p:txBody>
          <a:bodyPr wrap="square" lIns="0" tIns="0" rIns="0" bIns="0" rtlCol="0" anchor="ctr"/>
          <a:lstStyle/>
          <a:p>
            <a:pPr indent="0" marL="0">
              <a:buNone/>
            </a:pPr>
            <a:r>
              <a:rPr lang="en-US" sz="700" dirty="0">
                <a:solidFill>
                  <a:schemeClr val="tx1"/>
                </a:solidFill>
              </a:rPr>
              <a:t>Adapter / cable</a:t>
            </a:r>
            <a:endParaRPr lang="en-US" sz="700" dirty="0"/>
          </a:p>
        </p:txBody>
      </p:sp>
      <p:sp>
        <p:nvSpPr>
          <p:cNvPr id="44" name="Shape 35"/>
          <p:cNvSpPr/>
          <p:nvPr/>
        </p:nvSpPr>
        <p:spPr>
          <a:xfrm>
            <a:off x="10277856" y="4969764"/>
            <a:ext cx="749808" cy="64008"/>
          </a:xfrm>
          <a:prstGeom prst="roundRect">
            <a:avLst>
              <a:gd name="adj" fmla="val 50000"/>
            </a:avLst>
          </a:prstGeom>
          <a:solidFill>
            <a:schemeClr val="bg2"/>
          </a:solidFill>
          <a:ln w="12700">
            <a:solidFill>
              <a:schemeClr val="bg2"/>
            </a:solidFill>
            <a:prstDash val="solid"/>
          </a:ln>
        </p:spPr>
      </p:sp>
      <p:sp>
        <p:nvSpPr>
          <p:cNvPr id="45" name="Shape 36"/>
          <p:cNvSpPr/>
          <p:nvPr/>
        </p:nvSpPr>
        <p:spPr>
          <a:xfrm>
            <a:off x="10277856" y="4969764"/>
            <a:ext cx="64008" cy="64008"/>
          </a:xfrm>
          <a:prstGeom prst="roundRect">
            <a:avLst>
              <a:gd name="adj" fmla="val 50000"/>
            </a:avLst>
          </a:prstGeom>
          <a:solidFill>
            <a:schemeClr val="accent4"/>
          </a:solidFill>
          <a:ln w="12700">
            <a:solidFill>
              <a:schemeClr val="accent4"/>
            </a:solidFill>
            <a:prstDash val="solid"/>
          </a:ln>
        </p:spPr>
      </p:sp>
      <p:sp>
        <p:nvSpPr>
          <p:cNvPr id="46" name="Text 37"/>
          <p:cNvSpPr txBox="1"/>
          <p:nvPr/>
        </p:nvSpPr>
        <p:spPr>
          <a:xfrm>
            <a:off x="11055096" y="4919472"/>
            <a:ext cx="292608" cy="155448"/>
          </a:xfrm>
          <a:prstGeom prst="rect">
            <a:avLst/>
          </a:prstGeom>
          <a:noFill/>
          <a:ln/>
        </p:spPr>
        <p:txBody>
          <a:bodyPr wrap="square" lIns="0" tIns="0" rIns="0" bIns="0" rtlCol="0" anchor="ctr"/>
          <a:lstStyle/>
          <a:p>
            <a:pPr algn="r" indent="0" marL="0">
              <a:buNone/>
            </a:pPr>
            <a:r>
              <a:rPr lang="en-US" sz="700" b="1" dirty="0">
                <a:solidFill>
                  <a:schemeClr val="tx1"/>
                </a:solidFill>
              </a:rPr>
              <a:t>6%</a:t>
            </a:r>
            <a:endParaRPr lang="en-US" sz="700" dirty="0"/>
          </a:p>
        </p:txBody>
      </p:sp>
      <p:sp>
        <p:nvSpPr>
          <p:cNvPr id="47" name="Shape 38"/>
          <p:cNvSpPr/>
          <p:nvPr/>
        </p:nvSpPr>
        <p:spPr>
          <a:xfrm>
            <a:off x="9409176" y="5166360"/>
            <a:ext cx="1938528" cy="841248"/>
          </a:xfrm>
          <a:prstGeom prst="roundRect">
            <a:avLst>
              <a:gd name="adj" fmla="val 8696"/>
            </a:avLst>
          </a:prstGeom>
          <a:solidFill>
            <a:srgbClr val="E6F3EC"/>
          </a:solidFill>
          <a:ln w="12700">
            <a:solidFill>
              <a:srgbClr val="BFE0CC"/>
            </a:solidFill>
            <a:prstDash val="solid"/>
          </a:ln>
        </p:spPr>
      </p:sp>
      <p:sp>
        <p:nvSpPr>
          <p:cNvPr id="48" name="Shape 39"/>
          <p:cNvSpPr/>
          <p:nvPr/>
        </p:nvSpPr>
        <p:spPr>
          <a:xfrm>
            <a:off x="9491472" y="5248656"/>
            <a:ext cx="548640" cy="182880"/>
          </a:xfrm>
          <a:prstGeom prst="roundRect">
            <a:avLst>
              <a:gd name="adj" fmla="val 50000"/>
            </a:avLst>
          </a:prstGeom>
          <a:solidFill>
            <a:schemeClr val="accent2"/>
          </a:solidFill>
          <a:ln w="12700">
            <a:solidFill>
              <a:schemeClr val="accent2"/>
            </a:solidFill>
            <a:prstDash val="solid"/>
          </a:ln>
        </p:spPr>
      </p:sp>
      <p:sp>
        <p:nvSpPr>
          <p:cNvPr id="49" name="Text 40"/>
          <p:cNvSpPr txBox="1"/>
          <p:nvPr/>
        </p:nvSpPr>
        <p:spPr>
          <a:xfrm>
            <a:off x="9491472" y="5248656"/>
            <a:ext cx="548640" cy="182880"/>
          </a:xfrm>
          <a:prstGeom prst="rect">
            <a:avLst/>
          </a:prstGeom>
          <a:noFill/>
          <a:ln/>
        </p:spPr>
        <p:txBody>
          <a:bodyPr wrap="square" lIns="0" tIns="0" rIns="0" bIns="0" rtlCol="0" anchor="ctr"/>
          <a:lstStyle/>
          <a:p>
            <a:pPr algn="ctr" indent="0" marL="0">
              <a:buNone/>
            </a:pPr>
            <a:r>
              <a:rPr lang="en-US" sz="650" b="1" spc="100" kern="0" dirty="0">
                <a:solidFill>
                  <a:schemeClr val="bg1"/>
                </a:solidFill>
              </a:rPr>
              <a:t>REPAIR</a:t>
            </a:r>
            <a:endParaRPr lang="en-US" sz="650" dirty="0"/>
          </a:p>
        </p:txBody>
      </p:sp>
      <p:sp>
        <p:nvSpPr>
          <p:cNvPr id="50" name="Text 41"/>
          <p:cNvSpPr txBox="1"/>
          <p:nvPr/>
        </p:nvSpPr>
        <p:spPr>
          <a:xfrm>
            <a:off x="10104120" y="5248656"/>
            <a:ext cx="1188720" cy="182880"/>
          </a:xfrm>
          <a:prstGeom prst="rect">
            <a:avLst/>
          </a:prstGeom>
          <a:noFill/>
          <a:ln/>
        </p:spPr>
        <p:txBody>
          <a:bodyPr wrap="square" lIns="0" tIns="0" rIns="0" bIns="0" rtlCol="0" anchor="ctr"/>
          <a:lstStyle/>
          <a:p>
            <a:pPr indent="0" marL="0">
              <a:buNone/>
            </a:pPr>
            <a:r>
              <a:rPr lang="en-US" sz="800" b="1" dirty="0">
                <a:solidFill>
                  <a:schemeClr val="tx1"/>
                </a:solidFill>
              </a:rPr>
              <a:t>Battery replacement</a:t>
            </a:r>
            <a:endParaRPr lang="en-US" sz="800" dirty="0"/>
          </a:p>
        </p:txBody>
      </p:sp>
      <p:sp>
        <p:nvSpPr>
          <p:cNvPr id="51" name="Text 42"/>
          <p:cNvSpPr txBox="1"/>
          <p:nvPr/>
        </p:nvSpPr>
        <p:spPr>
          <a:xfrm>
            <a:off x="9491472" y="5486400"/>
            <a:ext cx="1773936" cy="182880"/>
          </a:xfrm>
          <a:prstGeom prst="rect">
            <a:avLst/>
          </a:prstGeom>
          <a:noFill/>
          <a:ln/>
        </p:spPr>
        <p:txBody>
          <a:bodyPr wrap="square" lIns="0" tIns="0" rIns="0" bIns="0" rtlCol="0" anchor="ctr"/>
          <a:lstStyle/>
          <a:p>
            <a:pPr indent="0" marL="0">
              <a:buNone/>
            </a:pPr>
            <a:r>
              <a:rPr lang="en-US" sz="750" b="1" dirty="0">
                <a:solidFill>
                  <a:schemeClr val="tx1"/>
                </a:solidFill>
              </a:rPr>
              <a:t>₹3,500–5,000</a:t>
            </a:r>
            <a:pPr indent="0" marL="0">
              <a:buNone/>
            </a:pPr>
            <a:r>
              <a:rPr lang="en-US" sz="750" dirty="0">
                <a:solidFill>
                  <a:schemeClr val="tx1"/>
                </a:solidFill>
              </a:rPr>
              <a:t>  vs  ₹45,000+ new laptop</a:t>
            </a:r>
            <a:endParaRPr lang="en-US" sz="750" dirty="0"/>
          </a:p>
        </p:txBody>
      </p:sp>
      <p:sp>
        <p:nvSpPr>
          <p:cNvPr id="52" name="Text 43"/>
          <p:cNvSpPr txBox="1"/>
          <p:nvPr/>
        </p:nvSpPr>
        <p:spPr>
          <a:xfrm>
            <a:off x="9491472" y="5696712"/>
            <a:ext cx="1773936" cy="237744"/>
          </a:xfrm>
          <a:prstGeom prst="rect">
            <a:avLst/>
          </a:prstGeom>
          <a:noFill/>
          <a:ln/>
        </p:spPr>
        <p:txBody>
          <a:bodyPr wrap="square" lIns="0" tIns="0" rIns="0" bIns="0" rtlCol="0" anchor="ctr"/>
          <a:lstStyle/>
          <a:p>
            <a:pPr indent="0" marL="0">
              <a:buNone/>
            </a:pPr>
            <a:r>
              <a:rPr lang="en-US" sz="650" dirty="0">
                <a:solidFill>
                  <a:schemeClr val="accent4"/>
                </a:solidFill>
              </a:rPr>
              <a:t>≈ ₹180 per extra month · repairability 8/10</a:t>
            </a:r>
            <a:endParaRPr lang="en-US" sz="650" dirty="0"/>
          </a:p>
        </p:txBody>
      </p:sp>
      <p:pic>
        <p:nvPicPr>
          <p:cNvPr id="53" name="Image 7" descr="preencoded.png">    </p:cNvPr>
          <p:cNvPicPr>
            <a:picLocks noChangeAspect="1"/>
          </p:cNvPicPr>
          <p:nvPr/>
        </p:nvPicPr>
        <p:blipFill>
          <a:blip r:embed="rId8"/>
          <a:stretch>
            <a:fillRect/>
          </a:stretch>
        </p:blipFill>
        <p:spPr>
          <a:xfrm>
            <a:off x="9409176" y="6080760"/>
            <a:ext cx="219456" cy="219456"/>
          </a:xfrm>
          <a:prstGeom prst="rect">
            <a:avLst/>
          </a:prstGeom>
        </p:spPr>
      </p:pic>
      <p:sp>
        <p:nvSpPr>
          <p:cNvPr id="54" name="Text 44"/>
          <p:cNvSpPr txBox="1"/>
          <p:nvPr/>
        </p:nvSpPr>
        <p:spPr>
          <a:xfrm>
            <a:off x="9701784" y="6062472"/>
            <a:ext cx="1645920" cy="137160"/>
          </a:xfrm>
          <a:prstGeom prst="rect">
            <a:avLst/>
          </a:prstGeom>
          <a:noFill/>
          <a:ln/>
        </p:spPr>
        <p:txBody>
          <a:bodyPr wrap="square" lIns="0" tIns="0" rIns="0" bIns="0" rtlCol="0" anchor="ctr"/>
          <a:lstStyle/>
          <a:p>
            <a:pPr indent="0" marL="0">
              <a:buNone/>
            </a:pPr>
            <a:r>
              <a:rPr lang="en-US" sz="750" b="1" dirty="0">
                <a:solidFill>
                  <a:schemeClr val="tx1"/>
                </a:solidFill>
              </a:rPr>
              <a:t>Saved to Repair Passport</a:t>
            </a:r>
            <a:endParaRPr lang="en-US" sz="750" dirty="0"/>
          </a:p>
        </p:txBody>
      </p:sp>
      <p:sp>
        <p:nvSpPr>
          <p:cNvPr id="55" name="Text 45"/>
          <p:cNvSpPr txBox="1"/>
          <p:nvPr/>
        </p:nvSpPr>
        <p:spPr>
          <a:xfrm>
            <a:off x="9701784" y="6190488"/>
            <a:ext cx="1645920" cy="128016"/>
          </a:xfrm>
          <a:prstGeom prst="rect">
            <a:avLst/>
          </a:prstGeom>
          <a:noFill/>
          <a:ln/>
        </p:spPr>
        <p:txBody>
          <a:bodyPr wrap="square" lIns="0" tIns="0" rIns="0" bIns="0" rtlCol="0" anchor="ctr"/>
          <a:lstStyle/>
          <a:p>
            <a:pPr indent="0" marL="0">
              <a:buNone/>
            </a:pPr>
            <a:r>
              <a:rPr lang="en-US" sz="650" dirty="0">
                <a:solidFill>
                  <a:schemeClr val="accent4"/>
                </a:solidFill>
              </a:rPr>
              <a:t>shareable · tamper-evident history</a:t>
            </a:r>
            <a:endParaRPr lang="en-US" sz="650" dirty="0"/>
          </a:p>
        </p:txBody>
      </p:sp>
      <p:sp>
        <p:nvSpPr>
          <p:cNvPr id="56" name="Text 46"/>
          <p:cNvSpPr txBox="1"/>
          <p:nvPr/>
        </p:nvSpPr>
        <p:spPr>
          <a:xfrm>
            <a:off x="9189720" y="6528816"/>
            <a:ext cx="2377440" cy="182880"/>
          </a:xfrm>
          <a:prstGeom prst="rect">
            <a:avLst/>
          </a:prstGeom>
          <a:noFill/>
          <a:ln/>
        </p:spPr>
        <p:txBody>
          <a:bodyPr wrap="square" lIns="0" tIns="0" rIns="0" bIns="0" rtlCol="0" anchor="ctr"/>
          <a:lstStyle/>
          <a:p>
            <a:pPr algn="ctr" indent="0" marL="0">
              <a:buNone/>
            </a:pPr>
            <a:r>
              <a:rPr lang="en-US" sz="800" i="1" dirty="0">
                <a:solidFill>
                  <a:schemeClr val="accent4"/>
                </a:solidFill>
              </a:rPr>
              <a:t>Illustrative prototype screen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2514600" y="146304"/>
            <a:ext cx="7086600" cy="987552"/>
          </a:xfrm>
          <a:prstGeom prst="rect">
            <a:avLst/>
          </a:prstGeom>
          <a:noFill/>
          <a:ln/>
        </p:spPr>
        <p:txBody>
          <a:bodyPr wrap="square" lIns="0" tIns="0" rIns="0" bIns="0" rtlCol="0" anchor="ctr"/>
          <a:lstStyle/>
          <a:p>
            <a:pPr algn="ctr" indent="0" marL="0">
              <a:buNone/>
            </a:pPr>
            <a:r>
              <a:rPr lang="en-US" sz="2700" b="1" dirty="0">
                <a:solidFill>
                  <a:schemeClr val="tx1"/>
                </a:solidFill>
                <a:latin typeface="Georgia" pitchFamily="34" charset="0"/>
                <a:ea typeface="Georgia" pitchFamily="34" charset="-122"/>
                <a:cs typeface="Georgia" pitchFamily="34" charset="-120"/>
              </a:rPr>
              <a:t>PROBLEM STATEMENT &amp;</a:t>
            </a:r>
            <a:endParaRPr lang="en-US" sz="2700" dirty="0"/>
          </a:p>
          <a:p>
            <a:pPr algn="ctr" indent="0" marL="0">
              <a:buNone/>
            </a:pPr>
            <a:r>
              <a:rPr lang="en-US" sz="2700" b="1" dirty="0">
                <a:solidFill>
                  <a:schemeClr val="tx1"/>
                </a:solidFill>
                <a:latin typeface="Georgia" pitchFamily="34" charset="0"/>
                <a:ea typeface="Georgia" pitchFamily="34" charset="-122"/>
                <a:cs typeface="Georgia" pitchFamily="34" charset="-120"/>
              </a:rPr>
              <a:t>TARGET AUDIENCE</a:t>
            </a:r>
            <a:endParaRPr lang="en-US" sz="2700" dirty="0"/>
          </a:p>
        </p:txBody>
      </p:sp>
      <p:sp>
        <p:nvSpPr>
          <p:cNvPr id="3" name="Key message"/>
          <p:cNvSpPr txBox="1"/>
          <p:nvPr/>
        </p:nvSpPr>
        <p:spPr>
          <a:xfrm>
            <a:off x="2743200" y="1005840"/>
            <a:ext cx="9006840" cy="704088"/>
          </a:xfrm>
          <a:prstGeom prst="rect">
            <a:avLst/>
          </a:prstGeom>
          <a:noFill/>
          <a:ln/>
        </p:spPr>
        <p:txBody>
          <a:bodyPr wrap="square" lIns="0" tIns="0" rIns="0" bIns="0" rtlCol="0" anchor="ctr"/>
          <a:lstStyle/>
          <a:p>
            <a:pPr indent="0" marL="0">
              <a:buNone/>
            </a:pPr>
            <a:r>
              <a:rPr lang="en-US" sz="1500" dirty="0">
                <a:solidFill>
                  <a:schemeClr val="tx1"/>
                </a:solidFill>
              </a:rPr>
              <a:t>When a phone or laptop fails, owners </a:t>
            </a:r>
            <a:pPr indent="0" marL="0">
              <a:buNone/>
            </a:pPr>
            <a:r>
              <a:rPr lang="en-US" sz="1500" b="1" dirty="0">
                <a:solidFill>
                  <a:schemeClr val="accent1"/>
                </a:solidFill>
              </a:rPr>
              <a:t>decide blind</a:t>
            </a:r>
            <a:pPr indent="0" marL="0">
              <a:buNone/>
            </a:pPr>
            <a:r>
              <a:rPr lang="en-US" sz="1500" dirty="0">
                <a:solidFill>
                  <a:schemeClr val="tx1"/>
                </a:solidFill>
              </a:rPr>
              <a:t> —</a:t>
            </a:r>
            <a:endParaRPr lang="en-US" sz="1500" dirty="0"/>
          </a:p>
          <a:p>
            <a:pPr indent="0" marL="0">
              <a:buNone/>
            </a:pPr>
            <a:r>
              <a:rPr lang="en-US" sz="1500" dirty="0">
                <a:solidFill>
                  <a:schemeClr val="tx1"/>
                </a:solidFill>
              </a:rPr>
              <a:t>so fixable devices get replaced, and repairs get overpaid.</a:t>
            </a:r>
            <a:endParaRPr lang="en-US" sz="1500" dirty="0"/>
          </a:p>
        </p:txBody>
      </p:sp>
      <p:sp>
        <p:nvSpPr>
          <p:cNvPr id="4" name="Problem panel"/>
          <p:cNvSpPr/>
          <p:nvPr/>
        </p:nvSpPr>
        <p:spPr>
          <a:xfrm>
            <a:off x="457200" y="2057400"/>
            <a:ext cx="7589520" cy="4261104"/>
          </a:xfrm>
          <a:prstGeom prst="roundRect">
            <a:avLst>
              <a:gd name="adj" fmla="val 1502"/>
            </a:avLst>
          </a:prstGeom>
          <a:solidFill>
            <a:schemeClr val="bg2"/>
          </a:solidFill>
          <a:ln w="9525">
            <a:solidFill>
              <a:schemeClr val="accent5"/>
            </a:solidFill>
            <a:prstDash val="solid"/>
          </a:ln>
        </p:spPr>
      </p:sp>
      <p:sp>
        <p:nvSpPr>
          <p:cNvPr id="5" name="Shape 3"/>
          <p:cNvSpPr/>
          <p:nvPr/>
        </p:nvSpPr>
        <p:spPr>
          <a:xfrm>
            <a:off x="640080" y="2194560"/>
            <a:ext cx="365760" cy="365760"/>
          </a:xfrm>
          <a:prstGeom prst="roundRect">
            <a:avLst>
              <a:gd name="adj" fmla="val 20000"/>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22376" y="2276856"/>
            <a:ext cx="201168" cy="201168"/>
          </a:xfrm>
          <a:prstGeom prst="rect">
            <a:avLst/>
          </a:prstGeom>
        </p:spPr>
      </p:pic>
      <p:sp>
        <p:nvSpPr>
          <p:cNvPr id="7" name="Section: Problem We&amp;apos;re Solving"/>
          <p:cNvSpPr txBox="1"/>
          <p:nvPr/>
        </p:nvSpPr>
        <p:spPr>
          <a:xfrm>
            <a:off x="1115568" y="219456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Problem We're Solving</a:t>
            </a:r>
            <a:endParaRPr lang="en-US" sz="1800" dirty="0"/>
          </a:p>
        </p:txBody>
      </p:sp>
      <p:sp>
        <p:nvSpPr>
          <p:cNvPr id="8" name="Problem definition"/>
          <p:cNvSpPr txBox="1"/>
          <p:nvPr/>
        </p:nvSpPr>
        <p:spPr>
          <a:xfrm>
            <a:off x="640080" y="2651760"/>
            <a:ext cx="7223760" cy="713232"/>
          </a:xfrm>
          <a:prstGeom prst="rect">
            <a:avLst/>
          </a:prstGeom>
          <a:noFill/>
          <a:ln/>
        </p:spPr>
        <p:txBody>
          <a:bodyPr wrap="square" lIns="0" tIns="0" rIns="0" bIns="0" rtlCol="0" anchor="t"/>
          <a:lstStyle/>
          <a:p>
            <a:pPr indent="0" marL="0">
              <a:buNone/>
            </a:pPr>
            <a:r>
              <a:rPr lang="en-US" sz="1250" dirty="0">
                <a:solidFill>
                  <a:schemeClr val="tx1"/>
                </a:solidFill>
              </a:rPr>
              <a:t>A device fault is an information problem before it is a technical one. Owners can't tell what failed, what a fair repair should cost, or whether the device is still worth fixing — and the people who can tell them usually profit from the answer.</a:t>
            </a:r>
            <a:endParaRPr lang="en-US" sz="1250" dirty="0"/>
          </a:p>
        </p:txBody>
      </p:sp>
      <p:sp>
        <p:nvSpPr>
          <p:cNvPr id="9" name="Stat 43%"/>
          <p:cNvSpPr/>
          <p:nvPr/>
        </p:nvSpPr>
        <p:spPr>
          <a:xfrm>
            <a:off x="640080" y="3456432"/>
            <a:ext cx="1700784" cy="1371600"/>
          </a:xfrm>
          <a:prstGeom prst="roundRect">
            <a:avLst>
              <a:gd name="adj" fmla="val 4000"/>
            </a:avLst>
          </a:prstGeom>
          <a:solidFill>
            <a:schemeClr val="bg1"/>
          </a:solidFill>
          <a:ln w="9525">
            <a:solidFill>
              <a:schemeClr val="accent5"/>
            </a:solidFill>
            <a:prstDash val="solid"/>
          </a:ln>
        </p:spPr>
      </p:sp>
      <p:sp>
        <p:nvSpPr>
          <p:cNvPr id="10" name="Text 7"/>
          <p:cNvSpPr txBox="1"/>
          <p:nvPr/>
        </p:nvSpPr>
        <p:spPr>
          <a:xfrm>
            <a:off x="768096" y="3547872"/>
            <a:ext cx="1463040" cy="457200"/>
          </a:xfrm>
          <a:prstGeom prst="rect">
            <a:avLst/>
          </a:prstGeom>
          <a:noFill/>
          <a:ln/>
        </p:spPr>
        <p:txBody>
          <a:bodyPr wrap="square" lIns="0" tIns="0" rIns="0" bIns="0" rtlCol="0" anchor="ctr"/>
          <a:lstStyle/>
          <a:p>
            <a:pPr indent="0" marL="0">
              <a:buNone/>
            </a:pPr>
            <a:r>
              <a:rPr lang="en-US" sz="2600" b="1" dirty="0">
                <a:solidFill>
                  <a:schemeClr val="accent1"/>
                </a:solidFill>
              </a:rPr>
              <a:t>43%</a:t>
            </a:r>
            <a:endParaRPr lang="en-US" sz="2600" dirty="0"/>
          </a:p>
        </p:txBody>
      </p:sp>
      <p:sp>
        <p:nvSpPr>
          <p:cNvPr id="11" name="Text 8"/>
          <p:cNvSpPr txBox="1"/>
          <p:nvPr/>
        </p:nvSpPr>
        <p:spPr>
          <a:xfrm>
            <a:off x="768096" y="4023360"/>
            <a:ext cx="1481328" cy="749808"/>
          </a:xfrm>
          <a:prstGeom prst="rect">
            <a:avLst/>
          </a:prstGeom>
          <a:noFill/>
          <a:ln/>
        </p:spPr>
        <p:txBody>
          <a:bodyPr wrap="square" lIns="0" tIns="0" rIns="0" bIns="0" rtlCol="0" anchor="t"/>
          <a:lstStyle/>
          <a:p>
            <a:pPr indent="0" marL="0">
              <a:buNone/>
            </a:pPr>
            <a:r>
              <a:rPr lang="en-US" sz="1000" dirty="0">
                <a:solidFill>
                  <a:schemeClr val="tx1"/>
                </a:solidFill>
              </a:rPr>
              <a:t>of Indian smartphone users who used a service centre found repair cost high to very high</a:t>
            </a:r>
            <a:pPr indent="0" marL="0">
              <a:buNone/>
            </a:pPr>
            <a:r>
              <a:rPr lang="en-US" sz="1000" baseline="30000" dirty="0">
                <a:solidFill>
                  <a:schemeClr val="tx1"/>
                </a:solidFill>
              </a:rPr>
              <a:t>1</a:t>
            </a:r>
            <a:endParaRPr lang="en-US" sz="1000" dirty="0"/>
          </a:p>
        </p:txBody>
      </p:sp>
      <p:sp>
        <p:nvSpPr>
          <p:cNvPr id="12" name="Stat 4 in 10"/>
          <p:cNvSpPr/>
          <p:nvPr/>
        </p:nvSpPr>
        <p:spPr>
          <a:xfrm>
            <a:off x="2480767" y="3456432"/>
            <a:ext cx="1700784" cy="1371600"/>
          </a:xfrm>
          <a:prstGeom prst="roundRect">
            <a:avLst>
              <a:gd name="adj" fmla="val 4000"/>
            </a:avLst>
          </a:prstGeom>
          <a:solidFill>
            <a:schemeClr val="bg1"/>
          </a:solidFill>
          <a:ln w="9525">
            <a:solidFill>
              <a:schemeClr val="accent5"/>
            </a:solidFill>
            <a:prstDash val="solid"/>
          </a:ln>
        </p:spPr>
      </p:sp>
      <p:sp>
        <p:nvSpPr>
          <p:cNvPr id="13" name="Text 10"/>
          <p:cNvSpPr txBox="1"/>
          <p:nvPr/>
        </p:nvSpPr>
        <p:spPr>
          <a:xfrm>
            <a:off x="2608783" y="3547872"/>
            <a:ext cx="1463040" cy="457200"/>
          </a:xfrm>
          <a:prstGeom prst="rect">
            <a:avLst/>
          </a:prstGeom>
          <a:noFill/>
          <a:ln/>
        </p:spPr>
        <p:txBody>
          <a:bodyPr wrap="square" lIns="0" tIns="0" rIns="0" bIns="0" rtlCol="0" anchor="ctr"/>
          <a:lstStyle/>
          <a:p>
            <a:pPr indent="0" marL="0">
              <a:buNone/>
            </a:pPr>
            <a:r>
              <a:rPr lang="en-US" sz="2600" b="1" dirty="0">
                <a:solidFill>
                  <a:schemeClr val="accent1"/>
                </a:solidFill>
              </a:rPr>
              <a:t>4 in 10</a:t>
            </a:r>
            <a:endParaRPr lang="en-US" sz="2600" dirty="0"/>
          </a:p>
        </p:txBody>
      </p:sp>
      <p:sp>
        <p:nvSpPr>
          <p:cNvPr id="14" name="Text 11"/>
          <p:cNvSpPr txBox="1"/>
          <p:nvPr/>
        </p:nvSpPr>
        <p:spPr>
          <a:xfrm>
            <a:off x="2608783" y="4023360"/>
            <a:ext cx="1481328" cy="749808"/>
          </a:xfrm>
          <a:prstGeom prst="rect">
            <a:avLst/>
          </a:prstGeom>
          <a:noFill/>
          <a:ln/>
        </p:spPr>
        <p:txBody>
          <a:bodyPr wrap="square" lIns="0" tIns="0" rIns="0" bIns="0" rtlCol="0" anchor="t"/>
          <a:lstStyle/>
          <a:p>
            <a:pPr indent="0" marL="0">
              <a:buNone/>
            </a:pPr>
            <a:r>
              <a:rPr lang="en-US" sz="1000" dirty="0">
                <a:solidFill>
                  <a:schemeClr val="tx1"/>
                </a:solidFill>
              </a:rPr>
              <a:t>needed more than one service-centre visit to get a single issue resolved</a:t>
            </a:r>
            <a:pPr indent="0" marL="0">
              <a:buNone/>
            </a:pPr>
            <a:r>
              <a:rPr lang="en-US" sz="1000" baseline="30000" dirty="0">
                <a:solidFill>
                  <a:schemeClr val="tx1"/>
                </a:solidFill>
              </a:rPr>
              <a:t>1</a:t>
            </a:r>
            <a:endParaRPr lang="en-US" sz="1000" dirty="0"/>
          </a:p>
        </p:txBody>
      </p:sp>
      <p:sp>
        <p:nvSpPr>
          <p:cNvPr id="15" name="Stat 1.75 Mt"/>
          <p:cNvSpPr/>
          <p:nvPr/>
        </p:nvSpPr>
        <p:spPr>
          <a:xfrm>
            <a:off x="4321454" y="3456432"/>
            <a:ext cx="1700784" cy="1371600"/>
          </a:xfrm>
          <a:prstGeom prst="roundRect">
            <a:avLst>
              <a:gd name="adj" fmla="val 4000"/>
            </a:avLst>
          </a:prstGeom>
          <a:solidFill>
            <a:schemeClr val="bg1"/>
          </a:solidFill>
          <a:ln w="9525">
            <a:solidFill>
              <a:schemeClr val="accent5"/>
            </a:solidFill>
            <a:prstDash val="solid"/>
          </a:ln>
        </p:spPr>
      </p:sp>
      <p:sp>
        <p:nvSpPr>
          <p:cNvPr id="16" name="Text 13"/>
          <p:cNvSpPr txBox="1"/>
          <p:nvPr/>
        </p:nvSpPr>
        <p:spPr>
          <a:xfrm>
            <a:off x="4449470" y="3547872"/>
            <a:ext cx="1463040" cy="457200"/>
          </a:xfrm>
          <a:prstGeom prst="rect">
            <a:avLst/>
          </a:prstGeom>
          <a:noFill/>
          <a:ln/>
        </p:spPr>
        <p:txBody>
          <a:bodyPr wrap="square" lIns="0" tIns="0" rIns="0" bIns="0" rtlCol="0" anchor="ctr"/>
          <a:lstStyle/>
          <a:p>
            <a:pPr indent="0" marL="0">
              <a:buNone/>
            </a:pPr>
            <a:r>
              <a:rPr lang="en-US" sz="2600" b="1" dirty="0">
                <a:solidFill>
                  <a:schemeClr val="accent1"/>
                </a:solidFill>
              </a:rPr>
              <a:t>1.75 Mt</a:t>
            </a:r>
            <a:endParaRPr lang="en-US" sz="2600" dirty="0"/>
          </a:p>
        </p:txBody>
      </p:sp>
      <p:sp>
        <p:nvSpPr>
          <p:cNvPr id="17" name="Text 14"/>
          <p:cNvSpPr txBox="1"/>
          <p:nvPr/>
        </p:nvSpPr>
        <p:spPr>
          <a:xfrm>
            <a:off x="4449470" y="4023360"/>
            <a:ext cx="1481328" cy="749808"/>
          </a:xfrm>
          <a:prstGeom prst="rect">
            <a:avLst/>
          </a:prstGeom>
          <a:noFill/>
          <a:ln/>
        </p:spPr>
        <p:txBody>
          <a:bodyPr wrap="square" lIns="0" tIns="0" rIns="0" bIns="0" rtlCol="0" anchor="t"/>
          <a:lstStyle/>
          <a:p>
            <a:pPr indent="0" marL="0">
              <a:buNone/>
            </a:pPr>
            <a:r>
              <a:rPr lang="en-US" sz="1000" dirty="0">
                <a:solidFill>
                  <a:schemeClr val="tx1"/>
                </a:solidFill>
              </a:rPr>
              <a:t>e-waste generated in India in FY24 — up 72.5% in five years</a:t>
            </a:r>
            <a:pPr indent="0" marL="0">
              <a:buNone/>
            </a:pPr>
            <a:r>
              <a:rPr lang="en-US" sz="1000" baseline="30000" dirty="0">
                <a:solidFill>
                  <a:schemeClr val="tx1"/>
                </a:solidFill>
              </a:rPr>
              <a:t>2</a:t>
            </a:r>
            <a:endParaRPr lang="en-US" sz="1000" dirty="0"/>
          </a:p>
        </p:txBody>
      </p:sp>
      <p:sp>
        <p:nvSpPr>
          <p:cNvPr id="18" name="Stat 72%"/>
          <p:cNvSpPr/>
          <p:nvPr/>
        </p:nvSpPr>
        <p:spPr>
          <a:xfrm>
            <a:off x="6162142" y="3456432"/>
            <a:ext cx="1700784" cy="1371600"/>
          </a:xfrm>
          <a:prstGeom prst="roundRect">
            <a:avLst>
              <a:gd name="adj" fmla="val 4000"/>
            </a:avLst>
          </a:prstGeom>
          <a:solidFill>
            <a:schemeClr val="bg1"/>
          </a:solidFill>
          <a:ln w="9525">
            <a:solidFill>
              <a:schemeClr val="accent5"/>
            </a:solidFill>
            <a:prstDash val="solid"/>
          </a:ln>
        </p:spPr>
      </p:sp>
      <p:sp>
        <p:nvSpPr>
          <p:cNvPr id="19" name="Text 16"/>
          <p:cNvSpPr txBox="1"/>
          <p:nvPr/>
        </p:nvSpPr>
        <p:spPr>
          <a:xfrm>
            <a:off x="6290158" y="3547872"/>
            <a:ext cx="1463040" cy="457200"/>
          </a:xfrm>
          <a:prstGeom prst="rect">
            <a:avLst/>
          </a:prstGeom>
          <a:noFill/>
          <a:ln/>
        </p:spPr>
        <p:txBody>
          <a:bodyPr wrap="square" lIns="0" tIns="0" rIns="0" bIns="0" rtlCol="0" anchor="ctr"/>
          <a:lstStyle/>
          <a:p>
            <a:pPr indent="0" marL="0">
              <a:buNone/>
            </a:pPr>
            <a:r>
              <a:rPr lang="en-US" sz="2600" b="1" dirty="0">
                <a:solidFill>
                  <a:schemeClr val="accent1"/>
                </a:solidFill>
              </a:rPr>
              <a:t>72%</a:t>
            </a:r>
            <a:endParaRPr lang="en-US" sz="2600" dirty="0"/>
          </a:p>
        </p:txBody>
      </p:sp>
      <p:sp>
        <p:nvSpPr>
          <p:cNvPr id="20" name="Text 17"/>
          <p:cNvSpPr txBox="1"/>
          <p:nvPr/>
        </p:nvSpPr>
        <p:spPr>
          <a:xfrm>
            <a:off x="6290158" y="4023360"/>
            <a:ext cx="1481328" cy="749808"/>
          </a:xfrm>
          <a:prstGeom prst="rect">
            <a:avLst/>
          </a:prstGeom>
          <a:noFill/>
          <a:ln/>
        </p:spPr>
        <p:txBody>
          <a:bodyPr wrap="square" lIns="0" tIns="0" rIns="0" bIns="0" rtlCol="0" anchor="t"/>
          <a:lstStyle/>
          <a:p>
            <a:pPr indent="0" marL="0">
              <a:buNone/>
            </a:pPr>
            <a:r>
              <a:rPr lang="en-US" sz="1000" dirty="0">
                <a:solidFill>
                  <a:schemeClr val="tx1"/>
                </a:solidFill>
              </a:rPr>
              <a:t>of a smartphone's climate impact comes from making, shipping and disposing of it</a:t>
            </a:r>
            <a:pPr indent="0" marL="0">
              <a:buNone/>
            </a:pPr>
            <a:r>
              <a:rPr lang="en-US" sz="1000" baseline="30000" dirty="0">
                <a:solidFill>
                  <a:schemeClr val="tx1"/>
                </a:solidFill>
              </a:rPr>
              <a:t>3</a:t>
            </a:r>
            <a:endParaRPr lang="en-US" sz="1000" dirty="0"/>
          </a:p>
        </p:txBody>
      </p:sp>
      <p:sp>
        <p:nvSpPr>
          <p:cNvPr id="21" name="Text 18"/>
          <p:cNvSpPr txBox="1"/>
          <p:nvPr/>
        </p:nvSpPr>
        <p:spPr>
          <a:xfrm>
            <a:off x="640080" y="4965192"/>
            <a:ext cx="7223760" cy="219456"/>
          </a:xfrm>
          <a:prstGeom prst="rect">
            <a:avLst/>
          </a:prstGeom>
          <a:noFill/>
          <a:ln/>
        </p:spPr>
        <p:txBody>
          <a:bodyPr wrap="square" lIns="0" tIns="0" rIns="0" bIns="0" rtlCol="0" anchor="ctr"/>
          <a:lstStyle/>
          <a:p>
            <a:pPr indent="0" marL="0">
              <a:buNone/>
            </a:pPr>
            <a:r>
              <a:rPr lang="en-US" sz="900" b="1" spc="100" kern="0" dirty="0">
                <a:solidFill>
                  <a:schemeClr val="accent4"/>
                </a:solidFill>
              </a:rPr>
              <a:t>WHERE THE REPAIR DECISION BREAKS TODAY</a:t>
            </a:r>
            <a:endParaRPr lang="en-US" sz="900" dirty="0"/>
          </a:p>
        </p:txBody>
      </p:sp>
      <p:sp>
        <p:nvSpPr>
          <p:cNvPr id="22" name="Shape 19"/>
          <p:cNvSpPr/>
          <p:nvPr/>
        </p:nvSpPr>
        <p:spPr>
          <a:xfrm>
            <a:off x="640080" y="5248656"/>
            <a:ext cx="1298448" cy="896112"/>
          </a:xfrm>
          <a:prstGeom prst="roundRect">
            <a:avLst>
              <a:gd name="adj" fmla="val 6122"/>
            </a:avLst>
          </a:prstGeom>
          <a:solidFill>
            <a:schemeClr val="bg1"/>
          </a:solidFill>
          <a:ln w="9525">
            <a:solidFill>
              <a:schemeClr val="accent5"/>
            </a:solidFill>
            <a:prstDash val="solid"/>
          </a:ln>
        </p:spPr>
      </p:sp>
      <p:sp>
        <p:nvSpPr>
          <p:cNvPr id="23" name="Text 20"/>
          <p:cNvSpPr txBox="1"/>
          <p:nvPr/>
        </p:nvSpPr>
        <p:spPr>
          <a:xfrm>
            <a:off x="731520" y="5321808"/>
            <a:ext cx="1115568" cy="749808"/>
          </a:xfrm>
          <a:prstGeom prst="rect">
            <a:avLst/>
          </a:prstGeom>
          <a:noFill/>
          <a:ln/>
        </p:spPr>
        <p:txBody>
          <a:bodyPr wrap="square" lIns="0" tIns="0" rIns="0" bIns="0" rtlCol="0" anchor="t"/>
          <a:lstStyle/>
          <a:p>
            <a:pPr indent="0" marL="0">
              <a:spcAft>
                <a:spcPts val="200"/>
              </a:spcAft>
              <a:buNone/>
            </a:pPr>
            <a:r>
              <a:rPr lang="en-US" sz="850" b="1" dirty="0">
                <a:solidFill>
                  <a:schemeClr val="accent1"/>
                </a:solidFill>
              </a:rPr>
              <a:t>01</a:t>
            </a:r>
            <a:endParaRPr lang="en-US" sz="850" dirty="0"/>
          </a:p>
          <a:p>
            <a:pPr indent="0" marL="0">
              <a:spcAft>
                <a:spcPts val="200"/>
              </a:spcAft>
              <a:buNone/>
            </a:pPr>
            <a:r>
              <a:rPr lang="en-US" sz="1050" b="1" dirty="0">
                <a:solidFill>
                  <a:schemeClr val="tx1"/>
                </a:solidFill>
              </a:rPr>
              <a:t>Device fails</a:t>
            </a:r>
            <a:endParaRPr lang="en-US" sz="850" dirty="0"/>
          </a:p>
        </p:txBody>
      </p:sp>
      <p:sp>
        <p:nvSpPr>
          <p:cNvPr id="24" name="Shape 21"/>
          <p:cNvSpPr/>
          <p:nvPr/>
        </p:nvSpPr>
        <p:spPr>
          <a:xfrm>
            <a:off x="1965960" y="5696712"/>
            <a:ext cx="128016" cy="0"/>
          </a:xfrm>
          <a:prstGeom prst="line">
            <a:avLst/>
          </a:prstGeom>
          <a:noFill/>
          <a:ln w="15875">
            <a:solidFill>
              <a:schemeClr val="accent4"/>
            </a:solidFill>
            <a:prstDash val="solid"/>
            <a:tailEnd type="triangle"/>
          </a:ln>
        </p:spPr>
      </p:sp>
      <p:sp>
        <p:nvSpPr>
          <p:cNvPr id="25" name="Shape 22"/>
          <p:cNvSpPr/>
          <p:nvPr/>
        </p:nvSpPr>
        <p:spPr>
          <a:xfrm>
            <a:off x="2121408" y="5248656"/>
            <a:ext cx="1298448" cy="896112"/>
          </a:xfrm>
          <a:prstGeom prst="roundRect">
            <a:avLst>
              <a:gd name="adj" fmla="val 6122"/>
            </a:avLst>
          </a:prstGeom>
          <a:solidFill>
            <a:schemeClr val="bg1"/>
          </a:solidFill>
          <a:ln w="9525">
            <a:solidFill>
              <a:schemeClr val="accent5"/>
            </a:solidFill>
            <a:prstDash val="solid"/>
          </a:ln>
        </p:spPr>
      </p:sp>
      <p:sp>
        <p:nvSpPr>
          <p:cNvPr id="26" name="Text 23"/>
          <p:cNvSpPr txBox="1"/>
          <p:nvPr/>
        </p:nvSpPr>
        <p:spPr>
          <a:xfrm>
            <a:off x="2212848" y="5321808"/>
            <a:ext cx="1115568" cy="749808"/>
          </a:xfrm>
          <a:prstGeom prst="rect">
            <a:avLst/>
          </a:prstGeom>
          <a:noFill/>
          <a:ln/>
        </p:spPr>
        <p:txBody>
          <a:bodyPr wrap="square" lIns="0" tIns="0" rIns="0" bIns="0" rtlCol="0" anchor="t"/>
          <a:lstStyle/>
          <a:p>
            <a:pPr indent="0" marL="0">
              <a:spcAft>
                <a:spcPts val="200"/>
              </a:spcAft>
              <a:buNone/>
            </a:pPr>
            <a:r>
              <a:rPr lang="en-US" sz="850" b="1" dirty="0">
                <a:solidFill>
                  <a:schemeClr val="accent1"/>
                </a:solidFill>
              </a:rPr>
              <a:t>02</a:t>
            </a:r>
            <a:endParaRPr lang="en-US" sz="850" dirty="0"/>
          </a:p>
          <a:p>
            <a:pPr indent="0" marL="0">
              <a:spcAft>
                <a:spcPts val="200"/>
              </a:spcAft>
              <a:buNone/>
            </a:pPr>
            <a:r>
              <a:rPr lang="en-US" sz="1050" b="1" dirty="0">
                <a:solidFill>
                  <a:schemeClr val="tx1"/>
                </a:solidFill>
              </a:rPr>
              <a:t>Owner can't pin down the fault</a:t>
            </a:r>
            <a:endParaRPr lang="en-US" sz="850" dirty="0"/>
          </a:p>
        </p:txBody>
      </p:sp>
      <p:sp>
        <p:nvSpPr>
          <p:cNvPr id="27" name="Shape 24"/>
          <p:cNvSpPr/>
          <p:nvPr/>
        </p:nvSpPr>
        <p:spPr>
          <a:xfrm>
            <a:off x="3447288" y="5696712"/>
            <a:ext cx="128016" cy="0"/>
          </a:xfrm>
          <a:prstGeom prst="line">
            <a:avLst/>
          </a:prstGeom>
          <a:noFill/>
          <a:ln w="15875">
            <a:solidFill>
              <a:schemeClr val="accent4"/>
            </a:solidFill>
            <a:prstDash val="solid"/>
            <a:tailEnd type="triangle"/>
          </a:ln>
        </p:spPr>
      </p:sp>
      <p:sp>
        <p:nvSpPr>
          <p:cNvPr id="28" name="Shape 25"/>
          <p:cNvSpPr/>
          <p:nvPr/>
        </p:nvSpPr>
        <p:spPr>
          <a:xfrm>
            <a:off x="3602736" y="5248656"/>
            <a:ext cx="1298448" cy="896112"/>
          </a:xfrm>
          <a:prstGeom prst="roundRect">
            <a:avLst>
              <a:gd name="adj" fmla="val 6122"/>
            </a:avLst>
          </a:prstGeom>
          <a:solidFill>
            <a:schemeClr val="bg1"/>
          </a:solidFill>
          <a:ln w="9525">
            <a:solidFill>
              <a:schemeClr val="accent5"/>
            </a:solidFill>
            <a:prstDash val="solid"/>
          </a:ln>
        </p:spPr>
      </p:sp>
      <p:sp>
        <p:nvSpPr>
          <p:cNvPr id="29" name="Text 26"/>
          <p:cNvSpPr txBox="1"/>
          <p:nvPr/>
        </p:nvSpPr>
        <p:spPr>
          <a:xfrm>
            <a:off x="3694176" y="5321808"/>
            <a:ext cx="1115568" cy="749808"/>
          </a:xfrm>
          <a:prstGeom prst="rect">
            <a:avLst/>
          </a:prstGeom>
          <a:noFill/>
          <a:ln/>
        </p:spPr>
        <p:txBody>
          <a:bodyPr wrap="square" lIns="0" tIns="0" rIns="0" bIns="0" rtlCol="0" anchor="t"/>
          <a:lstStyle/>
          <a:p>
            <a:pPr indent="0" marL="0">
              <a:spcAft>
                <a:spcPts val="200"/>
              </a:spcAft>
              <a:buNone/>
            </a:pPr>
            <a:r>
              <a:rPr lang="en-US" sz="850" b="1" dirty="0">
                <a:solidFill>
                  <a:schemeClr val="accent1"/>
                </a:solidFill>
              </a:rPr>
              <a:t>03</a:t>
            </a:r>
            <a:endParaRPr lang="en-US" sz="850" dirty="0"/>
          </a:p>
          <a:p>
            <a:pPr indent="0" marL="0">
              <a:spcAft>
                <a:spcPts val="200"/>
              </a:spcAft>
              <a:buNone/>
            </a:pPr>
            <a:r>
              <a:rPr lang="en-US" sz="1050" b="1" dirty="0">
                <a:solidFill>
                  <a:schemeClr val="tx1"/>
                </a:solidFill>
              </a:rPr>
              <a:t>Opaque quote, often a full-module swap</a:t>
            </a:r>
            <a:endParaRPr lang="en-US" sz="850" dirty="0"/>
          </a:p>
        </p:txBody>
      </p:sp>
      <p:sp>
        <p:nvSpPr>
          <p:cNvPr id="30" name="Shape 27"/>
          <p:cNvSpPr/>
          <p:nvPr/>
        </p:nvSpPr>
        <p:spPr>
          <a:xfrm>
            <a:off x="4928616" y="5696712"/>
            <a:ext cx="128016" cy="0"/>
          </a:xfrm>
          <a:prstGeom prst="line">
            <a:avLst/>
          </a:prstGeom>
          <a:noFill/>
          <a:ln w="15875">
            <a:solidFill>
              <a:schemeClr val="accent4"/>
            </a:solidFill>
            <a:prstDash val="solid"/>
            <a:tailEnd type="triangle"/>
          </a:ln>
        </p:spPr>
      </p:sp>
      <p:sp>
        <p:nvSpPr>
          <p:cNvPr id="31" name="Shape 28"/>
          <p:cNvSpPr/>
          <p:nvPr/>
        </p:nvSpPr>
        <p:spPr>
          <a:xfrm>
            <a:off x="5084064" y="5248656"/>
            <a:ext cx="1298448" cy="896112"/>
          </a:xfrm>
          <a:prstGeom prst="roundRect">
            <a:avLst>
              <a:gd name="adj" fmla="val 6122"/>
            </a:avLst>
          </a:prstGeom>
          <a:solidFill>
            <a:schemeClr val="bg1"/>
          </a:solidFill>
          <a:ln w="9525">
            <a:solidFill>
              <a:schemeClr val="accent5"/>
            </a:solidFill>
            <a:prstDash val="solid"/>
          </a:ln>
        </p:spPr>
      </p:sp>
      <p:sp>
        <p:nvSpPr>
          <p:cNvPr id="32" name="Text 29"/>
          <p:cNvSpPr txBox="1"/>
          <p:nvPr/>
        </p:nvSpPr>
        <p:spPr>
          <a:xfrm>
            <a:off x="5175504" y="5321808"/>
            <a:ext cx="1115568" cy="749808"/>
          </a:xfrm>
          <a:prstGeom prst="rect">
            <a:avLst/>
          </a:prstGeom>
          <a:noFill/>
          <a:ln/>
        </p:spPr>
        <p:txBody>
          <a:bodyPr wrap="square" lIns="0" tIns="0" rIns="0" bIns="0" rtlCol="0" anchor="t"/>
          <a:lstStyle/>
          <a:p>
            <a:pPr indent="0" marL="0">
              <a:spcAft>
                <a:spcPts val="200"/>
              </a:spcAft>
              <a:buNone/>
            </a:pPr>
            <a:r>
              <a:rPr lang="en-US" sz="850" b="1" dirty="0">
                <a:solidFill>
                  <a:schemeClr val="accent1"/>
                </a:solidFill>
              </a:rPr>
              <a:t>04</a:t>
            </a:r>
            <a:endParaRPr lang="en-US" sz="850" dirty="0"/>
          </a:p>
          <a:p>
            <a:pPr indent="0" marL="0">
              <a:spcAft>
                <a:spcPts val="200"/>
              </a:spcAft>
              <a:buNone/>
            </a:pPr>
            <a:r>
              <a:rPr lang="en-US" sz="1050" b="1" dirty="0">
                <a:solidFill>
                  <a:schemeClr val="tx1"/>
                </a:solidFill>
              </a:rPr>
              <a:t>Replaced “to be safe”</a:t>
            </a:r>
            <a:endParaRPr lang="en-US" sz="850" dirty="0"/>
          </a:p>
        </p:txBody>
      </p:sp>
      <p:sp>
        <p:nvSpPr>
          <p:cNvPr id="33" name="Shape 30"/>
          <p:cNvSpPr/>
          <p:nvPr/>
        </p:nvSpPr>
        <p:spPr>
          <a:xfrm>
            <a:off x="6409944" y="5696712"/>
            <a:ext cx="128016" cy="0"/>
          </a:xfrm>
          <a:prstGeom prst="line">
            <a:avLst/>
          </a:prstGeom>
          <a:noFill/>
          <a:ln w="15875">
            <a:solidFill>
              <a:schemeClr val="accent4"/>
            </a:solidFill>
            <a:prstDash val="solid"/>
            <a:tailEnd type="triangle"/>
          </a:ln>
        </p:spPr>
      </p:sp>
      <p:sp>
        <p:nvSpPr>
          <p:cNvPr id="34" name="Shape 31"/>
          <p:cNvSpPr/>
          <p:nvPr/>
        </p:nvSpPr>
        <p:spPr>
          <a:xfrm>
            <a:off x="6565392" y="5248656"/>
            <a:ext cx="1298448" cy="896112"/>
          </a:xfrm>
          <a:prstGeom prst="roundRect">
            <a:avLst>
              <a:gd name="adj" fmla="val 6122"/>
            </a:avLst>
          </a:prstGeom>
          <a:solidFill>
            <a:schemeClr val="accent1"/>
          </a:solidFill>
          <a:ln w="9525">
            <a:solidFill>
              <a:schemeClr val="accent1"/>
            </a:solidFill>
            <a:prstDash val="solid"/>
          </a:ln>
        </p:spPr>
      </p:sp>
      <p:sp>
        <p:nvSpPr>
          <p:cNvPr id="35" name="Text 32"/>
          <p:cNvSpPr txBox="1"/>
          <p:nvPr/>
        </p:nvSpPr>
        <p:spPr>
          <a:xfrm>
            <a:off x="6656832" y="5321808"/>
            <a:ext cx="1115568" cy="749808"/>
          </a:xfrm>
          <a:prstGeom prst="rect">
            <a:avLst/>
          </a:prstGeom>
          <a:noFill/>
          <a:ln/>
        </p:spPr>
        <p:txBody>
          <a:bodyPr wrap="square" lIns="0" tIns="0" rIns="0" bIns="0" rtlCol="0" anchor="t"/>
          <a:lstStyle/>
          <a:p>
            <a:pPr indent="0" marL="0">
              <a:spcAft>
                <a:spcPts val="200"/>
              </a:spcAft>
              <a:buNone/>
            </a:pPr>
            <a:r>
              <a:rPr lang="en-US" sz="850" b="1" dirty="0">
                <a:solidFill>
                  <a:schemeClr val="bg1"/>
                </a:solidFill>
              </a:rPr>
              <a:t>05</a:t>
            </a:r>
            <a:endParaRPr lang="en-US" sz="850" dirty="0"/>
          </a:p>
          <a:p>
            <a:pPr indent="0" marL="0">
              <a:spcAft>
                <a:spcPts val="200"/>
              </a:spcAft>
              <a:buNone/>
            </a:pPr>
            <a:r>
              <a:rPr lang="en-US" sz="1050" b="1" dirty="0">
                <a:solidFill>
                  <a:schemeClr val="bg1"/>
                </a:solidFill>
              </a:rPr>
              <a:t>Avoidable cost and e-waste</a:t>
            </a:r>
            <a:endParaRPr lang="en-US" sz="850" dirty="0"/>
          </a:p>
        </p:txBody>
      </p:sp>
      <p:sp>
        <p:nvSpPr>
          <p:cNvPr id="36" name="Target users panel"/>
          <p:cNvSpPr/>
          <p:nvPr/>
        </p:nvSpPr>
        <p:spPr>
          <a:xfrm>
            <a:off x="8275320" y="2057400"/>
            <a:ext cx="3474720" cy="4261104"/>
          </a:xfrm>
          <a:prstGeom prst="roundRect">
            <a:avLst>
              <a:gd name="adj" fmla="val 1842"/>
            </a:avLst>
          </a:prstGeom>
          <a:solidFill>
            <a:schemeClr val="bg2"/>
          </a:solidFill>
          <a:ln w="9525">
            <a:solidFill>
              <a:schemeClr val="accent5"/>
            </a:solidFill>
            <a:prstDash val="solid"/>
          </a:ln>
        </p:spPr>
      </p:sp>
      <p:sp>
        <p:nvSpPr>
          <p:cNvPr id="37" name="Shape 34"/>
          <p:cNvSpPr/>
          <p:nvPr/>
        </p:nvSpPr>
        <p:spPr>
          <a:xfrm>
            <a:off x="8458200" y="2194560"/>
            <a:ext cx="365760" cy="365760"/>
          </a:xfrm>
          <a:prstGeom prst="roundRect">
            <a:avLst>
              <a:gd name="adj" fmla="val 20000"/>
            </a:avLst>
          </a:prstGeom>
          <a:solidFill>
            <a:schemeClr val="accent6"/>
          </a:solidFill>
          <a:ln w="12700">
            <a:solidFill>
              <a:schemeClr val="accent6"/>
            </a:solidFill>
            <a:prstDash val="solid"/>
          </a:ln>
        </p:spPr>
      </p:sp>
      <p:pic>
        <p:nvPicPr>
          <p:cNvPr id="38" name="Image 1" descr="preencoded.png">    </p:cNvPr>
          <p:cNvPicPr>
            <a:picLocks noChangeAspect="1"/>
          </p:cNvPicPr>
          <p:nvPr/>
        </p:nvPicPr>
        <p:blipFill>
          <a:blip r:embed="rId2"/>
          <a:stretch>
            <a:fillRect/>
          </a:stretch>
        </p:blipFill>
        <p:spPr>
          <a:xfrm>
            <a:off x="8540496" y="2276856"/>
            <a:ext cx="201168" cy="201168"/>
          </a:xfrm>
          <a:prstGeom prst="rect">
            <a:avLst/>
          </a:prstGeom>
        </p:spPr>
      </p:pic>
      <p:sp>
        <p:nvSpPr>
          <p:cNvPr id="39" name="Section: Target Users"/>
          <p:cNvSpPr txBox="1"/>
          <p:nvPr/>
        </p:nvSpPr>
        <p:spPr>
          <a:xfrm>
            <a:off x="8933688" y="219456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Target Users</a:t>
            </a:r>
            <a:endParaRPr lang="en-US" sz="1800" dirty="0"/>
          </a:p>
        </p:txBody>
      </p:sp>
      <p:sp>
        <p:nvSpPr>
          <p:cNvPr id="40" name="Shape 36"/>
          <p:cNvSpPr/>
          <p:nvPr/>
        </p:nvSpPr>
        <p:spPr>
          <a:xfrm>
            <a:off x="8458200" y="2679192"/>
            <a:ext cx="1325880" cy="237744"/>
          </a:xfrm>
          <a:prstGeom prst="roundRect">
            <a:avLst>
              <a:gd name="adj" fmla="val 50000"/>
            </a:avLst>
          </a:prstGeom>
          <a:solidFill>
            <a:schemeClr val="accent1"/>
          </a:solidFill>
          <a:ln w="12700">
            <a:solidFill>
              <a:schemeClr val="accent1"/>
            </a:solidFill>
            <a:prstDash val="solid"/>
          </a:ln>
        </p:spPr>
      </p:sp>
      <p:sp>
        <p:nvSpPr>
          <p:cNvPr id="41" name="Text 37"/>
          <p:cNvSpPr txBox="1"/>
          <p:nvPr/>
        </p:nvSpPr>
        <p:spPr>
          <a:xfrm>
            <a:off x="8458200" y="2679192"/>
            <a:ext cx="1325880" cy="237744"/>
          </a:xfrm>
          <a:prstGeom prst="rect">
            <a:avLst/>
          </a:prstGeom>
          <a:noFill/>
          <a:ln/>
        </p:spPr>
        <p:txBody>
          <a:bodyPr wrap="square" lIns="0" tIns="0" rIns="0" bIns="0" rtlCol="0" anchor="ctr"/>
          <a:lstStyle/>
          <a:p>
            <a:pPr algn="ctr" indent="0" marL="0">
              <a:buNone/>
            </a:pPr>
            <a:r>
              <a:rPr lang="en-US" sz="850" b="1" spc="100" kern="0" dirty="0">
                <a:solidFill>
                  <a:schemeClr val="bg1"/>
                </a:solidFill>
              </a:rPr>
              <a:t>B2C · PRIMARY</a:t>
            </a:r>
            <a:endParaRPr lang="en-US" sz="850" dirty="0"/>
          </a:p>
        </p:txBody>
      </p:sp>
      <p:sp>
        <p:nvSpPr>
          <p:cNvPr id="42" name="B2C segments"/>
          <p:cNvSpPr txBox="1"/>
          <p:nvPr/>
        </p:nvSpPr>
        <p:spPr>
          <a:xfrm>
            <a:off x="8458200" y="2971800"/>
            <a:ext cx="3154680" cy="1234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Phone &amp; laptop owners aged 18–40: students, young professionals, gig workers</a:t>
            </a:r>
            <a:endParaRPr lang="en-US" sz="1050" dirty="0"/>
          </a:p>
          <a:p>
            <a:pPr marL="152400" indent="-152400">
              <a:spcAft>
                <a:spcPts val="400"/>
              </a:spcAft>
              <a:buSzPct val="100000"/>
              <a:buChar char="•"/>
            </a:pPr>
            <a:r>
              <a:rPr lang="en-US" sz="1050" dirty="0">
                <a:solidFill>
                  <a:schemeClr val="tx1"/>
                </a:solidFill>
              </a:rPr>
              <a:t>Out-of-warranty devices 2–5 years old — where repair-or-replace is decided</a:t>
            </a:r>
            <a:endParaRPr lang="en-US" sz="1050" dirty="0"/>
          </a:p>
          <a:p>
            <a:pPr marL="152400" indent="-152400">
              <a:spcAft>
                <a:spcPts val="400"/>
              </a:spcAft>
              <a:buSzPct val="100000"/>
              <a:buChar char="•"/>
            </a:pPr>
            <a:r>
              <a:rPr lang="en-US" sz="1050" dirty="0">
                <a:solidFill>
                  <a:schemeClr val="tx1"/>
                </a:solidFill>
              </a:rPr>
              <a:t>Used-device buyers and sellers who need proof of condition</a:t>
            </a:r>
            <a:endParaRPr lang="en-US" sz="1050" dirty="0"/>
          </a:p>
        </p:txBody>
      </p:sp>
      <p:sp>
        <p:nvSpPr>
          <p:cNvPr id="43" name="Shape 39"/>
          <p:cNvSpPr/>
          <p:nvPr/>
        </p:nvSpPr>
        <p:spPr>
          <a:xfrm>
            <a:off x="8458200" y="4261104"/>
            <a:ext cx="1325880" cy="237744"/>
          </a:xfrm>
          <a:prstGeom prst="roundRect">
            <a:avLst>
              <a:gd name="adj" fmla="val 50000"/>
            </a:avLst>
          </a:prstGeom>
          <a:solidFill>
            <a:schemeClr val="tx2"/>
          </a:solidFill>
          <a:ln w="12700">
            <a:solidFill>
              <a:schemeClr val="tx2"/>
            </a:solidFill>
            <a:prstDash val="solid"/>
          </a:ln>
        </p:spPr>
      </p:sp>
      <p:sp>
        <p:nvSpPr>
          <p:cNvPr id="44" name="Text 40"/>
          <p:cNvSpPr txBox="1"/>
          <p:nvPr/>
        </p:nvSpPr>
        <p:spPr>
          <a:xfrm>
            <a:off x="8458200" y="4261104"/>
            <a:ext cx="1325880" cy="237744"/>
          </a:xfrm>
          <a:prstGeom prst="rect">
            <a:avLst/>
          </a:prstGeom>
          <a:noFill/>
          <a:ln/>
        </p:spPr>
        <p:txBody>
          <a:bodyPr wrap="square" lIns="0" tIns="0" rIns="0" bIns="0" rtlCol="0" anchor="ctr"/>
          <a:lstStyle/>
          <a:p>
            <a:pPr algn="ctr" indent="0" marL="0">
              <a:buNone/>
            </a:pPr>
            <a:r>
              <a:rPr lang="en-US" sz="850" b="1" spc="100" kern="0" dirty="0">
                <a:solidFill>
                  <a:schemeClr val="bg1"/>
                </a:solidFill>
              </a:rPr>
              <a:t>B2B · REVENUE</a:t>
            </a:r>
            <a:endParaRPr lang="en-US" sz="850" dirty="0"/>
          </a:p>
        </p:txBody>
      </p:sp>
      <p:sp>
        <p:nvSpPr>
          <p:cNvPr id="45" name="B2B segments"/>
          <p:cNvSpPr txBox="1"/>
          <p:nvPr/>
        </p:nvSpPr>
        <p:spPr>
          <a:xfrm>
            <a:off x="8458200" y="4553712"/>
            <a:ext cx="3154680" cy="1024128"/>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Independent repair shops: pre-triaged leads, digital job cards</a:t>
            </a:r>
            <a:endParaRPr lang="en-US" sz="1050" dirty="0"/>
          </a:p>
          <a:p>
            <a:pPr marL="152400" indent="-152400">
              <a:spcAft>
                <a:spcPts val="400"/>
              </a:spcAft>
              <a:buSzPct val="100000"/>
              <a:buChar char="•"/>
            </a:pPr>
            <a:r>
              <a:rPr lang="en-US" sz="1050" dirty="0">
                <a:solidFill>
                  <a:schemeClr val="tx1"/>
                </a:solidFill>
              </a:rPr>
              <a:t>Refurbishers &amp; device insurers: grading and claim triage</a:t>
            </a:r>
            <a:endParaRPr lang="en-US" sz="1050" dirty="0"/>
          </a:p>
          <a:p>
            <a:pPr marL="152400" indent="-152400">
              <a:spcAft>
                <a:spcPts val="400"/>
              </a:spcAft>
              <a:buSzPct val="100000"/>
              <a:buChar char="•"/>
            </a:pPr>
            <a:r>
              <a:rPr lang="en-US" sz="1050" dirty="0">
                <a:solidFill>
                  <a:schemeClr val="tx1"/>
                </a:solidFill>
              </a:rPr>
              <a:t>Campus and SME IT teams: fleet repair-vs-replace calls</a:t>
            </a:r>
            <a:endParaRPr lang="en-US" sz="1050" dirty="0"/>
          </a:p>
        </p:txBody>
      </p:sp>
      <p:sp>
        <p:nvSpPr>
          <p:cNvPr id="46" name="Text 42"/>
          <p:cNvSpPr txBox="1"/>
          <p:nvPr/>
        </p:nvSpPr>
        <p:spPr>
          <a:xfrm>
            <a:off x="8458200" y="5669280"/>
            <a:ext cx="1188720" cy="502920"/>
          </a:xfrm>
          <a:prstGeom prst="rect">
            <a:avLst/>
          </a:prstGeom>
          <a:noFill/>
          <a:ln/>
        </p:spPr>
        <p:txBody>
          <a:bodyPr wrap="square" lIns="0" tIns="0" rIns="0" bIns="0" rtlCol="0" anchor="ctr"/>
          <a:lstStyle/>
          <a:p>
            <a:pPr indent="0" marL="0">
              <a:buNone/>
            </a:pPr>
            <a:r>
              <a:rPr lang="en-US" sz="2200" b="1" dirty="0">
                <a:solidFill>
                  <a:schemeClr val="accent1"/>
                </a:solidFill>
              </a:rPr>
              <a:t>740M+</a:t>
            </a:r>
            <a:endParaRPr lang="en-US" sz="2200" dirty="0"/>
          </a:p>
        </p:txBody>
      </p:sp>
      <p:sp>
        <p:nvSpPr>
          <p:cNvPr id="47" name="Text 43"/>
          <p:cNvSpPr txBox="1"/>
          <p:nvPr/>
        </p:nvSpPr>
        <p:spPr>
          <a:xfrm>
            <a:off x="9692640" y="5669280"/>
            <a:ext cx="1920240" cy="502920"/>
          </a:xfrm>
          <a:prstGeom prst="rect">
            <a:avLst/>
          </a:prstGeom>
          <a:noFill/>
          <a:ln/>
        </p:spPr>
        <p:txBody>
          <a:bodyPr wrap="square" lIns="0" tIns="0" rIns="0" bIns="0" rtlCol="0" anchor="ctr"/>
          <a:lstStyle/>
          <a:p>
            <a:pPr indent="0" marL="0">
              <a:buNone/>
            </a:pPr>
            <a:r>
              <a:rPr lang="en-US" sz="900" dirty="0">
                <a:solidFill>
                  <a:schemeClr val="accent4"/>
                </a:solidFill>
              </a:rPr>
              <a:t>active smartphones in India — the B2C base, before laptops</a:t>
            </a:r>
            <a:pPr indent="0" marL="0">
              <a:buNone/>
            </a:pPr>
            <a:r>
              <a:rPr lang="en-US" sz="900" baseline="30000" dirty="0">
                <a:solidFill>
                  <a:schemeClr val="accent4"/>
                </a:solidFill>
              </a:rPr>
              <a:t>4</a:t>
            </a:r>
            <a:endParaRPr lang="en-US" sz="900" dirty="0"/>
          </a:p>
        </p:txBody>
      </p:sp>
      <p:sp>
        <p:nvSpPr>
          <p:cNvPr id="48" name="Sources"/>
          <p:cNvSpPr txBox="1"/>
          <p:nvPr/>
        </p:nvSpPr>
        <p:spPr>
          <a:xfrm>
            <a:off x="457200" y="6391656"/>
            <a:ext cx="11292840" cy="384048"/>
          </a:xfrm>
          <a:prstGeom prst="rect">
            <a:avLst/>
          </a:prstGeom>
          <a:noFill/>
          <a:ln/>
        </p:spPr>
        <p:txBody>
          <a:bodyPr wrap="square" lIns="0" tIns="0" rIns="0" bIns="0" rtlCol="0" anchor="t"/>
          <a:lstStyle/>
          <a:p>
            <a:pPr indent="0" marL="0">
              <a:buNone/>
            </a:pPr>
            <a:r>
              <a:rPr lang="en-US" sz="900" baseline="30000" dirty="0">
                <a:solidFill>
                  <a:schemeClr val="accent4"/>
                </a:solidFill>
              </a:rPr>
              <a:t>1</a:t>
            </a:r>
            <a:pPr indent="0" marL="0">
              <a:buNone/>
            </a:pPr>
            <a:r>
              <a:rPr lang="en-US" sz="900" dirty="0">
                <a:solidFill>
                  <a:schemeClr val="accent4"/>
                </a:solidFill>
              </a:rPr>
              <a:t> Counterpoint Research, India Smartphone After-Sales Service Consumer Study (Sep 2025)    </a:t>
            </a:r>
            <a:pPr indent="0" marL="0">
              <a:buNone/>
            </a:pPr>
            <a:r>
              <a:rPr lang="en-US" sz="900" baseline="30000" dirty="0">
                <a:solidFill>
                  <a:schemeClr val="accent4"/>
                </a:solidFill>
              </a:rPr>
              <a:t>2</a:t>
            </a:r>
            <a:pPr indent="0" marL="0">
              <a:buNone/>
            </a:pPr>
            <a:r>
              <a:rPr lang="en-US" sz="900" dirty="0">
                <a:solidFill>
                  <a:schemeClr val="accent4"/>
                </a:solidFill>
              </a:rPr>
              <a:t> CPCB data, MoHUA written reply in Rajya Sabha (16 Dec 2024)</a:t>
            </a:r>
            <a:endParaRPr lang="en-US" sz="900" dirty="0"/>
          </a:p>
          <a:p>
            <a:pPr indent="0" marL="0">
              <a:buNone/>
            </a:pPr>
            <a:r>
              <a:rPr lang="en-US" sz="900" baseline="30000" dirty="0">
                <a:solidFill>
                  <a:schemeClr val="accent4"/>
                </a:solidFill>
              </a:rPr>
              <a:t>3</a:t>
            </a:r>
            <a:pPr indent="0" marL="0">
              <a:buNone/>
            </a:pPr>
            <a:r>
              <a:rPr lang="en-US" sz="900" dirty="0">
                <a:solidFill>
                  <a:schemeClr val="accent4"/>
                </a:solidFill>
              </a:rPr>
              <a:t> European Environmental Bureau / Coolproducts, “Coolproducts don't cost the Earth” (2019)    </a:t>
            </a:r>
            <a:pPr indent="0" marL="0">
              <a:buNone/>
            </a:pPr>
            <a:r>
              <a:rPr lang="en-US" sz="900" baseline="30000" dirty="0">
                <a:solidFill>
                  <a:schemeClr val="accent4"/>
                </a:solidFill>
              </a:rPr>
              <a:t>4</a:t>
            </a:r>
            <a:pPr indent="0" marL="0">
              <a:buNone/>
            </a:pPr>
            <a:r>
              <a:rPr lang="en-US" sz="900" dirty="0">
                <a:solidFill>
                  <a:schemeClr val="accent4"/>
                </a:solidFill>
              </a:rPr>
              <a:t> Counterpoint Research, active smartphone installed base (2025)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2514600" y="146304"/>
            <a:ext cx="7086600" cy="987552"/>
          </a:xfrm>
          <a:prstGeom prst="rect">
            <a:avLst/>
          </a:prstGeom>
          <a:noFill/>
          <a:ln/>
        </p:spPr>
        <p:txBody>
          <a:bodyPr wrap="square" lIns="0" tIns="0" rIns="0" bIns="0" rtlCol="0" anchor="ctr"/>
          <a:lstStyle/>
          <a:p>
            <a:pPr algn="ctr" indent="0" marL="0">
              <a:buNone/>
            </a:pPr>
            <a:r>
              <a:rPr lang="en-US" sz="2700" b="1" dirty="0">
                <a:solidFill>
                  <a:schemeClr val="tx1"/>
                </a:solidFill>
                <a:latin typeface="Georgia" pitchFamily="34" charset="0"/>
                <a:ea typeface="Georgia" pitchFamily="34" charset="-122"/>
                <a:cs typeface="Georgia" pitchFamily="34" charset="-120"/>
              </a:rPr>
              <a:t>OUR UNIQUE SOLUTION</a:t>
            </a:r>
            <a:endParaRPr lang="en-US" sz="2700" dirty="0"/>
          </a:p>
        </p:txBody>
      </p:sp>
      <p:sp>
        <p:nvSpPr>
          <p:cNvPr id="3" name="Key message"/>
          <p:cNvSpPr txBox="1"/>
          <p:nvPr/>
        </p:nvSpPr>
        <p:spPr>
          <a:xfrm>
            <a:off x="2743200" y="1005840"/>
            <a:ext cx="9006840" cy="704088"/>
          </a:xfrm>
          <a:prstGeom prst="rect">
            <a:avLst/>
          </a:prstGeom>
          <a:noFill/>
          <a:ln/>
        </p:spPr>
        <p:txBody>
          <a:bodyPr wrap="square" lIns="0" tIns="0" rIns="0" bIns="0" rtlCol="0" anchor="ctr"/>
          <a:lstStyle/>
          <a:p>
            <a:pPr indent="0" marL="0">
              <a:buNone/>
            </a:pPr>
            <a:r>
              <a:rPr lang="en-US" sz="1500" dirty="0">
                <a:solidFill>
                  <a:schemeClr val="tx1"/>
                </a:solidFill>
              </a:rPr>
              <a:t>RepairOS turns a vague complaint into </a:t>
            </a:r>
            <a:pPr indent="0" marL="0">
              <a:buNone/>
            </a:pPr>
            <a:r>
              <a:rPr lang="en-US" sz="1500" b="1" dirty="0">
                <a:solidFill>
                  <a:schemeClr val="accent1"/>
                </a:solidFill>
              </a:rPr>
              <a:t>device evidence, a ranked diagnosis and a costed decision</a:t>
            </a:r>
            <a:pPr indent="0" marL="0">
              <a:buNone/>
            </a:pPr>
            <a:r>
              <a:rPr lang="en-US" sz="1500" dirty="0">
                <a:solidFill>
                  <a:schemeClr val="tx1"/>
                </a:solidFill>
              </a:rPr>
              <a:t> — in under five minutes.</a:t>
            </a:r>
            <a:endParaRPr lang="en-US" sz="1500" dirty="0"/>
          </a:p>
        </p:txBody>
      </p:sp>
      <p:sp>
        <p:nvSpPr>
          <p:cNvPr id="4" name="Key features panel"/>
          <p:cNvSpPr/>
          <p:nvPr/>
        </p:nvSpPr>
        <p:spPr>
          <a:xfrm>
            <a:off x="457200" y="2057400"/>
            <a:ext cx="5852160" cy="4261104"/>
          </a:xfrm>
          <a:prstGeom prst="roundRect">
            <a:avLst>
              <a:gd name="adj" fmla="val 1502"/>
            </a:avLst>
          </a:prstGeom>
          <a:solidFill>
            <a:schemeClr val="bg2"/>
          </a:solidFill>
          <a:ln w="9525">
            <a:solidFill>
              <a:schemeClr val="accent5"/>
            </a:solidFill>
            <a:prstDash val="solid"/>
          </a:ln>
        </p:spPr>
      </p:sp>
      <p:sp>
        <p:nvSpPr>
          <p:cNvPr id="5" name="Shape 3"/>
          <p:cNvSpPr/>
          <p:nvPr/>
        </p:nvSpPr>
        <p:spPr>
          <a:xfrm>
            <a:off x="640080" y="2194560"/>
            <a:ext cx="365760" cy="365760"/>
          </a:xfrm>
          <a:prstGeom prst="roundRect">
            <a:avLst>
              <a:gd name="adj" fmla="val 20000"/>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22376" y="2276856"/>
            <a:ext cx="201168" cy="201168"/>
          </a:xfrm>
          <a:prstGeom prst="rect">
            <a:avLst/>
          </a:prstGeom>
        </p:spPr>
      </p:pic>
      <p:sp>
        <p:nvSpPr>
          <p:cNvPr id="7" name="Section: Key Features"/>
          <p:cNvSpPr txBox="1"/>
          <p:nvPr/>
        </p:nvSpPr>
        <p:spPr>
          <a:xfrm>
            <a:off x="1115568" y="219456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Key Features</a:t>
            </a:r>
            <a:endParaRPr lang="en-US" sz="1800" dirty="0"/>
          </a:p>
        </p:txBody>
      </p:sp>
      <p:sp>
        <p:nvSpPr>
          <p:cNvPr id="8" name="Shape 5"/>
          <p:cNvSpPr/>
          <p:nvPr/>
        </p:nvSpPr>
        <p:spPr>
          <a:xfrm>
            <a:off x="850392" y="2852928"/>
            <a:ext cx="0" cy="2834640"/>
          </a:xfrm>
          <a:prstGeom prst="line">
            <a:avLst/>
          </a:prstGeom>
          <a:noFill/>
          <a:ln w="19050">
            <a:solidFill>
              <a:schemeClr val="accent5"/>
            </a:solidFill>
            <a:prstDash val="solid"/>
          </a:ln>
        </p:spPr>
      </p:sp>
      <p:sp>
        <p:nvSpPr>
          <p:cNvPr id="9" name="Shape 6"/>
          <p:cNvSpPr/>
          <p:nvPr/>
        </p:nvSpPr>
        <p:spPr>
          <a:xfrm>
            <a:off x="658368" y="2679192"/>
            <a:ext cx="384048" cy="384048"/>
          </a:xfrm>
          <a:prstGeom prst="ellipse">
            <a:avLst/>
          </a:prstGeom>
          <a:solidFill>
            <a:schemeClr val="accent1"/>
          </a:solidFill>
          <a:ln w="19050">
            <a:solidFill>
              <a:schemeClr val="bg1"/>
            </a:solidFill>
            <a:prstDash val="solid"/>
          </a:ln>
        </p:spPr>
      </p:sp>
      <p:pic>
        <p:nvPicPr>
          <p:cNvPr id="10" name="Image 1" descr="preencoded.png">    </p:cNvPr>
          <p:cNvPicPr>
            <a:picLocks noChangeAspect="1"/>
          </p:cNvPicPr>
          <p:nvPr/>
        </p:nvPicPr>
        <p:blipFill>
          <a:blip r:embed="rId2"/>
          <a:stretch>
            <a:fillRect/>
          </a:stretch>
        </p:blipFill>
        <p:spPr>
          <a:xfrm>
            <a:off x="758952" y="2779776"/>
            <a:ext cx="182880" cy="182880"/>
          </a:xfrm>
          <a:prstGeom prst="rect">
            <a:avLst/>
          </a:prstGeom>
        </p:spPr>
      </p:pic>
      <p:sp>
        <p:nvSpPr>
          <p:cNvPr id="11" name="Text 7"/>
          <p:cNvSpPr txBox="1"/>
          <p:nvPr/>
        </p:nvSpPr>
        <p:spPr>
          <a:xfrm>
            <a:off x="1207008" y="2660904"/>
            <a:ext cx="4937760" cy="237744"/>
          </a:xfrm>
          <a:prstGeom prst="rect">
            <a:avLst/>
          </a:prstGeom>
          <a:noFill/>
          <a:ln/>
        </p:spPr>
        <p:txBody>
          <a:bodyPr wrap="square" lIns="0" tIns="0" rIns="0" bIns="0" rtlCol="0" anchor="ctr"/>
          <a:lstStyle/>
          <a:p>
            <a:pPr indent="0" marL="0">
              <a:buNone/>
            </a:pPr>
            <a:r>
              <a:rPr lang="en-US" sz="1250" b="1" dirty="0">
                <a:solidFill>
                  <a:schemeClr val="tx1"/>
                </a:solidFill>
              </a:rPr>
              <a:t>Identify the device</a:t>
            </a:r>
            <a:endParaRPr lang="en-US" sz="1250" dirty="0"/>
          </a:p>
        </p:txBody>
      </p:sp>
      <p:sp>
        <p:nvSpPr>
          <p:cNvPr id="12" name="Text 8"/>
          <p:cNvSpPr txBox="1"/>
          <p:nvPr/>
        </p:nvSpPr>
        <p:spPr>
          <a:xfrm>
            <a:off x="1207008" y="2907792"/>
            <a:ext cx="4983480" cy="420624"/>
          </a:xfrm>
          <a:prstGeom prst="rect">
            <a:avLst/>
          </a:prstGeom>
          <a:noFill/>
          <a:ln/>
        </p:spPr>
        <p:txBody>
          <a:bodyPr wrap="square" lIns="0" tIns="0" rIns="0" bIns="0" rtlCol="0" anchor="t"/>
          <a:lstStyle/>
          <a:p>
            <a:pPr indent="0" marL="0">
              <a:buNone/>
            </a:pPr>
            <a:r>
              <a:rPr lang="en-US" sz="1000" dirty="0">
                <a:solidFill>
                  <a:schemeClr val="accent4"/>
                </a:solidFill>
              </a:rPr>
              <a:t>Snap the model label or service tag; OCR pulls specs, device age and known failure patterns for that model.</a:t>
            </a:r>
            <a:endParaRPr lang="en-US" sz="1000" dirty="0"/>
          </a:p>
        </p:txBody>
      </p:sp>
      <p:sp>
        <p:nvSpPr>
          <p:cNvPr id="13" name="Shape 9"/>
          <p:cNvSpPr/>
          <p:nvPr/>
        </p:nvSpPr>
        <p:spPr>
          <a:xfrm>
            <a:off x="658368" y="3392424"/>
            <a:ext cx="384048" cy="384048"/>
          </a:xfrm>
          <a:prstGeom prst="ellipse">
            <a:avLst/>
          </a:prstGeom>
          <a:solidFill>
            <a:schemeClr val="accent1"/>
          </a:solidFill>
          <a:ln w="19050">
            <a:solidFill>
              <a:schemeClr val="bg1"/>
            </a:solidFill>
            <a:prstDash val="solid"/>
          </a:ln>
        </p:spPr>
      </p:sp>
      <p:pic>
        <p:nvPicPr>
          <p:cNvPr id="14" name="Image 2" descr="preencoded.png">    </p:cNvPr>
          <p:cNvPicPr>
            <a:picLocks noChangeAspect="1"/>
          </p:cNvPicPr>
          <p:nvPr/>
        </p:nvPicPr>
        <p:blipFill>
          <a:blip r:embed="rId3"/>
          <a:stretch>
            <a:fillRect/>
          </a:stretch>
        </p:blipFill>
        <p:spPr>
          <a:xfrm>
            <a:off x="758952" y="3493008"/>
            <a:ext cx="182880" cy="182880"/>
          </a:xfrm>
          <a:prstGeom prst="rect">
            <a:avLst/>
          </a:prstGeom>
        </p:spPr>
      </p:pic>
      <p:sp>
        <p:nvSpPr>
          <p:cNvPr id="15" name="Text 10"/>
          <p:cNvSpPr txBox="1"/>
          <p:nvPr/>
        </p:nvSpPr>
        <p:spPr>
          <a:xfrm>
            <a:off x="1207008" y="3374136"/>
            <a:ext cx="4937760" cy="237744"/>
          </a:xfrm>
          <a:prstGeom prst="rect">
            <a:avLst/>
          </a:prstGeom>
          <a:noFill/>
          <a:ln/>
        </p:spPr>
        <p:txBody>
          <a:bodyPr wrap="square" lIns="0" tIns="0" rIns="0" bIns="0" rtlCol="0" anchor="ctr"/>
          <a:lstStyle/>
          <a:p>
            <a:pPr indent="0" marL="0">
              <a:buNone/>
            </a:pPr>
            <a:r>
              <a:rPr lang="en-US" sz="1250" b="1" dirty="0">
                <a:solidFill>
                  <a:schemeClr val="tx1"/>
                </a:solidFill>
              </a:rPr>
              <a:t>Collect real evidence</a:t>
            </a:r>
            <a:endParaRPr lang="en-US" sz="1250" dirty="0"/>
          </a:p>
        </p:txBody>
      </p:sp>
      <p:sp>
        <p:nvSpPr>
          <p:cNvPr id="16" name="Text 11"/>
          <p:cNvSpPr txBox="1"/>
          <p:nvPr/>
        </p:nvSpPr>
        <p:spPr>
          <a:xfrm>
            <a:off x="1207008" y="3621024"/>
            <a:ext cx="4983480" cy="420624"/>
          </a:xfrm>
          <a:prstGeom prst="rect">
            <a:avLst/>
          </a:prstGeom>
          <a:noFill/>
          <a:ln/>
        </p:spPr>
        <p:txBody>
          <a:bodyPr wrap="square" lIns="0" tIns="0" rIns="0" bIns="0" rtlCol="0" anchor="t"/>
          <a:lstStyle/>
          <a:p>
            <a:pPr indent="0" marL="0">
              <a:buNone/>
            </a:pPr>
            <a:r>
              <a:rPr lang="en-US" sz="1000" dirty="0">
                <a:solidFill>
                  <a:schemeClr val="accent4"/>
                </a:solidFill>
              </a:rPr>
              <a:t>Adaptive English/Hinglish questions, photos, in-browser self-tests (touch, audio, camera, sensors) and OS health reports such as battery wear.</a:t>
            </a:r>
            <a:endParaRPr lang="en-US" sz="1000" dirty="0"/>
          </a:p>
        </p:txBody>
      </p:sp>
      <p:sp>
        <p:nvSpPr>
          <p:cNvPr id="17" name="Shape 12"/>
          <p:cNvSpPr/>
          <p:nvPr/>
        </p:nvSpPr>
        <p:spPr>
          <a:xfrm>
            <a:off x="658368" y="4105656"/>
            <a:ext cx="384048" cy="384048"/>
          </a:xfrm>
          <a:prstGeom prst="ellipse">
            <a:avLst/>
          </a:prstGeom>
          <a:solidFill>
            <a:schemeClr val="accent1"/>
          </a:solidFill>
          <a:ln w="19050">
            <a:solidFill>
              <a:schemeClr val="bg1"/>
            </a:solidFill>
            <a:prstDash val="solid"/>
          </a:ln>
        </p:spPr>
      </p:sp>
      <p:pic>
        <p:nvPicPr>
          <p:cNvPr id="18" name="Image 3" descr="preencoded.png">    </p:cNvPr>
          <p:cNvPicPr>
            <a:picLocks noChangeAspect="1"/>
          </p:cNvPicPr>
          <p:nvPr/>
        </p:nvPicPr>
        <p:blipFill>
          <a:blip r:embed="rId4"/>
          <a:stretch>
            <a:fillRect/>
          </a:stretch>
        </p:blipFill>
        <p:spPr>
          <a:xfrm>
            <a:off x="758952" y="4206240"/>
            <a:ext cx="182880" cy="182880"/>
          </a:xfrm>
          <a:prstGeom prst="rect">
            <a:avLst/>
          </a:prstGeom>
        </p:spPr>
      </p:pic>
      <p:sp>
        <p:nvSpPr>
          <p:cNvPr id="19" name="Text 13"/>
          <p:cNvSpPr txBox="1"/>
          <p:nvPr/>
        </p:nvSpPr>
        <p:spPr>
          <a:xfrm>
            <a:off x="1207008" y="4087368"/>
            <a:ext cx="4937760" cy="237744"/>
          </a:xfrm>
          <a:prstGeom prst="rect">
            <a:avLst/>
          </a:prstGeom>
          <a:noFill/>
          <a:ln/>
        </p:spPr>
        <p:txBody>
          <a:bodyPr wrap="square" lIns="0" tIns="0" rIns="0" bIns="0" rtlCol="0" anchor="ctr"/>
          <a:lstStyle/>
          <a:p>
            <a:pPr indent="0" marL="0">
              <a:buNone/>
            </a:pPr>
            <a:r>
              <a:rPr lang="en-US" sz="1250" b="1" dirty="0">
                <a:solidFill>
                  <a:schemeClr val="tx1"/>
                </a:solidFill>
              </a:rPr>
              <a:t>Diagnose with confidence</a:t>
            </a:r>
            <a:endParaRPr lang="en-US" sz="1250" dirty="0"/>
          </a:p>
        </p:txBody>
      </p:sp>
      <p:sp>
        <p:nvSpPr>
          <p:cNvPr id="20" name="Text 14"/>
          <p:cNvSpPr txBox="1"/>
          <p:nvPr/>
        </p:nvSpPr>
        <p:spPr>
          <a:xfrm>
            <a:off x="1207008" y="4334256"/>
            <a:ext cx="4983480" cy="420624"/>
          </a:xfrm>
          <a:prstGeom prst="rect">
            <a:avLst/>
          </a:prstGeom>
          <a:noFill/>
          <a:ln/>
        </p:spPr>
        <p:txBody>
          <a:bodyPr wrap="square" lIns="0" tIns="0" rIns="0" bIns="0" rtlCol="0" anchor="t"/>
          <a:lstStyle/>
          <a:p>
            <a:pPr indent="0" marL="0">
              <a:buNone/>
            </a:pPr>
            <a:r>
              <a:rPr lang="en-US" sz="1000" dirty="0">
                <a:solidFill>
                  <a:schemeClr val="accent4"/>
                </a:solidFill>
              </a:rPr>
              <a:t>A Bayesian engine ranks likely faults with a confidence score and asks the single most informative next question.</a:t>
            </a:r>
            <a:endParaRPr lang="en-US" sz="1000" dirty="0"/>
          </a:p>
        </p:txBody>
      </p:sp>
      <p:sp>
        <p:nvSpPr>
          <p:cNvPr id="21" name="Shape 15"/>
          <p:cNvSpPr/>
          <p:nvPr/>
        </p:nvSpPr>
        <p:spPr>
          <a:xfrm>
            <a:off x="658368" y="4818888"/>
            <a:ext cx="384048" cy="384048"/>
          </a:xfrm>
          <a:prstGeom prst="ellipse">
            <a:avLst/>
          </a:prstGeom>
          <a:solidFill>
            <a:schemeClr val="accent1"/>
          </a:solidFill>
          <a:ln w="19050">
            <a:solidFill>
              <a:schemeClr val="bg1"/>
            </a:solidFill>
            <a:prstDash val="solid"/>
          </a:ln>
        </p:spPr>
      </p:sp>
      <p:pic>
        <p:nvPicPr>
          <p:cNvPr id="22" name="Image 4" descr="preencoded.png">    </p:cNvPr>
          <p:cNvPicPr>
            <a:picLocks noChangeAspect="1"/>
          </p:cNvPicPr>
          <p:nvPr/>
        </p:nvPicPr>
        <p:blipFill>
          <a:blip r:embed="rId5"/>
          <a:stretch>
            <a:fillRect/>
          </a:stretch>
        </p:blipFill>
        <p:spPr>
          <a:xfrm>
            <a:off x="758952" y="4919472"/>
            <a:ext cx="182880" cy="182880"/>
          </a:xfrm>
          <a:prstGeom prst="rect">
            <a:avLst/>
          </a:prstGeom>
        </p:spPr>
      </p:pic>
      <p:sp>
        <p:nvSpPr>
          <p:cNvPr id="23" name="Text 16"/>
          <p:cNvSpPr txBox="1"/>
          <p:nvPr/>
        </p:nvSpPr>
        <p:spPr>
          <a:xfrm>
            <a:off x="1207008" y="4800600"/>
            <a:ext cx="4937760" cy="237744"/>
          </a:xfrm>
          <a:prstGeom prst="rect">
            <a:avLst/>
          </a:prstGeom>
          <a:noFill/>
          <a:ln/>
        </p:spPr>
        <p:txBody>
          <a:bodyPr wrap="square" lIns="0" tIns="0" rIns="0" bIns="0" rtlCol="0" anchor="ctr"/>
          <a:lstStyle/>
          <a:p>
            <a:pPr indent="0" marL="0">
              <a:buNone/>
            </a:pPr>
            <a:r>
              <a:rPr lang="en-US" sz="1250" b="1" dirty="0">
                <a:solidFill>
                  <a:schemeClr val="tx1"/>
                </a:solidFill>
              </a:rPr>
              <a:t>Decide in rupees</a:t>
            </a:r>
            <a:endParaRPr lang="en-US" sz="1250" dirty="0"/>
          </a:p>
        </p:txBody>
      </p:sp>
      <p:sp>
        <p:nvSpPr>
          <p:cNvPr id="24" name="Text 17"/>
          <p:cNvSpPr txBox="1"/>
          <p:nvPr/>
        </p:nvSpPr>
        <p:spPr>
          <a:xfrm>
            <a:off x="1207008" y="5047488"/>
            <a:ext cx="4983480" cy="420624"/>
          </a:xfrm>
          <a:prstGeom prst="rect">
            <a:avLst/>
          </a:prstGeom>
          <a:noFill/>
          <a:ln/>
        </p:spPr>
        <p:txBody>
          <a:bodyPr wrap="square" lIns="0" tIns="0" rIns="0" bIns="0" rtlCol="0" anchor="t"/>
          <a:lstStyle/>
          <a:p>
            <a:pPr indent="0" marL="0">
              <a:buNone/>
            </a:pPr>
            <a:r>
              <a:rPr lang="en-US" sz="1000" dirty="0">
                <a:solidFill>
                  <a:schemeClr val="accent4"/>
                </a:solidFill>
              </a:rPr>
              <a:t>Repairability score on the six factors used by India's Repairability Index, plus ₹ per extra month of life, fair-price band and quote check.</a:t>
            </a:r>
            <a:endParaRPr lang="en-US" sz="1000" dirty="0"/>
          </a:p>
        </p:txBody>
      </p:sp>
      <p:sp>
        <p:nvSpPr>
          <p:cNvPr id="25" name="Shape 18"/>
          <p:cNvSpPr/>
          <p:nvPr/>
        </p:nvSpPr>
        <p:spPr>
          <a:xfrm>
            <a:off x="658368" y="5532120"/>
            <a:ext cx="384048" cy="384048"/>
          </a:xfrm>
          <a:prstGeom prst="ellipse">
            <a:avLst/>
          </a:prstGeom>
          <a:solidFill>
            <a:schemeClr val="accent1"/>
          </a:solidFill>
          <a:ln w="19050">
            <a:solidFill>
              <a:schemeClr val="bg1"/>
            </a:solidFill>
            <a:prstDash val="solid"/>
          </a:ln>
        </p:spPr>
      </p:sp>
      <p:pic>
        <p:nvPicPr>
          <p:cNvPr id="26" name="Image 5" descr="preencoded.png">    </p:cNvPr>
          <p:cNvPicPr>
            <a:picLocks noChangeAspect="1"/>
          </p:cNvPicPr>
          <p:nvPr/>
        </p:nvPicPr>
        <p:blipFill>
          <a:blip r:embed="rId6"/>
          <a:stretch>
            <a:fillRect/>
          </a:stretch>
        </p:blipFill>
        <p:spPr>
          <a:xfrm>
            <a:off x="758952" y="5632704"/>
            <a:ext cx="182880" cy="182880"/>
          </a:xfrm>
          <a:prstGeom prst="rect">
            <a:avLst/>
          </a:prstGeom>
        </p:spPr>
      </p:pic>
      <p:sp>
        <p:nvSpPr>
          <p:cNvPr id="27" name="Text 19"/>
          <p:cNvSpPr txBox="1"/>
          <p:nvPr/>
        </p:nvSpPr>
        <p:spPr>
          <a:xfrm>
            <a:off x="1207008" y="5513832"/>
            <a:ext cx="4937760" cy="237744"/>
          </a:xfrm>
          <a:prstGeom prst="rect">
            <a:avLst/>
          </a:prstGeom>
          <a:noFill/>
          <a:ln/>
        </p:spPr>
        <p:txBody>
          <a:bodyPr wrap="square" lIns="0" tIns="0" rIns="0" bIns="0" rtlCol="0" anchor="ctr"/>
          <a:lstStyle/>
          <a:p>
            <a:pPr indent="0" marL="0">
              <a:buNone/>
            </a:pPr>
            <a:r>
              <a:rPr lang="en-US" sz="1250" b="1" dirty="0">
                <a:solidFill>
                  <a:schemeClr val="tx1"/>
                </a:solidFill>
              </a:rPr>
              <a:t>Track in a Repair Passport</a:t>
            </a:r>
            <a:endParaRPr lang="en-US" sz="1250" dirty="0"/>
          </a:p>
        </p:txBody>
      </p:sp>
      <p:sp>
        <p:nvSpPr>
          <p:cNvPr id="28" name="Text 20"/>
          <p:cNvSpPr txBox="1"/>
          <p:nvPr/>
        </p:nvSpPr>
        <p:spPr>
          <a:xfrm>
            <a:off x="1207008" y="5760720"/>
            <a:ext cx="4983480" cy="420624"/>
          </a:xfrm>
          <a:prstGeom prst="rect">
            <a:avLst/>
          </a:prstGeom>
          <a:noFill/>
          <a:ln/>
        </p:spPr>
        <p:txBody>
          <a:bodyPr wrap="square" lIns="0" tIns="0" rIns="0" bIns="0" rtlCol="0" anchor="t"/>
          <a:lstStyle/>
          <a:p>
            <a:pPr indent="0" marL="0">
              <a:buNone/>
            </a:pPr>
            <a:r>
              <a:rPr lang="en-US" sz="1000" dirty="0">
                <a:solidFill>
                  <a:schemeClr val="accent4"/>
                </a:solidFill>
              </a:rPr>
              <a:t>A shareable, tamper-evident device history (QR) for resale, warranty claims and the next diagnosis.</a:t>
            </a:r>
            <a:endParaRPr lang="en-US" sz="1000" dirty="0"/>
          </a:p>
        </p:txBody>
      </p:sp>
      <p:sp>
        <p:nvSpPr>
          <p:cNvPr id="29" name="Why different panel"/>
          <p:cNvSpPr/>
          <p:nvPr/>
        </p:nvSpPr>
        <p:spPr>
          <a:xfrm>
            <a:off x="6537960" y="2057400"/>
            <a:ext cx="5212080" cy="4261104"/>
          </a:xfrm>
          <a:prstGeom prst="roundRect">
            <a:avLst>
              <a:gd name="adj" fmla="val 1502"/>
            </a:avLst>
          </a:prstGeom>
          <a:solidFill>
            <a:schemeClr val="bg2"/>
          </a:solidFill>
          <a:ln w="9525">
            <a:solidFill>
              <a:schemeClr val="accent5"/>
            </a:solidFill>
            <a:prstDash val="solid"/>
          </a:ln>
        </p:spPr>
      </p:sp>
      <p:sp>
        <p:nvSpPr>
          <p:cNvPr id="30" name="Shape 22"/>
          <p:cNvSpPr/>
          <p:nvPr/>
        </p:nvSpPr>
        <p:spPr>
          <a:xfrm>
            <a:off x="6720840" y="2194560"/>
            <a:ext cx="365760" cy="365760"/>
          </a:xfrm>
          <a:prstGeom prst="roundRect">
            <a:avLst>
              <a:gd name="adj" fmla="val 20000"/>
            </a:avLst>
          </a:prstGeom>
          <a:solidFill>
            <a:schemeClr val="accent6"/>
          </a:solidFill>
          <a:ln w="12700">
            <a:solidFill>
              <a:schemeClr val="accent6"/>
            </a:solidFill>
            <a:prstDash val="solid"/>
          </a:ln>
        </p:spPr>
      </p:sp>
      <p:pic>
        <p:nvPicPr>
          <p:cNvPr id="31" name="Image 6" descr="preencoded.png">    </p:cNvPr>
          <p:cNvPicPr>
            <a:picLocks noChangeAspect="1"/>
          </p:cNvPicPr>
          <p:nvPr/>
        </p:nvPicPr>
        <p:blipFill>
          <a:blip r:embed="rId7"/>
          <a:stretch>
            <a:fillRect/>
          </a:stretch>
        </p:blipFill>
        <p:spPr>
          <a:xfrm>
            <a:off x="6803136" y="2276856"/>
            <a:ext cx="201168" cy="201168"/>
          </a:xfrm>
          <a:prstGeom prst="rect">
            <a:avLst/>
          </a:prstGeom>
        </p:spPr>
      </p:pic>
      <p:sp>
        <p:nvSpPr>
          <p:cNvPr id="32" name="Section: Why It&amp;apos;s Different"/>
          <p:cNvSpPr txBox="1"/>
          <p:nvPr/>
        </p:nvSpPr>
        <p:spPr>
          <a:xfrm>
            <a:off x="7196328" y="219456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Why It's Different</a:t>
            </a:r>
            <a:endParaRPr lang="en-US" sz="1800" dirty="0"/>
          </a:p>
        </p:txBody>
      </p:sp>
      <p:sp>
        <p:nvSpPr>
          <p:cNvPr id="33" name="Shape 24"/>
          <p:cNvSpPr/>
          <p:nvPr/>
        </p:nvSpPr>
        <p:spPr>
          <a:xfrm>
            <a:off x="11045952" y="2679192"/>
            <a:ext cx="594360" cy="2185416"/>
          </a:xfrm>
          <a:prstGeom prst="roundRect">
            <a:avLst>
              <a:gd name="adj" fmla="val 9231"/>
            </a:avLst>
          </a:prstGeom>
          <a:solidFill>
            <a:schemeClr val="accent6"/>
          </a:solidFill>
          <a:ln w="12700">
            <a:solidFill>
              <a:schemeClr val="accent6"/>
            </a:solidFill>
            <a:prstDash val="solid"/>
          </a:ln>
        </p:spPr>
      </p:sp>
      <p:sp>
        <p:nvSpPr>
          <p:cNvPr id="34" name="Text 25"/>
          <p:cNvSpPr txBox="1"/>
          <p:nvPr/>
        </p:nvSpPr>
        <p:spPr>
          <a:xfrm>
            <a:off x="8503920" y="2697480"/>
            <a:ext cx="630936" cy="420624"/>
          </a:xfrm>
          <a:prstGeom prst="rect">
            <a:avLst/>
          </a:prstGeom>
          <a:noFill/>
          <a:ln/>
        </p:spPr>
        <p:txBody>
          <a:bodyPr wrap="square" lIns="0" tIns="0" rIns="0" bIns="0" rtlCol="0" anchor="b"/>
          <a:lstStyle/>
          <a:p>
            <a:pPr algn="ctr" indent="0" marL="0">
              <a:buNone/>
            </a:pPr>
            <a:r>
              <a:rPr lang="en-US" sz="800" b="1" dirty="0">
                <a:solidFill>
                  <a:schemeClr val="tx1"/>
                </a:solidFill>
              </a:rPr>
              <a:t>AI</a:t>
            </a:r>
            <a:endParaRPr lang="en-US" sz="800" dirty="0"/>
          </a:p>
          <a:p>
            <a:pPr algn="ctr" indent="0" marL="0">
              <a:buNone/>
            </a:pPr>
            <a:r>
              <a:rPr lang="en-US" sz="800" b="1" dirty="0">
                <a:solidFill>
                  <a:schemeClr val="tx1"/>
                </a:solidFill>
              </a:rPr>
              <a:t>chatbots</a:t>
            </a:r>
            <a:endParaRPr lang="en-US" sz="800" dirty="0"/>
          </a:p>
        </p:txBody>
      </p:sp>
      <p:sp>
        <p:nvSpPr>
          <p:cNvPr id="35" name="Text 26"/>
          <p:cNvSpPr txBox="1"/>
          <p:nvPr/>
        </p:nvSpPr>
        <p:spPr>
          <a:xfrm>
            <a:off x="9134856" y="2697480"/>
            <a:ext cx="630936" cy="420624"/>
          </a:xfrm>
          <a:prstGeom prst="rect">
            <a:avLst/>
          </a:prstGeom>
          <a:noFill/>
          <a:ln/>
        </p:spPr>
        <p:txBody>
          <a:bodyPr wrap="square" lIns="0" tIns="0" rIns="0" bIns="0" rtlCol="0" anchor="b"/>
          <a:lstStyle/>
          <a:p>
            <a:pPr algn="ctr" indent="0" marL="0">
              <a:buNone/>
            </a:pPr>
            <a:r>
              <a:rPr lang="en-US" sz="800" b="1" dirty="0">
                <a:solidFill>
                  <a:schemeClr val="tx1"/>
                </a:solidFill>
              </a:rPr>
              <a:t>DIY repair</a:t>
            </a:r>
            <a:endParaRPr lang="en-US" sz="800" dirty="0"/>
          </a:p>
          <a:p>
            <a:pPr algn="ctr" indent="0" marL="0">
              <a:buNone/>
            </a:pPr>
            <a:r>
              <a:rPr lang="en-US" sz="800" b="1" dirty="0">
                <a:solidFill>
                  <a:schemeClr val="tx1"/>
                </a:solidFill>
              </a:rPr>
              <a:t>guides</a:t>
            </a:r>
            <a:endParaRPr lang="en-US" sz="800" dirty="0"/>
          </a:p>
        </p:txBody>
      </p:sp>
      <p:sp>
        <p:nvSpPr>
          <p:cNvPr id="36" name="Text 27"/>
          <p:cNvSpPr txBox="1"/>
          <p:nvPr/>
        </p:nvSpPr>
        <p:spPr>
          <a:xfrm>
            <a:off x="9765792" y="2697480"/>
            <a:ext cx="630936" cy="420624"/>
          </a:xfrm>
          <a:prstGeom prst="rect">
            <a:avLst/>
          </a:prstGeom>
          <a:noFill/>
          <a:ln/>
        </p:spPr>
        <p:txBody>
          <a:bodyPr wrap="square" lIns="0" tIns="0" rIns="0" bIns="0" rtlCol="0" anchor="b"/>
          <a:lstStyle/>
          <a:p>
            <a:pPr algn="ctr" indent="0" marL="0">
              <a:buNone/>
            </a:pPr>
            <a:r>
              <a:rPr lang="en-US" sz="800" b="1" dirty="0">
                <a:solidFill>
                  <a:schemeClr val="tx1"/>
                </a:solidFill>
              </a:rPr>
              <a:t>Repair /</a:t>
            </a:r>
            <a:endParaRPr lang="en-US" sz="800" dirty="0"/>
          </a:p>
          <a:p>
            <a:pPr algn="ctr" indent="0" marL="0">
              <a:buNone/>
            </a:pPr>
            <a:r>
              <a:rPr lang="en-US" sz="800" b="1" dirty="0">
                <a:solidFill>
                  <a:schemeClr val="tx1"/>
                </a:solidFill>
              </a:rPr>
              <a:t>trade-in apps</a:t>
            </a:r>
            <a:endParaRPr lang="en-US" sz="800" dirty="0"/>
          </a:p>
        </p:txBody>
      </p:sp>
      <p:sp>
        <p:nvSpPr>
          <p:cNvPr id="37" name="Text 28"/>
          <p:cNvSpPr txBox="1"/>
          <p:nvPr/>
        </p:nvSpPr>
        <p:spPr>
          <a:xfrm>
            <a:off x="10396728" y="2697480"/>
            <a:ext cx="630936" cy="420624"/>
          </a:xfrm>
          <a:prstGeom prst="rect">
            <a:avLst/>
          </a:prstGeom>
          <a:noFill/>
          <a:ln/>
        </p:spPr>
        <p:txBody>
          <a:bodyPr wrap="square" lIns="0" tIns="0" rIns="0" bIns="0" rtlCol="0" anchor="b"/>
          <a:lstStyle/>
          <a:p>
            <a:pPr algn="ctr" indent="0" marL="0">
              <a:buNone/>
            </a:pPr>
            <a:r>
              <a:rPr lang="en-US" sz="800" b="1" dirty="0">
                <a:solidFill>
                  <a:schemeClr val="tx1"/>
                </a:solidFill>
              </a:rPr>
              <a:t>OEM</a:t>
            </a:r>
            <a:endParaRPr lang="en-US" sz="800" dirty="0"/>
          </a:p>
          <a:p>
            <a:pPr algn="ctr" indent="0" marL="0">
              <a:buNone/>
            </a:pPr>
            <a:r>
              <a:rPr lang="en-US" sz="800" b="1" dirty="0">
                <a:solidFill>
                  <a:schemeClr val="tx1"/>
                </a:solidFill>
              </a:rPr>
              <a:t>apps</a:t>
            </a:r>
            <a:endParaRPr lang="en-US" sz="800" dirty="0"/>
          </a:p>
        </p:txBody>
      </p:sp>
      <p:sp>
        <p:nvSpPr>
          <p:cNvPr id="38" name="Text 29"/>
          <p:cNvSpPr txBox="1"/>
          <p:nvPr/>
        </p:nvSpPr>
        <p:spPr>
          <a:xfrm>
            <a:off x="11027664" y="2697480"/>
            <a:ext cx="630936" cy="420624"/>
          </a:xfrm>
          <a:prstGeom prst="rect">
            <a:avLst/>
          </a:prstGeom>
          <a:noFill/>
          <a:ln/>
        </p:spPr>
        <p:txBody>
          <a:bodyPr wrap="square" lIns="0" tIns="0" rIns="0" bIns="0" rtlCol="0" anchor="b"/>
          <a:lstStyle/>
          <a:p>
            <a:pPr algn="ctr" indent="0" marL="0">
              <a:buNone/>
            </a:pPr>
            <a:r>
              <a:rPr lang="en-US" sz="800" b="1" dirty="0">
                <a:solidFill>
                  <a:schemeClr val="accent1"/>
                </a:solidFill>
              </a:rPr>
              <a:t>RepairOS</a:t>
            </a:r>
            <a:endParaRPr lang="en-US" sz="800" dirty="0"/>
          </a:p>
        </p:txBody>
      </p:sp>
      <p:sp>
        <p:nvSpPr>
          <p:cNvPr id="39" name="Shape 30"/>
          <p:cNvSpPr/>
          <p:nvPr/>
        </p:nvSpPr>
        <p:spPr>
          <a:xfrm>
            <a:off x="6720840" y="3154680"/>
            <a:ext cx="4892040" cy="0"/>
          </a:xfrm>
          <a:prstGeom prst="line">
            <a:avLst/>
          </a:prstGeom>
          <a:noFill/>
          <a:ln w="9525">
            <a:solidFill>
              <a:schemeClr val="accent5"/>
            </a:solidFill>
            <a:prstDash val="solid"/>
          </a:ln>
        </p:spPr>
      </p:sp>
      <p:sp>
        <p:nvSpPr>
          <p:cNvPr id="40" name="Text 31"/>
          <p:cNvSpPr txBox="1"/>
          <p:nvPr/>
        </p:nvSpPr>
        <p:spPr>
          <a:xfrm>
            <a:off x="6720840" y="3154680"/>
            <a:ext cx="1783080" cy="338328"/>
          </a:xfrm>
          <a:prstGeom prst="rect">
            <a:avLst/>
          </a:prstGeom>
          <a:noFill/>
          <a:ln/>
        </p:spPr>
        <p:txBody>
          <a:bodyPr wrap="square" lIns="0" tIns="0" rIns="0" bIns="0" rtlCol="0" anchor="ctr"/>
          <a:lstStyle/>
          <a:p>
            <a:pPr indent="0" marL="0">
              <a:buNone/>
            </a:pPr>
            <a:r>
              <a:rPr lang="en-US" sz="950" dirty="0">
                <a:solidFill>
                  <a:schemeClr val="tx1"/>
                </a:solidFill>
              </a:rPr>
              <a:t>Evidence from the device itself</a:t>
            </a:r>
            <a:endParaRPr lang="en-US" sz="950" dirty="0"/>
          </a:p>
        </p:txBody>
      </p:sp>
      <p:pic>
        <p:nvPicPr>
          <p:cNvPr id="41" name="Image 7" descr="preencoded.png">    </p:cNvPr>
          <p:cNvPicPr>
            <a:picLocks noChangeAspect="1"/>
          </p:cNvPicPr>
          <p:nvPr/>
        </p:nvPicPr>
        <p:blipFill>
          <a:blip r:embed="rId8"/>
          <a:stretch>
            <a:fillRect/>
          </a:stretch>
        </p:blipFill>
        <p:spPr>
          <a:xfrm>
            <a:off x="8737092" y="3241548"/>
            <a:ext cx="164592" cy="164592"/>
          </a:xfrm>
          <a:prstGeom prst="rect">
            <a:avLst/>
          </a:prstGeom>
        </p:spPr>
      </p:pic>
      <p:pic>
        <p:nvPicPr>
          <p:cNvPr id="42" name="Image 8" descr="preencoded.png">    </p:cNvPr>
          <p:cNvPicPr>
            <a:picLocks noChangeAspect="1"/>
          </p:cNvPicPr>
          <p:nvPr/>
        </p:nvPicPr>
        <p:blipFill>
          <a:blip r:embed="rId9"/>
          <a:stretch>
            <a:fillRect/>
          </a:stretch>
        </p:blipFill>
        <p:spPr>
          <a:xfrm>
            <a:off x="9368028" y="3241548"/>
            <a:ext cx="164592" cy="164592"/>
          </a:xfrm>
          <a:prstGeom prst="rect">
            <a:avLst/>
          </a:prstGeom>
        </p:spPr>
      </p:pic>
      <p:pic>
        <p:nvPicPr>
          <p:cNvPr id="43" name="Image 9" descr="preencoded.png">    </p:cNvPr>
          <p:cNvPicPr>
            <a:picLocks noChangeAspect="1"/>
          </p:cNvPicPr>
          <p:nvPr/>
        </p:nvPicPr>
        <p:blipFill>
          <a:blip r:embed="rId10"/>
          <a:stretch>
            <a:fillRect/>
          </a:stretch>
        </p:blipFill>
        <p:spPr>
          <a:xfrm>
            <a:off x="9998964" y="3241548"/>
            <a:ext cx="164592" cy="164592"/>
          </a:xfrm>
          <a:prstGeom prst="rect">
            <a:avLst/>
          </a:prstGeom>
        </p:spPr>
      </p:pic>
      <p:pic>
        <p:nvPicPr>
          <p:cNvPr id="44" name="Image 10" descr="preencoded.png">    </p:cNvPr>
          <p:cNvPicPr>
            <a:picLocks noChangeAspect="1"/>
          </p:cNvPicPr>
          <p:nvPr/>
        </p:nvPicPr>
        <p:blipFill>
          <a:blip r:embed="rId11"/>
          <a:stretch>
            <a:fillRect/>
          </a:stretch>
        </p:blipFill>
        <p:spPr>
          <a:xfrm>
            <a:off x="10629900" y="3241548"/>
            <a:ext cx="164592" cy="164592"/>
          </a:xfrm>
          <a:prstGeom prst="rect">
            <a:avLst/>
          </a:prstGeom>
        </p:spPr>
      </p:pic>
      <p:pic>
        <p:nvPicPr>
          <p:cNvPr id="45" name="Image 11" descr="preencoded.png">    </p:cNvPr>
          <p:cNvPicPr>
            <a:picLocks noChangeAspect="1"/>
          </p:cNvPicPr>
          <p:nvPr/>
        </p:nvPicPr>
        <p:blipFill>
          <a:blip r:embed="rId12"/>
          <a:stretch>
            <a:fillRect/>
          </a:stretch>
        </p:blipFill>
        <p:spPr>
          <a:xfrm>
            <a:off x="11260836" y="3241548"/>
            <a:ext cx="164592" cy="164592"/>
          </a:xfrm>
          <a:prstGeom prst="rect">
            <a:avLst/>
          </a:prstGeom>
        </p:spPr>
      </p:pic>
      <p:sp>
        <p:nvSpPr>
          <p:cNvPr id="46" name="Shape 32"/>
          <p:cNvSpPr/>
          <p:nvPr/>
        </p:nvSpPr>
        <p:spPr>
          <a:xfrm>
            <a:off x="6720840" y="3493008"/>
            <a:ext cx="4892040" cy="0"/>
          </a:xfrm>
          <a:prstGeom prst="line">
            <a:avLst/>
          </a:prstGeom>
          <a:noFill/>
          <a:ln w="9525">
            <a:solidFill>
              <a:schemeClr val="accent5"/>
            </a:solidFill>
            <a:prstDash val="solid"/>
          </a:ln>
        </p:spPr>
      </p:sp>
      <p:sp>
        <p:nvSpPr>
          <p:cNvPr id="47" name="Text 33"/>
          <p:cNvSpPr txBox="1"/>
          <p:nvPr/>
        </p:nvSpPr>
        <p:spPr>
          <a:xfrm>
            <a:off x="6720840" y="3493008"/>
            <a:ext cx="1783080" cy="338328"/>
          </a:xfrm>
          <a:prstGeom prst="rect">
            <a:avLst/>
          </a:prstGeom>
          <a:noFill/>
          <a:ln/>
        </p:spPr>
        <p:txBody>
          <a:bodyPr wrap="square" lIns="0" tIns="0" rIns="0" bIns="0" rtlCol="0" anchor="ctr"/>
          <a:lstStyle/>
          <a:p>
            <a:pPr indent="0" marL="0">
              <a:buNone/>
            </a:pPr>
            <a:r>
              <a:rPr lang="en-US" sz="950" dirty="0">
                <a:solidFill>
                  <a:schemeClr val="tx1"/>
                </a:solidFill>
              </a:rPr>
              <a:t>Ranked diagnosis + confidence</a:t>
            </a:r>
            <a:endParaRPr lang="en-US" sz="950" dirty="0"/>
          </a:p>
        </p:txBody>
      </p:sp>
      <p:pic>
        <p:nvPicPr>
          <p:cNvPr id="48" name="Image 12" descr="preencoded.png">    </p:cNvPr>
          <p:cNvPicPr>
            <a:picLocks noChangeAspect="1"/>
          </p:cNvPicPr>
          <p:nvPr/>
        </p:nvPicPr>
        <p:blipFill>
          <a:blip r:embed="rId13"/>
          <a:stretch>
            <a:fillRect/>
          </a:stretch>
        </p:blipFill>
        <p:spPr>
          <a:xfrm>
            <a:off x="8737092" y="3579876"/>
            <a:ext cx="164592" cy="164592"/>
          </a:xfrm>
          <a:prstGeom prst="rect">
            <a:avLst/>
          </a:prstGeom>
        </p:spPr>
      </p:pic>
      <p:pic>
        <p:nvPicPr>
          <p:cNvPr id="49" name="Image 13" descr="preencoded.png">    </p:cNvPr>
          <p:cNvPicPr>
            <a:picLocks noChangeAspect="1"/>
          </p:cNvPicPr>
          <p:nvPr/>
        </p:nvPicPr>
        <p:blipFill>
          <a:blip r:embed="rId14"/>
          <a:stretch>
            <a:fillRect/>
          </a:stretch>
        </p:blipFill>
        <p:spPr>
          <a:xfrm>
            <a:off x="9368028" y="3579876"/>
            <a:ext cx="164592" cy="164592"/>
          </a:xfrm>
          <a:prstGeom prst="rect">
            <a:avLst/>
          </a:prstGeom>
        </p:spPr>
      </p:pic>
      <p:pic>
        <p:nvPicPr>
          <p:cNvPr id="50" name="Image 14" descr="preencoded.png">    </p:cNvPr>
          <p:cNvPicPr>
            <a:picLocks noChangeAspect="1"/>
          </p:cNvPicPr>
          <p:nvPr/>
        </p:nvPicPr>
        <p:blipFill>
          <a:blip r:embed="rId15"/>
          <a:stretch>
            <a:fillRect/>
          </a:stretch>
        </p:blipFill>
        <p:spPr>
          <a:xfrm>
            <a:off x="9998964" y="3579876"/>
            <a:ext cx="164592" cy="164592"/>
          </a:xfrm>
          <a:prstGeom prst="rect">
            <a:avLst/>
          </a:prstGeom>
        </p:spPr>
      </p:pic>
      <p:pic>
        <p:nvPicPr>
          <p:cNvPr id="51" name="Image 15" descr="preencoded.png">    </p:cNvPr>
          <p:cNvPicPr>
            <a:picLocks noChangeAspect="1"/>
          </p:cNvPicPr>
          <p:nvPr/>
        </p:nvPicPr>
        <p:blipFill>
          <a:blip r:embed="rId16"/>
          <a:stretch>
            <a:fillRect/>
          </a:stretch>
        </p:blipFill>
        <p:spPr>
          <a:xfrm>
            <a:off x="10629900" y="3579876"/>
            <a:ext cx="164592" cy="164592"/>
          </a:xfrm>
          <a:prstGeom prst="rect">
            <a:avLst/>
          </a:prstGeom>
        </p:spPr>
      </p:pic>
      <p:pic>
        <p:nvPicPr>
          <p:cNvPr id="52" name="Image 16" descr="preencoded.png">    </p:cNvPr>
          <p:cNvPicPr>
            <a:picLocks noChangeAspect="1"/>
          </p:cNvPicPr>
          <p:nvPr/>
        </p:nvPicPr>
        <p:blipFill>
          <a:blip r:embed="rId17"/>
          <a:stretch>
            <a:fillRect/>
          </a:stretch>
        </p:blipFill>
        <p:spPr>
          <a:xfrm>
            <a:off x="11260836" y="3579876"/>
            <a:ext cx="164592" cy="164592"/>
          </a:xfrm>
          <a:prstGeom prst="rect">
            <a:avLst/>
          </a:prstGeom>
        </p:spPr>
      </p:pic>
      <p:sp>
        <p:nvSpPr>
          <p:cNvPr id="53" name="Shape 34"/>
          <p:cNvSpPr/>
          <p:nvPr/>
        </p:nvSpPr>
        <p:spPr>
          <a:xfrm>
            <a:off x="6720840" y="3831336"/>
            <a:ext cx="4892040" cy="0"/>
          </a:xfrm>
          <a:prstGeom prst="line">
            <a:avLst/>
          </a:prstGeom>
          <a:noFill/>
          <a:ln w="9525">
            <a:solidFill>
              <a:schemeClr val="accent5"/>
            </a:solidFill>
            <a:prstDash val="solid"/>
          </a:ln>
        </p:spPr>
      </p:sp>
      <p:sp>
        <p:nvSpPr>
          <p:cNvPr id="54" name="Text 35"/>
          <p:cNvSpPr txBox="1"/>
          <p:nvPr/>
        </p:nvSpPr>
        <p:spPr>
          <a:xfrm>
            <a:off x="6720840" y="3831336"/>
            <a:ext cx="1783080" cy="338328"/>
          </a:xfrm>
          <a:prstGeom prst="rect">
            <a:avLst/>
          </a:prstGeom>
          <a:noFill/>
          <a:ln/>
        </p:spPr>
        <p:txBody>
          <a:bodyPr wrap="square" lIns="0" tIns="0" rIns="0" bIns="0" rtlCol="0" anchor="ctr"/>
          <a:lstStyle/>
          <a:p>
            <a:pPr indent="0" marL="0">
              <a:buNone/>
            </a:pPr>
            <a:r>
              <a:rPr lang="en-US" sz="950" dirty="0">
                <a:solidFill>
                  <a:schemeClr val="tx1"/>
                </a:solidFill>
              </a:rPr>
              <a:t>Repair-vs-replace economics (₹)</a:t>
            </a:r>
            <a:endParaRPr lang="en-US" sz="950" dirty="0"/>
          </a:p>
        </p:txBody>
      </p:sp>
      <p:pic>
        <p:nvPicPr>
          <p:cNvPr id="55" name="Image 17" descr="preencoded.png">    </p:cNvPr>
          <p:cNvPicPr>
            <a:picLocks noChangeAspect="1"/>
          </p:cNvPicPr>
          <p:nvPr/>
        </p:nvPicPr>
        <p:blipFill>
          <a:blip r:embed="rId18"/>
          <a:stretch>
            <a:fillRect/>
          </a:stretch>
        </p:blipFill>
        <p:spPr>
          <a:xfrm>
            <a:off x="8737092" y="3918204"/>
            <a:ext cx="164592" cy="164592"/>
          </a:xfrm>
          <a:prstGeom prst="rect">
            <a:avLst/>
          </a:prstGeom>
        </p:spPr>
      </p:pic>
      <p:pic>
        <p:nvPicPr>
          <p:cNvPr id="56" name="Image 18" descr="preencoded.png">    </p:cNvPr>
          <p:cNvPicPr>
            <a:picLocks noChangeAspect="1"/>
          </p:cNvPicPr>
          <p:nvPr/>
        </p:nvPicPr>
        <p:blipFill>
          <a:blip r:embed="rId19"/>
          <a:stretch>
            <a:fillRect/>
          </a:stretch>
        </p:blipFill>
        <p:spPr>
          <a:xfrm>
            <a:off x="9368028" y="3918204"/>
            <a:ext cx="164592" cy="164592"/>
          </a:xfrm>
          <a:prstGeom prst="rect">
            <a:avLst/>
          </a:prstGeom>
        </p:spPr>
      </p:pic>
      <p:pic>
        <p:nvPicPr>
          <p:cNvPr id="57" name="Image 19" descr="preencoded.png">    </p:cNvPr>
          <p:cNvPicPr>
            <a:picLocks noChangeAspect="1"/>
          </p:cNvPicPr>
          <p:nvPr/>
        </p:nvPicPr>
        <p:blipFill>
          <a:blip r:embed="rId20"/>
          <a:stretch>
            <a:fillRect/>
          </a:stretch>
        </p:blipFill>
        <p:spPr>
          <a:xfrm>
            <a:off x="9998964" y="3918204"/>
            <a:ext cx="164592" cy="164592"/>
          </a:xfrm>
          <a:prstGeom prst="rect">
            <a:avLst/>
          </a:prstGeom>
        </p:spPr>
      </p:pic>
      <p:pic>
        <p:nvPicPr>
          <p:cNvPr id="58" name="Image 20" descr="preencoded.png">    </p:cNvPr>
          <p:cNvPicPr>
            <a:picLocks noChangeAspect="1"/>
          </p:cNvPicPr>
          <p:nvPr/>
        </p:nvPicPr>
        <p:blipFill>
          <a:blip r:embed="rId21"/>
          <a:stretch>
            <a:fillRect/>
          </a:stretch>
        </p:blipFill>
        <p:spPr>
          <a:xfrm>
            <a:off x="10629900" y="3918204"/>
            <a:ext cx="164592" cy="164592"/>
          </a:xfrm>
          <a:prstGeom prst="rect">
            <a:avLst/>
          </a:prstGeom>
        </p:spPr>
      </p:pic>
      <p:pic>
        <p:nvPicPr>
          <p:cNvPr id="59" name="Image 21" descr="preencoded.png">    </p:cNvPr>
          <p:cNvPicPr>
            <a:picLocks noChangeAspect="1"/>
          </p:cNvPicPr>
          <p:nvPr/>
        </p:nvPicPr>
        <p:blipFill>
          <a:blip r:embed="rId22"/>
          <a:stretch>
            <a:fillRect/>
          </a:stretch>
        </p:blipFill>
        <p:spPr>
          <a:xfrm>
            <a:off x="11260836" y="3918204"/>
            <a:ext cx="164592" cy="164592"/>
          </a:xfrm>
          <a:prstGeom prst="rect">
            <a:avLst/>
          </a:prstGeom>
        </p:spPr>
      </p:pic>
      <p:sp>
        <p:nvSpPr>
          <p:cNvPr id="60" name="Shape 36"/>
          <p:cNvSpPr/>
          <p:nvPr/>
        </p:nvSpPr>
        <p:spPr>
          <a:xfrm>
            <a:off x="6720840" y="4169664"/>
            <a:ext cx="4892040" cy="0"/>
          </a:xfrm>
          <a:prstGeom prst="line">
            <a:avLst/>
          </a:prstGeom>
          <a:noFill/>
          <a:ln w="9525">
            <a:solidFill>
              <a:schemeClr val="accent5"/>
            </a:solidFill>
            <a:prstDash val="solid"/>
          </a:ln>
        </p:spPr>
      </p:sp>
      <p:sp>
        <p:nvSpPr>
          <p:cNvPr id="61" name="Text 37"/>
          <p:cNvSpPr txBox="1"/>
          <p:nvPr/>
        </p:nvSpPr>
        <p:spPr>
          <a:xfrm>
            <a:off x="6720840" y="4169664"/>
            <a:ext cx="1783080" cy="338328"/>
          </a:xfrm>
          <a:prstGeom prst="rect">
            <a:avLst/>
          </a:prstGeom>
          <a:noFill/>
          <a:ln/>
        </p:spPr>
        <p:txBody>
          <a:bodyPr wrap="square" lIns="0" tIns="0" rIns="0" bIns="0" rtlCol="0" anchor="ctr"/>
          <a:lstStyle/>
          <a:p>
            <a:pPr indent="0" marL="0">
              <a:buNone/>
            </a:pPr>
            <a:r>
              <a:rPr lang="en-US" sz="950" dirty="0">
                <a:solidFill>
                  <a:schemeClr val="tx1"/>
                </a:solidFill>
              </a:rPr>
              <a:t>Outcome-neutral advice</a:t>
            </a:r>
            <a:endParaRPr lang="en-US" sz="950" dirty="0"/>
          </a:p>
        </p:txBody>
      </p:sp>
      <p:pic>
        <p:nvPicPr>
          <p:cNvPr id="62" name="Image 22" descr="preencoded.png">    </p:cNvPr>
          <p:cNvPicPr>
            <a:picLocks noChangeAspect="1"/>
          </p:cNvPicPr>
          <p:nvPr/>
        </p:nvPicPr>
        <p:blipFill>
          <a:blip r:embed="rId23"/>
          <a:stretch>
            <a:fillRect/>
          </a:stretch>
        </p:blipFill>
        <p:spPr>
          <a:xfrm>
            <a:off x="8737092" y="4256532"/>
            <a:ext cx="164592" cy="164592"/>
          </a:xfrm>
          <a:prstGeom prst="rect">
            <a:avLst/>
          </a:prstGeom>
        </p:spPr>
      </p:pic>
      <p:pic>
        <p:nvPicPr>
          <p:cNvPr id="63" name="Image 23" descr="preencoded.png">    </p:cNvPr>
          <p:cNvPicPr>
            <a:picLocks noChangeAspect="1"/>
          </p:cNvPicPr>
          <p:nvPr/>
        </p:nvPicPr>
        <p:blipFill>
          <a:blip r:embed="rId24"/>
          <a:stretch>
            <a:fillRect/>
          </a:stretch>
        </p:blipFill>
        <p:spPr>
          <a:xfrm>
            <a:off x="9368028" y="4256532"/>
            <a:ext cx="164592" cy="164592"/>
          </a:xfrm>
          <a:prstGeom prst="rect">
            <a:avLst/>
          </a:prstGeom>
        </p:spPr>
      </p:pic>
      <p:pic>
        <p:nvPicPr>
          <p:cNvPr id="64" name="Image 24" descr="preencoded.png">    </p:cNvPr>
          <p:cNvPicPr>
            <a:picLocks noChangeAspect="1"/>
          </p:cNvPicPr>
          <p:nvPr/>
        </p:nvPicPr>
        <p:blipFill>
          <a:blip r:embed="rId25"/>
          <a:stretch>
            <a:fillRect/>
          </a:stretch>
        </p:blipFill>
        <p:spPr>
          <a:xfrm>
            <a:off x="9998964" y="4256532"/>
            <a:ext cx="164592" cy="164592"/>
          </a:xfrm>
          <a:prstGeom prst="rect">
            <a:avLst/>
          </a:prstGeom>
        </p:spPr>
      </p:pic>
      <p:pic>
        <p:nvPicPr>
          <p:cNvPr id="65" name="Image 25" descr="preencoded.png">    </p:cNvPr>
          <p:cNvPicPr>
            <a:picLocks noChangeAspect="1"/>
          </p:cNvPicPr>
          <p:nvPr/>
        </p:nvPicPr>
        <p:blipFill>
          <a:blip r:embed="rId26"/>
          <a:stretch>
            <a:fillRect/>
          </a:stretch>
        </p:blipFill>
        <p:spPr>
          <a:xfrm>
            <a:off x="10629900" y="4256532"/>
            <a:ext cx="164592" cy="164592"/>
          </a:xfrm>
          <a:prstGeom prst="rect">
            <a:avLst/>
          </a:prstGeom>
        </p:spPr>
      </p:pic>
      <p:pic>
        <p:nvPicPr>
          <p:cNvPr id="66" name="Image 26" descr="preencoded.png">    </p:cNvPr>
          <p:cNvPicPr>
            <a:picLocks noChangeAspect="1"/>
          </p:cNvPicPr>
          <p:nvPr/>
        </p:nvPicPr>
        <p:blipFill>
          <a:blip r:embed="rId27"/>
          <a:stretch>
            <a:fillRect/>
          </a:stretch>
        </p:blipFill>
        <p:spPr>
          <a:xfrm>
            <a:off x="11260836" y="4256532"/>
            <a:ext cx="164592" cy="164592"/>
          </a:xfrm>
          <a:prstGeom prst="rect">
            <a:avLst/>
          </a:prstGeom>
        </p:spPr>
      </p:pic>
      <p:sp>
        <p:nvSpPr>
          <p:cNvPr id="67" name="Shape 38"/>
          <p:cNvSpPr/>
          <p:nvPr/>
        </p:nvSpPr>
        <p:spPr>
          <a:xfrm>
            <a:off x="6720840" y="4507992"/>
            <a:ext cx="4892040" cy="0"/>
          </a:xfrm>
          <a:prstGeom prst="line">
            <a:avLst/>
          </a:prstGeom>
          <a:noFill/>
          <a:ln w="9525">
            <a:solidFill>
              <a:schemeClr val="accent5"/>
            </a:solidFill>
            <a:prstDash val="solid"/>
          </a:ln>
        </p:spPr>
      </p:sp>
      <p:sp>
        <p:nvSpPr>
          <p:cNvPr id="68" name="Text 39"/>
          <p:cNvSpPr txBox="1"/>
          <p:nvPr/>
        </p:nvSpPr>
        <p:spPr>
          <a:xfrm>
            <a:off x="6720840" y="4507992"/>
            <a:ext cx="1783080" cy="338328"/>
          </a:xfrm>
          <a:prstGeom prst="rect">
            <a:avLst/>
          </a:prstGeom>
          <a:noFill/>
          <a:ln/>
        </p:spPr>
        <p:txBody>
          <a:bodyPr wrap="square" lIns="0" tIns="0" rIns="0" bIns="0" rtlCol="0" anchor="ctr"/>
          <a:lstStyle/>
          <a:p>
            <a:pPr indent="0" marL="0">
              <a:buNone/>
            </a:pPr>
            <a:r>
              <a:rPr lang="en-US" sz="950" dirty="0">
                <a:solidFill>
                  <a:schemeClr val="tx1"/>
                </a:solidFill>
              </a:rPr>
              <a:t>Persistent device history</a:t>
            </a:r>
            <a:endParaRPr lang="en-US" sz="950" dirty="0"/>
          </a:p>
        </p:txBody>
      </p:sp>
      <p:pic>
        <p:nvPicPr>
          <p:cNvPr id="69" name="Image 27" descr="preencoded.png">    </p:cNvPr>
          <p:cNvPicPr>
            <a:picLocks noChangeAspect="1"/>
          </p:cNvPicPr>
          <p:nvPr/>
        </p:nvPicPr>
        <p:blipFill>
          <a:blip r:embed="rId28"/>
          <a:stretch>
            <a:fillRect/>
          </a:stretch>
        </p:blipFill>
        <p:spPr>
          <a:xfrm>
            <a:off x="8737092" y="4594860"/>
            <a:ext cx="164592" cy="164592"/>
          </a:xfrm>
          <a:prstGeom prst="rect">
            <a:avLst/>
          </a:prstGeom>
        </p:spPr>
      </p:pic>
      <p:pic>
        <p:nvPicPr>
          <p:cNvPr id="70" name="Image 28" descr="preencoded.png">    </p:cNvPr>
          <p:cNvPicPr>
            <a:picLocks noChangeAspect="1"/>
          </p:cNvPicPr>
          <p:nvPr/>
        </p:nvPicPr>
        <p:blipFill>
          <a:blip r:embed="rId29"/>
          <a:stretch>
            <a:fillRect/>
          </a:stretch>
        </p:blipFill>
        <p:spPr>
          <a:xfrm>
            <a:off x="9368028" y="4594860"/>
            <a:ext cx="164592" cy="164592"/>
          </a:xfrm>
          <a:prstGeom prst="rect">
            <a:avLst/>
          </a:prstGeom>
        </p:spPr>
      </p:pic>
      <p:pic>
        <p:nvPicPr>
          <p:cNvPr id="71" name="Image 29" descr="preencoded.png">    </p:cNvPr>
          <p:cNvPicPr>
            <a:picLocks noChangeAspect="1"/>
          </p:cNvPicPr>
          <p:nvPr/>
        </p:nvPicPr>
        <p:blipFill>
          <a:blip r:embed="rId30"/>
          <a:stretch>
            <a:fillRect/>
          </a:stretch>
        </p:blipFill>
        <p:spPr>
          <a:xfrm>
            <a:off x="9998964" y="4594860"/>
            <a:ext cx="164592" cy="164592"/>
          </a:xfrm>
          <a:prstGeom prst="rect">
            <a:avLst/>
          </a:prstGeom>
        </p:spPr>
      </p:pic>
      <p:pic>
        <p:nvPicPr>
          <p:cNvPr id="72" name="Image 30" descr="preencoded.png">    </p:cNvPr>
          <p:cNvPicPr>
            <a:picLocks noChangeAspect="1"/>
          </p:cNvPicPr>
          <p:nvPr/>
        </p:nvPicPr>
        <p:blipFill>
          <a:blip r:embed="rId31"/>
          <a:stretch>
            <a:fillRect/>
          </a:stretch>
        </p:blipFill>
        <p:spPr>
          <a:xfrm>
            <a:off x="10629900" y="4594860"/>
            <a:ext cx="164592" cy="164592"/>
          </a:xfrm>
          <a:prstGeom prst="rect">
            <a:avLst/>
          </a:prstGeom>
        </p:spPr>
      </p:pic>
      <p:pic>
        <p:nvPicPr>
          <p:cNvPr id="73" name="Image 31" descr="preencoded.png">    </p:cNvPr>
          <p:cNvPicPr>
            <a:picLocks noChangeAspect="1"/>
          </p:cNvPicPr>
          <p:nvPr/>
        </p:nvPicPr>
        <p:blipFill>
          <a:blip r:embed="rId32"/>
          <a:stretch>
            <a:fillRect/>
          </a:stretch>
        </p:blipFill>
        <p:spPr>
          <a:xfrm>
            <a:off x="11260836" y="4594860"/>
            <a:ext cx="164592" cy="164592"/>
          </a:xfrm>
          <a:prstGeom prst="rect">
            <a:avLst/>
          </a:prstGeom>
        </p:spPr>
      </p:pic>
      <p:pic>
        <p:nvPicPr>
          <p:cNvPr id="74" name="Image 32" descr="preencoded.png">    </p:cNvPr>
          <p:cNvPicPr>
            <a:picLocks noChangeAspect="1"/>
          </p:cNvPicPr>
          <p:nvPr/>
        </p:nvPicPr>
        <p:blipFill>
          <a:blip r:embed="rId33"/>
          <a:stretch>
            <a:fillRect/>
          </a:stretch>
        </p:blipFill>
        <p:spPr>
          <a:xfrm>
            <a:off x="6720840" y="4946904"/>
            <a:ext cx="118872" cy="118872"/>
          </a:xfrm>
          <a:prstGeom prst="rect">
            <a:avLst/>
          </a:prstGeom>
        </p:spPr>
      </p:pic>
      <p:sp>
        <p:nvSpPr>
          <p:cNvPr id="75" name="Text 40"/>
          <p:cNvSpPr txBox="1"/>
          <p:nvPr/>
        </p:nvSpPr>
        <p:spPr>
          <a:xfrm>
            <a:off x="6885432" y="4901184"/>
            <a:ext cx="594360" cy="210312"/>
          </a:xfrm>
          <a:prstGeom prst="rect">
            <a:avLst/>
          </a:prstGeom>
          <a:noFill/>
          <a:ln/>
        </p:spPr>
        <p:txBody>
          <a:bodyPr wrap="square" lIns="0" tIns="0" rIns="0" bIns="0" rtlCol="0" anchor="ctr"/>
          <a:lstStyle/>
          <a:p>
            <a:pPr indent="0" marL="0">
              <a:buNone/>
            </a:pPr>
            <a:r>
              <a:rPr lang="en-US" sz="850" dirty="0">
                <a:solidFill>
                  <a:schemeClr val="accent4"/>
                </a:solidFill>
              </a:rPr>
              <a:t>Full</a:t>
            </a:r>
            <a:endParaRPr lang="en-US" sz="850" dirty="0"/>
          </a:p>
        </p:txBody>
      </p:sp>
      <p:pic>
        <p:nvPicPr>
          <p:cNvPr id="76" name="Image 33" descr="preencoded.png">    </p:cNvPr>
          <p:cNvPicPr>
            <a:picLocks noChangeAspect="1"/>
          </p:cNvPicPr>
          <p:nvPr/>
        </p:nvPicPr>
        <p:blipFill>
          <a:blip r:embed="rId34"/>
          <a:stretch>
            <a:fillRect/>
          </a:stretch>
        </p:blipFill>
        <p:spPr>
          <a:xfrm>
            <a:off x="7498080" y="4946904"/>
            <a:ext cx="118872" cy="118872"/>
          </a:xfrm>
          <a:prstGeom prst="rect">
            <a:avLst/>
          </a:prstGeom>
        </p:spPr>
      </p:pic>
      <p:sp>
        <p:nvSpPr>
          <p:cNvPr id="77" name="Text 41"/>
          <p:cNvSpPr txBox="1"/>
          <p:nvPr/>
        </p:nvSpPr>
        <p:spPr>
          <a:xfrm>
            <a:off x="7662672" y="4901184"/>
            <a:ext cx="594360" cy="210312"/>
          </a:xfrm>
          <a:prstGeom prst="rect">
            <a:avLst/>
          </a:prstGeom>
          <a:noFill/>
          <a:ln/>
        </p:spPr>
        <p:txBody>
          <a:bodyPr wrap="square" lIns="0" tIns="0" rIns="0" bIns="0" rtlCol="0" anchor="ctr"/>
          <a:lstStyle/>
          <a:p>
            <a:pPr indent="0" marL="0">
              <a:buNone/>
            </a:pPr>
            <a:r>
              <a:rPr lang="en-US" sz="850" dirty="0">
                <a:solidFill>
                  <a:schemeClr val="accent4"/>
                </a:solidFill>
              </a:rPr>
              <a:t>Partial</a:t>
            </a:r>
            <a:endParaRPr lang="en-US" sz="850" dirty="0"/>
          </a:p>
        </p:txBody>
      </p:sp>
      <p:pic>
        <p:nvPicPr>
          <p:cNvPr id="78" name="Image 34" descr="preencoded.png">    </p:cNvPr>
          <p:cNvPicPr>
            <a:picLocks noChangeAspect="1"/>
          </p:cNvPicPr>
          <p:nvPr/>
        </p:nvPicPr>
        <p:blipFill>
          <a:blip r:embed="rId35"/>
          <a:stretch>
            <a:fillRect/>
          </a:stretch>
        </p:blipFill>
        <p:spPr>
          <a:xfrm>
            <a:off x="8275320" y="4946904"/>
            <a:ext cx="118872" cy="118872"/>
          </a:xfrm>
          <a:prstGeom prst="rect">
            <a:avLst/>
          </a:prstGeom>
        </p:spPr>
      </p:pic>
      <p:sp>
        <p:nvSpPr>
          <p:cNvPr id="79" name="Text 42"/>
          <p:cNvSpPr txBox="1"/>
          <p:nvPr/>
        </p:nvSpPr>
        <p:spPr>
          <a:xfrm>
            <a:off x="8439912" y="4901184"/>
            <a:ext cx="594360" cy="210312"/>
          </a:xfrm>
          <a:prstGeom prst="rect">
            <a:avLst/>
          </a:prstGeom>
          <a:noFill/>
          <a:ln/>
        </p:spPr>
        <p:txBody>
          <a:bodyPr wrap="square" lIns="0" tIns="0" rIns="0" bIns="0" rtlCol="0" anchor="ctr"/>
          <a:lstStyle/>
          <a:p>
            <a:pPr indent="0" marL="0">
              <a:buNone/>
            </a:pPr>
            <a:r>
              <a:rPr lang="en-US" sz="850" dirty="0">
                <a:solidFill>
                  <a:schemeClr val="accent4"/>
                </a:solidFill>
              </a:rPr>
              <a:t>None</a:t>
            </a:r>
            <a:endParaRPr lang="en-US" sz="850" dirty="0"/>
          </a:p>
        </p:txBody>
      </p:sp>
      <p:sp>
        <p:nvSpPr>
          <p:cNvPr id="80" name="Novelty card"/>
          <p:cNvSpPr/>
          <p:nvPr/>
        </p:nvSpPr>
        <p:spPr>
          <a:xfrm>
            <a:off x="6720840" y="5138928"/>
            <a:ext cx="4846320" cy="1069848"/>
          </a:xfrm>
          <a:prstGeom prst="roundRect">
            <a:avLst>
              <a:gd name="adj" fmla="val 5128"/>
            </a:avLst>
          </a:prstGeom>
          <a:solidFill>
            <a:schemeClr val="tx2"/>
          </a:solidFill>
          <a:ln w="12700">
            <a:solidFill>
              <a:schemeClr val="tx2"/>
            </a:solidFill>
            <a:prstDash val="solid"/>
          </a:ln>
        </p:spPr>
      </p:sp>
      <p:sp>
        <p:nvSpPr>
          <p:cNvPr id="81" name="Text 44"/>
          <p:cNvSpPr txBox="1"/>
          <p:nvPr/>
        </p:nvSpPr>
        <p:spPr>
          <a:xfrm>
            <a:off x="6876288" y="5212080"/>
            <a:ext cx="4572000" cy="932688"/>
          </a:xfrm>
          <a:prstGeom prst="rect">
            <a:avLst/>
          </a:prstGeom>
          <a:noFill/>
          <a:ln/>
        </p:spPr>
        <p:txBody>
          <a:bodyPr wrap="square" lIns="0" tIns="0" rIns="0" bIns="0" rtlCol="0" anchor="ctr"/>
          <a:lstStyle/>
          <a:p>
            <a:pPr indent="0" marL="0">
              <a:spcAft>
                <a:spcPts val="300"/>
              </a:spcAft>
              <a:buNone/>
            </a:pPr>
            <a:r>
              <a:rPr lang="en-US" sz="850" b="1" spc="100" kern="0" dirty="0">
                <a:solidFill>
                  <a:srgbClr val="F29AAA"/>
                </a:solidFill>
              </a:rPr>
              <a:t>NOVELTY FACTOR</a:t>
            </a:r>
            <a:endParaRPr lang="en-US" sz="1050" dirty="0"/>
          </a:p>
          <a:p>
            <a:pPr indent="0" marL="0">
              <a:spcAft>
                <a:spcPts val="300"/>
              </a:spcAft>
              <a:buNone/>
            </a:pPr>
            <a:r>
              <a:rPr lang="en-US" sz="1050" b="1" dirty="0">
                <a:solidFill>
                  <a:schemeClr val="bg1"/>
                </a:solidFill>
              </a:rPr>
              <a:t>Evidence-first: </a:t>
            </a:r>
            <a:pPr indent="0" marL="0">
              <a:spcAft>
                <a:spcPts val="300"/>
              </a:spcAft>
              <a:buNone/>
            </a:pPr>
            <a:r>
              <a:rPr lang="en-US" sz="1050" dirty="0">
                <a:solidFill>
                  <a:schemeClr val="bg1"/>
                </a:solidFill>
              </a:rPr>
              <a:t>reads the device's own health data, not just the user's words.</a:t>
            </a:r>
            <a:endParaRPr lang="en-US" sz="1050" dirty="0"/>
          </a:p>
          <a:p>
            <a:pPr indent="0" marL="0">
              <a:spcAft>
                <a:spcPts val="300"/>
              </a:spcAft>
              <a:buNone/>
            </a:pPr>
            <a:r>
              <a:rPr lang="en-US" sz="1050" b="1" dirty="0">
                <a:solidFill>
                  <a:schemeClr val="bg1"/>
                </a:solidFill>
              </a:rPr>
              <a:t>Decision-first: </a:t>
            </a:r>
            <a:pPr indent="0" marL="0">
              <a:spcAft>
                <a:spcPts val="300"/>
              </a:spcAft>
              <a:buNone/>
            </a:pPr>
            <a:r>
              <a:rPr lang="en-US" sz="1050" dirty="0">
                <a:solidFill>
                  <a:schemeClr val="bg1"/>
                </a:solidFill>
              </a:rPr>
              <a:t>answers “what should I do?” in rupees and months — then remembers it.</a:t>
            </a:r>
            <a:endParaRPr lang="en-US" sz="1050" dirty="0"/>
          </a:p>
        </p:txBody>
      </p:sp>
      <p:sp>
        <p:nvSpPr>
          <p:cNvPr id="82" name="Sources"/>
          <p:cNvSpPr txBox="1"/>
          <p:nvPr/>
        </p:nvSpPr>
        <p:spPr>
          <a:xfrm>
            <a:off x="457200" y="6391656"/>
            <a:ext cx="11292840" cy="384048"/>
          </a:xfrm>
          <a:prstGeom prst="rect">
            <a:avLst/>
          </a:prstGeom>
          <a:noFill/>
          <a:ln/>
        </p:spPr>
        <p:txBody>
          <a:bodyPr wrap="square" lIns="0" tIns="0" rIns="0" bIns="0" rtlCol="0" anchor="t"/>
          <a:lstStyle/>
          <a:p>
            <a:pPr indent="0" marL="0">
              <a:buNone/>
            </a:pPr>
            <a:r>
              <a:rPr lang="en-US" sz="900" dirty="0">
                <a:solidFill>
                  <a:schemeClr val="accent4"/>
                </a:solidFill>
              </a:rPr>
              <a:t>Comparison uses representative products and their publicly documented features: AI chatbots (ChatGPT, Gemini), DIY guides (iFixit), repair/trade-in apps (Cashify), OEM diagnostics (Samsung Members).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2514600" y="146304"/>
            <a:ext cx="7086600" cy="987552"/>
          </a:xfrm>
          <a:prstGeom prst="rect">
            <a:avLst/>
          </a:prstGeom>
          <a:noFill/>
          <a:ln/>
        </p:spPr>
        <p:txBody>
          <a:bodyPr wrap="square" lIns="0" tIns="0" rIns="0" bIns="0" rtlCol="0" anchor="ctr"/>
          <a:lstStyle/>
          <a:p>
            <a:pPr algn="ctr" indent="0" marL="0">
              <a:buNone/>
            </a:pPr>
            <a:r>
              <a:rPr lang="en-US" sz="2700" b="1" dirty="0">
                <a:solidFill>
                  <a:schemeClr val="tx1"/>
                </a:solidFill>
                <a:latin typeface="Georgia" pitchFamily="34" charset="0"/>
                <a:ea typeface="Georgia" pitchFamily="34" charset="-122"/>
                <a:cs typeface="Georgia" pitchFamily="34" charset="-120"/>
              </a:rPr>
              <a:t>TECH STACK + ARCHITECTURE</a:t>
            </a:r>
            <a:endParaRPr lang="en-US" sz="2700" dirty="0"/>
          </a:p>
        </p:txBody>
      </p:sp>
      <p:sp>
        <p:nvSpPr>
          <p:cNvPr id="3" name="Key message"/>
          <p:cNvSpPr txBox="1"/>
          <p:nvPr/>
        </p:nvSpPr>
        <p:spPr>
          <a:xfrm>
            <a:off x="2743200" y="1005840"/>
            <a:ext cx="9006840" cy="704088"/>
          </a:xfrm>
          <a:prstGeom prst="rect">
            <a:avLst/>
          </a:prstGeom>
          <a:noFill/>
          <a:ln/>
        </p:spPr>
        <p:txBody>
          <a:bodyPr wrap="square" lIns="0" tIns="0" rIns="0" bIns="0" rtlCol="0" anchor="ctr"/>
          <a:lstStyle/>
          <a:p>
            <a:pPr indent="0" marL="0">
              <a:buNone/>
            </a:pPr>
            <a:r>
              <a:rPr lang="en-US" sz="1500" dirty="0">
                <a:solidFill>
                  <a:schemeClr val="tx1"/>
                </a:solidFill>
              </a:rPr>
              <a:t>Language models read the messy input; </a:t>
            </a:r>
            <a:pPr indent="0" marL="0">
              <a:buNone/>
            </a:pPr>
            <a:r>
              <a:rPr lang="en-US" sz="1500" b="1" dirty="0">
                <a:solidFill>
                  <a:schemeClr val="accent1"/>
                </a:solidFill>
              </a:rPr>
              <a:t>a deterministic, auditable engine makes the call.</a:t>
            </a:r>
            <a:endParaRPr lang="en-US" sz="1500" dirty="0"/>
          </a:p>
        </p:txBody>
      </p:sp>
      <p:sp>
        <p:nvSpPr>
          <p:cNvPr id="4" name="Tech stack panel"/>
          <p:cNvSpPr/>
          <p:nvPr/>
        </p:nvSpPr>
        <p:spPr>
          <a:xfrm>
            <a:off x="457200" y="2057400"/>
            <a:ext cx="3520440" cy="4261104"/>
          </a:xfrm>
          <a:prstGeom prst="roundRect">
            <a:avLst>
              <a:gd name="adj" fmla="val 1818"/>
            </a:avLst>
          </a:prstGeom>
          <a:solidFill>
            <a:schemeClr val="bg2"/>
          </a:solidFill>
          <a:ln w="9525">
            <a:solidFill>
              <a:schemeClr val="accent5"/>
            </a:solidFill>
            <a:prstDash val="solid"/>
          </a:ln>
        </p:spPr>
      </p:sp>
      <p:sp>
        <p:nvSpPr>
          <p:cNvPr id="5" name="Shape 3"/>
          <p:cNvSpPr/>
          <p:nvPr/>
        </p:nvSpPr>
        <p:spPr>
          <a:xfrm>
            <a:off x="640080" y="2194560"/>
            <a:ext cx="365760" cy="365760"/>
          </a:xfrm>
          <a:prstGeom prst="roundRect">
            <a:avLst>
              <a:gd name="adj" fmla="val 20000"/>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22376" y="2276856"/>
            <a:ext cx="201168" cy="201168"/>
          </a:xfrm>
          <a:prstGeom prst="rect">
            <a:avLst/>
          </a:prstGeom>
        </p:spPr>
      </p:pic>
      <p:sp>
        <p:nvSpPr>
          <p:cNvPr id="7" name="Section: Tech Stack"/>
          <p:cNvSpPr txBox="1"/>
          <p:nvPr/>
        </p:nvSpPr>
        <p:spPr>
          <a:xfrm>
            <a:off x="1115568" y="21945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Tech Stack</a:t>
            </a:r>
            <a:endParaRPr lang="en-US" sz="1800" dirty="0"/>
          </a:p>
        </p:txBody>
      </p:sp>
      <p:sp>
        <p:nvSpPr>
          <p:cNvPr id="8" name="Tech stack list"/>
          <p:cNvSpPr txBox="1"/>
          <p:nvPr/>
        </p:nvSpPr>
        <p:spPr>
          <a:xfrm>
            <a:off x="640080" y="2697480"/>
            <a:ext cx="3200400" cy="3520440"/>
          </a:xfrm>
          <a:prstGeom prst="rect">
            <a:avLst/>
          </a:prstGeom>
          <a:noFill/>
          <a:ln/>
        </p:spPr>
        <p:txBody>
          <a:bodyPr wrap="square" lIns="0" tIns="0" rIns="0" bIns="0" rtlCol="0" anchor="t"/>
          <a:lstStyle/>
          <a:p>
            <a:pPr indent="0" marL="0">
              <a:buNone/>
            </a:pPr>
            <a:r>
              <a:rPr lang="en-US" sz="850" b="1" spc="100" kern="0" dirty="0">
                <a:solidFill>
                  <a:schemeClr val="accent1"/>
                </a:solidFill>
              </a:rPr>
              <a:t>FRONTEND</a:t>
            </a:r>
            <a:endParaRPr lang="en-US" sz="850" dirty="0"/>
          </a:p>
          <a:p>
            <a:pPr indent="0" marL="0">
              <a:buNone/>
            </a:pPr>
            <a:r>
              <a:rPr lang="en-US" sz="1000" dirty="0">
                <a:solidFill>
                  <a:schemeClr val="tx1"/>
                </a:solidFill>
              </a:rPr>
              <a:t>Next.js 14 · React · TypeScript · Tailwind · PWA with Web APIs for self-tests</a:t>
            </a:r>
            <a:endParaRPr lang="en-US" sz="850" dirty="0"/>
          </a:p>
          <a:p>
            <a:pPr indent="0" marL="0">
              <a:spcBef>
                <a:spcPts val="700"/>
              </a:spcBef>
              <a:buNone/>
            </a:pPr>
            <a:r>
              <a:rPr lang="en-US" sz="850" b="1" spc="100" kern="0" dirty="0">
                <a:solidFill>
                  <a:schemeClr val="accent1"/>
                </a:solidFill>
              </a:rPr>
              <a:t>BACKEND</a:t>
            </a:r>
            <a:endParaRPr lang="en-US" sz="850" dirty="0"/>
          </a:p>
          <a:p>
            <a:pPr indent="0" marL="0">
              <a:buNone/>
            </a:pPr>
            <a:r>
              <a:rPr lang="en-US" sz="1000" dirty="0">
                <a:solidFill>
                  <a:schemeClr val="tx1"/>
                </a:solidFill>
              </a:rPr>
              <a:t>Python · FastAPI · Pydantic JSON contracts</a:t>
            </a:r>
            <a:endParaRPr lang="en-US" sz="850" dirty="0"/>
          </a:p>
          <a:p>
            <a:pPr indent="0" marL="0">
              <a:spcBef>
                <a:spcPts val="700"/>
              </a:spcBef>
              <a:buNone/>
            </a:pPr>
            <a:r>
              <a:rPr lang="en-US" sz="850" b="1" spc="100" kern="0" dirty="0">
                <a:solidFill>
                  <a:schemeClr val="accent1"/>
                </a:solidFill>
              </a:rPr>
              <a:t>DIAGNOSTIC ENGINE</a:t>
            </a:r>
            <a:endParaRPr lang="en-US" sz="850" dirty="0"/>
          </a:p>
          <a:p>
            <a:pPr indent="0" marL="0">
              <a:buNone/>
            </a:pPr>
            <a:r>
              <a:rPr lang="en-US" sz="1000" dirty="0">
                <a:solidFill>
                  <a:schemeClr val="tx1"/>
                </a:solidFill>
              </a:rPr>
              <a:t>Bayesian fault model (NumPy) · YAML rule graph · info-gain question picker</a:t>
            </a:r>
            <a:endParaRPr lang="en-US" sz="850" dirty="0"/>
          </a:p>
          <a:p>
            <a:pPr indent="0" marL="0">
              <a:spcBef>
                <a:spcPts val="700"/>
              </a:spcBef>
              <a:buNone/>
            </a:pPr>
            <a:r>
              <a:rPr lang="en-US" sz="850" b="1" spc="100" kern="0" dirty="0">
                <a:solidFill>
                  <a:schemeClr val="accent1"/>
                </a:solidFill>
              </a:rPr>
              <a:t>AI SERVICES</a:t>
            </a:r>
            <a:endParaRPr lang="en-US" sz="850" dirty="0"/>
          </a:p>
          <a:p>
            <a:pPr indent="0" marL="0">
              <a:buNone/>
            </a:pPr>
            <a:r>
              <a:rPr lang="en-US" sz="1000" dirty="0">
                <a:solidFill>
                  <a:schemeClr val="tx1"/>
                </a:solidFill>
              </a:rPr>
              <a:t>LLM API in JSON-schema mode · vision model · Tesseract OCR</a:t>
            </a:r>
            <a:endParaRPr lang="en-US" sz="850" dirty="0"/>
          </a:p>
          <a:p>
            <a:pPr indent="0" marL="0">
              <a:spcBef>
                <a:spcPts val="700"/>
              </a:spcBef>
              <a:buNone/>
            </a:pPr>
            <a:r>
              <a:rPr lang="en-US" sz="850" b="1" spc="100" kern="0" dirty="0">
                <a:solidFill>
                  <a:schemeClr val="accent1"/>
                </a:solidFill>
              </a:rPr>
              <a:t>DATA</a:t>
            </a:r>
            <a:endParaRPr lang="en-US" sz="850" dirty="0"/>
          </a:p>
          <a:p>
            <a:pPr indent="0" marL="0">
              <a:buNone/>
            </a:pPr>
            <a:r>
              <a:rPr lang="en-US" sz="1000" dirty="0">
                <a:solidFill>
                  <a:schemeClr val="tx1"/>
                </a:solidFill>
              </a:rPr>
              <a:t>Supabase: PostgreSQL, Auth, Storage · pgvector for RAG</a:t>
            </a:r>
            <a:endParaRPr lang="en-US" sz="850" dirty="0"/>
          </a:p>
          <a:p>
            <a:pPr indent="0" marL="0">
              <a:spcBef>
                <a:spcPts val="700"/>
              </a:spcBef>
              <a:buNone/>
            </a:pPr>
            <a:r>
              <a:rPr lang="en-US" sz="850" b="1" spc="100" kern="0" dirty="0">
                <a:solidFill>
                  <a:schemeClr val="accent1"/>
                </a:solidFill>
              </a:rPr>
              <a:t>OUTPUT</a:t>
            </a:r>
            <a:endParaRPr lang="en-US" sz="850" dirty="0"/>
          </a:p>
          <a:p>
            <a:pPr indent="0" marL="0">
              <a:buNone/>
            </a:pPr>
            <a:r>
              <a:rPr lang="en-US" sz="1000" dirty="0">
                <a:solidFill>
                  <a:schemeClr val="tx1"/>
                </a:solidFill>
              </a:rPr>
              <a:t>WeasyPrint PDF · QR share links · SHA-256 hash-chained Passport</a:t>
            </a:r>
            <a:endParaRPr lang="en-US" sz="850" dirty="0"/>
          </a:p>
          <a:p>
            <a:pPr indent="0" marL="0">
              <a:spcBef>
                <a:spcPts val="700"/>
              </a:spcBef>
              <a:buNone/>
            </a:pPr>
            <a:r>
              <a:rPr lang="en-US" sz="850" b="1" spc="100" kern="0" dirty="0">
                <a:solidFill>
                  <a:schemeClr val="accent1"/>
                </a:solidFill>
              </a:rPr>
              <a:t>DEPLOY</a:t>
            </a:r>
            <a:endParaRPr lang="en-US" sz="850" dirty="0"/>
          </a:p>
          <a:p>
            <a:pPr indent="0" marL="0">
              <a:buNone/>
            </a:pPr>
            <a:r>
              <a:rPr lang="en-US" sz="1000" dirty="0">
                <a:solidFill>
                  <a:schemeClr val="tx1"/>
                </a:solidFill>
              </a:rPr>
              <a:t>Vercel · Render · GitHub Actions CI</a:t>
            </a:r>
            <a:endParaRPr lang="en-US" sz="850" dirty="0"/>
          </a:p>
        </p:txBody>
      </p:sp>
      <p:sp>
        <p:nvSpPr>
          <p:cNvPr id="9" name="Architecture panel"/>
          <p:cNvSpPr/>
          <p:nvPr/>
        </p:nvSpPr>
        <p:spPr>
          <a:xfrm>
            <a:off x="4206240" y="2057400"/>
            <a:ext cx="7543800" cy="4261104"/>
          </a:xfrm>
          <a:prstGeom prst="roundRect">
            <a:avLst>
              <a:gd name="adj" fmla="val 1502"/>
            </a:avLst>
          </a:prstGeom>
          <a:solidFill>
            <a:schemeClr val="bg2"/>
          </a:solidFill>
          <a:ln w="9525">
            <a:solidFill>
              <a:schemeClr val="accent5"/>
            </a:solidFill>
            <a:prstDash val="solid"/>
          </a:ln>
        </p:spPr>
      </p:sp>
      <p:sp>
        <p:nvSpPr>
          <p:cNvPr id="10" name="Shape 7"/>
          <p:cNvSpPr/>
          <p:nvPr/>
        </p:nvSpPr>
        <p:spPr>
          <a:xfrm>
            <a:off x="4389120" y="2194560"/>
            <a:ext cx="365760" cy="365760"/>
          </a:xfrm>
          <a:prstGeom prst="roundRect">
            <a:avLst>
              <a:gd name="adj" fmla="val 20000"/>
            </a:avLst>
          </a:prstGeom>
          <a:solidFill>
            <a:schemeClr val="accent6"/>
          </a:solidFill>
          <a:ln w="12700">
            <a:solidFill>
              <a:schemeClr val="accent6"/>
            </a:solidFill>
            <a:prstDash val="solid"/>
          </a:ln>
        </p:spPr>
      </p:sp>
      <p:pic>
        <p:nvPicPr>
          <p:cNvPr id="11" name="Image 1" descr="preencoded.png">    </p:cNvPr>
          <p:cNvPicPr>
            <a:picLocks noChangeAspect="1"/>
          </p:cNvPicPr>
          <p:nvPr/>
        </p:nvPicPr>
        <p:blipFill>
          <a:blip r:embed="rId2"/>
          <a:stretch>
            <a:fillRect/>
          </a:stretch>
        </p:blipFill>
        <p:spPr>
          <a:xfrm>
            <a:off x="4471416" y="2276856"/>
            <a:ext cx="201168" cy="201168"/>
          </a:xfrm>
          <a:prstGeom prst="rect">
            <a:avLst/>
          </a:prstGeom>
        </p:spPr>
      </p:pic>
      <p:sp>
        <p:nvSpPr>
          <p:cNvPr id="12" name="Section: Architecture"/>
          <p:cNvSpPr txBox="1"/>
          <p:nvPr/>
        </p:nvSpPr>
        <p:spPr>
          <a:xfrm>
            <a:off x="4864608" y="21945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Architecture</a:t>
            </a:r>
            <a:endParaRPr lang="en-US" sz="1800" dirty="0"/>
          </a:p>
        </p:txBody>
      </p:sp>
      <p:sp>
        <p:nvSpPr>
          <p:cNvPr id="13" name="Shape 9"/>
          <p:cNvSpPr/>
          <p:nvPr/>
        </p:nvSpPr>
        <p:spPr>
          <a:xfrm>
            <a:off x="4389120" y="2651760"/>
            <a:ext cx="3246120" cy="548640"/>
          </a:xfrm>
          <a:prstGeom prst="roundRect">
            <a:avLst>
              <a:gd name="adj" fmla="val 10000"/>
            </a:avLst>
          </a:prstGeom>
          <a:solidFill>
            <a:schemeClr val="bg1"/>
          </a:solidFill>
          <a:ln w="11430">
            <a:solidFill>
              <a:schemeClr val="accent5"/>
            </a:solidFill>
            <a:prstDash val="solid"/>
          </a:ln>
        </p:spPr>
      </p:sp>
      <p:sp>
        <p:nvSpPr>
          <p:cNvPr id="14" name="Text 10"/>
          <p:cNvSpPr txBox="1"/>
          <p:nvPr/>
        </p:nvSpPr>
        <p:spPr>
          <a:xfrm>
            <a:off x="4480560" y="2688336"/>
            <a:ext cx="3063240" cy="475488"/>
          </a:xfrm>
          <a:prstGeom prst="rect">
            <a:avLst/>
          </a:prstGeom>
          <a:noFill/>
          <a:ln/>
        </p:spPr>
        <p:txBody>
          <a:bodyPr wrap="square" lIns="0" tIns="0" rIns="0" bIns="0" rtlCol="0" anchor="ctr"/>
          <a:lstStyle/>
          <a:p>
            <a:pPr indent="0" marL="0">
              <a:buNone/>
            </a:pPr>
            <a:r>
              <a:rPr lang="en-US" sz="1000" b="1" dirty="0">
                <a:solidFill>
                  <a:schemeClr val="tx1"/>
                </a:solidFill>
              </a:rPr>
              <a:t>Client · Next.js PWA</a:t>
            </a:r>
            <a:endParaRPr lang="en-US" sz="1000" dirty="0"/>
          </a:p>
          <a:p>
            <a:pPr indent="0" marL="0">
              <a:buNone/>
            </a:pPr>
            <a:r>
              <a:rPr lang="en-US" sz="850" dirty="0">
                <a:solidFill>
                  <a:schemeClr val="accent4"/>
                </a:solidFill>
              </a:rPr>
              <a:t>Guided intake · self-tests · uploads · Passport viewer</a:t>
            </a:r>
            <a:endParaRPr lang="en-US" sz="1000" dirty="0"/>
          </a:p>
        </p:txBody>
      </p:sp>
      <p:sp>
        <p:nvSpPr>
          <p:cNvPr id="15" name="Shape 11"/>
          <p:cNvSpPr/>
          <p:nvPr/>
        </p:nvSpPr>
        <p:spPr>
          <a:xfrm>
            <a:off x="8183880" y="2651760"/>
            <a:ext cx="3383280" cy="548640"/>
          </a:xfrm>
          <a:prstGeom prst="roundRect">
            <a:avLst>
              <a:gd name="adj" fmla="val 10000"/>
            </a:avLst>
          </a:prstGeom>
          <a:solidFill>
            <a:schemeClr val="bg1"/>
          </a:solidFill>
          <a:ln w="11430">
            <a:solidFill>
              <a:schemeClr val="accent5"/>
            </a:solidFill>
            <a:prstDash val="solid"/>
          </a:ln>
        </p:spPr>
      </p:sp>
      <p:sp>
        <p:nvSpPr>
          <p:cNvPr id="16" name="Text 12"/>
          <p:cNvSpPr txBox="1"/>
          <p:nvPr/>
        </p:nvSpPr>
        <p:spPr>
          <a:xfrm>
            <a:off x="8275320" y="2688336"/>
            <a:ext cx="3200400" cy="475488"/>
          </a:xfrm>
          <a:prstGeom prst="rect">
            <a:avLst/>
          </a:prstGeom>
          <a:noFill/>
          <a:ln/>
        </p:spPr>
        <p:txBody>
          <a:bodyPr wrap="square" lIns="0" tIns="0" rIns="0" bIns="0" rtlCol="0" anchor="ctr"/>
          <a:lstStyle/>
          <a:p>
            <a:pPr indent="0" marL="0">
              <a:buNone/>
            </a:pPr>
            <a:r>
              <a:rPr lang="en-US" sz="1000" b="1" dirty="0">
                <a:solidFill>
                  <a:schemeClr val="tx1"/>
                </a:solidFill>
              </a:rPr>
              <a:t>API · FastAPI orchestrator</a:t>
            </a:r>
            <a:endParaRPr lang="en-US" sz="1000" dirty="0"/>
          </a:p>
          <a:p>
            <a:pPr indent="0" marL="0">
              <a:buNone/>
            </a:pPr>
            <a:r>
              <a:rPr lang="en-US" sz="850" dirty="0">
                <a:solidFill>
                  <a:schemeClr val="accent4"/>
                </a:solidFill>
              </a:rPr>
              <a:t>Sessions · auth · schema-validated JSON contracts</a:t>
            </a:r>
            <a:endParaRPr lang="en-US" sz="1000" dirty="0"/>
          </a:p>
        </p:txBody>
      </p:sp>
      <p:sp>
        <p:nvSpPr>
          <p:cNvPr id="17" name="Shape 13"/>
          <p:cNvSpPr/>
          <p:nvPr/>
        </p:nvSpPr>
        <p:spPr>
          <a:xfrm>
            <a:off x="7662672" y="2926080"/>
            <a:ext cx="493776" cy="0"/>
          </a:xfrm>
          <a:prstGeom prst="line">
            <a:avLst/>
          </a:prstGeom>
          <a:noFill/>
          <a:ln w="15875">
            <a:solidFill>
              <a:schemeClr val="accent4"/>
            </a:solidFill>
            <a:prstDash val="solid"/>
            <a:headEnd type="triangle"/>
            <a:tailEnd type="triangle"/>
          </a:ln>
        </p:spPr>
      </p:sp>
      <p:sp>
        <p:nvSpPr>
          <p:cNvPr id="18" name="Shape 14"/>
          <p:cNvSpPr/>
          <p:nvPr/>
        </p:nvSpPr>
        <p:spPr>
          <a:xfrm>
            <a:off x="9875520" y="3200400"/>
            <a:ext cx="0" cy="182880"/>
          </a:xfrm>
          <a:prstGeom prst="line">
            <a:avLst/>
          </a:prstGeom>
          <a:noFill/>
          <a:ln w="15875">
            <a:solidFill>
              <a:schemeClr val="accent4"/>
            </a:solidFill>
            <a:prstDash val="solid"/>
            <a:tailEnd type="triangle"/>
          </a:ln>
        </p:spPr>
      </p:sp>
      <p:sp>
        <p:nvSpPr>
          <p:cNvPr id="19" name="Core"/>
          <p:cNvSpPr/>
          <p:nvPr/>
        </p:nvSpPr>
        <p:spPr>
          <a:xfrm>
            <a:off x="4389120" y="3401568"/>
            <a:ext cx="7178040" cy="1298448"/>
          </a:xfrm>
          <a:prstGeom prst="roundRect">
            <a:avLst>
              <a:gd name="adj" fmla="val 4225"/>
            </a:avLst>
          </a:prstGeom>
          <a:solidFill>
            <a:schemeClr val="accent6"/>
          </a:solidFill>
          <a:ln w="11430">
            <a:solidFill>
              <a:srgbClr val="F1C4CC"/>
            </a:solidFill>
            <a:prstDash val="solid"/>
          </a:ln>
        </p:spPr>
      </p:sp>
      <p:sp>
        <p:nvSpPr>
          <p:cNvPr id="20" name="Text 16"/>
          <p:cNvSpPr txBox="1"/>
          <p:nvPr/>
        </p:nvSpPr>
        <p:spPr>
          <a:xfrm>
            <a:off x="4526280" y="3438144"/>
            <a:ext cx="6858000" cy="201168"/>
          </a:xfrm>
          <a:prstGeom prst="rect">
            <a:avLst/>
          </a:prstGeom>
          <a:noFill/>
          <a:ln/>
        </p:spPr>
        <p:txBody>
          <a:bodyPr wrap="square" lIns="0" tIns="0" rIns="0" bIns="0" rtlCol="0" anchor="ctr"/>
          <a:lstStyle/>
          <a:p>
            <a:pPr indent="0" marL="0">
              <a:buNone/>
            </a:pPr>
            <a:r>
              <a:rPr lang="en-US" sz="850" b="1" spc="100" kern="0" dirty="0">
                <a:solidFill>
                  <a:schemeClr val="accent1"/>
                </a:solidFill>
              </a:rPr>
              <a:t>REPAIROS CORE — every verdict is traceable to its evidence</a:t>
            </a:r>
            <a:endParaRPr lang="en-US" sz="850" dirty="0"/>
          </a:p>
        </p:txBody>
      </p:sp>
      <p:sp>
        <p:nvSpPr>
          <p:cNvPr id="21" name="Shape 17"/>
          <p:cNvSpPr/>
          <p:nvPr/>
        </p:nvSpPr>
        <p:spPr>
          <a:xfrm>
            <a:off x="4480560" y="3675888"/>
            <a:ext cx="1289304" cy="914400"/>
          </a:xfrm>
          <a:prstGeom prst="roundRect">
            <a:avLst>
              <a:gd name="adj" fmla="val 5000"/>
            </a:avLst>
          </a:prstGeom>
          <a:solidFill>
            <a:schemeClr val="bg1"/>
          </a:solidFill>
          <a:ln w="9525">
            <a:solidFill>
              <a:schemeClr val="accent5"/>
            </a:solidFill>
            <a:prstDash val="solid"/>
          </a:ln>
        </p:spPr>
      </p:sp>
      <p:sp>
        <p:nvSpPr>
          <p:cNvPr id="22" name="Shape 18"/>
          <p:cNvSpPr/>
          <p:nvPr/>
        </p:nvSpPr>
        <p:spPr>
          <a:xfrm>
            <a:off x="4553712" y="3758184"/>
            <a:ext cx="219456" cy="219456"/>
          </a:xfrm>
          <a:prstGeom prst="ellipse">
            <a:avLst/>
          </a:prstGeom>
          <a:solidFill>
            <a:schemeClr val="accent1"/>
          </a:solidFill>
          <a:ln w="12700">
            <a:solidFill>
              <a:schemeClr val="accent1"/>
            </a:solidFill>
            <a:prstDash val="solid"/>
          </a:ln>
        </p:spPr>
      </p:sp>
      <p:sp>
        <p:nvSpPr>
          <p:cNvPr id="23" name="Text 19"/>
          <p:cNvSpPr txBox="1"/>
          <p:nvPr/>
        </p:nvSpPr>
        <p:spPr>
          <a:xfrm>
            <a:off x="4553712" y="3758184"/>
            <a:ext cx="219456" cy="219456"/>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24" name="Text 20"/>
          <p:cNvSpPr txBox="1"/>
          <p:nvPr/>
        </p:nvSpPr>
        <p:spPr>
          <a:xfrm>
            <a:off x="4818888" y="3721608"/>
            <a:ext cx="905256" cy="310896"/>
          </a:xfrm>
          <a:prstGeom prst="rect">
            <a:avLst/>
          </a:prstGeom>
          <a:noFill/>
          <a:ln/>
        </p:spPr>
        <p:txBody>
          <a:bodyPr wrap="square" lIns="0" tIns="0" rIns="0" bIns="0" rtlCol="0" anchor="ctr"/>
          <a:lstStyle/>
          <a:p>
            <a:pPr indent="0" marL="0">
              <a:buNone/>
            </a:pPr>
            <a:r>
              <a:rPr lang="en-US" sz="900" b="1" dirty="0">
                <a:solidFill>
                  <a:schemeClr val="tx1"/>
                </a:solidFill>
              </a:rPr>
              <a:t>Evidence extractor</a:t>
            </a:r>
            <a:endParaRPr lang="en-US" sz="900" dirty="0"/>
          </a:p>
        </p:txBody>
      </p:sp>
      <p:sp>
        <p:nvSpPr>
          <p:cNvPr id="25" name="Text 21"/>
          <p:cNvSpPr txBox="1"/>
          <p:nvPr/>
        </p:nvSpPr>
        <p:spPr>
          <a:xfrm>
            <a:off x="4562856" y="4059936"/>
            <a:ext cx="1143000" cy="502920"/>
          </a:xfrm>
          <a:prstGeom prst="rect">
            <a:avLst/>
          </a:prstGeom>
          <a:noFill/>
          <a:ln/>
        </p:spPr>
        <p:txBody>
          <a:bodyPr wrap="square" lIns="0" tIns="0" rIns="0" bIns="0" rtlCol="0" anchor="t"/>
          <a:lstStyle/>
          <a:p>
            <a:pPr indent="0" marL="0">
              <a:buNone/>
            </a:pPr>
            <a:r>
              <a:rPr lang="en-US" sz="850" dirty="0">
                <a:solidFill>
                  <a:schemeClr val="accent4"/>
                </a:solidFill>
              </a:rPr>
              <a:t>LLM → JSON symptoms, OCR, vision cues, log parsers</a:t>
            </a:r>
            <a:endParaRPr lang="en-US" sz="850" dirty="0"/>
          </a:p>
        </p:txBody>
      </p:sp>
      <p:sp>
        <p:nvSpPr>
          <p:cNvPr id="26" name="Shape 22"/>
          <p:cNvSpPr/>
          <p:nvPr/>
        </p:nvSpPr>
        <p:spPr>
          <a:xfrm>
            <a:off x="5779008" y="4133088"/>
            <a:ext cx="118872" cy="0"/>
          </a:xfrm>
          <a:prstGeom prst="line">
            <a:avLst/>
          </a:prstGeom>
          <a:noFill/>
          <a:ln w="12700">
            <a:solidFill>
              <a:schemeClr val="accent4"/>
            </a:solidFill>
            <a:prstDash val="solid"/>
            <a:tailEnd type="triangle"/>
          </a:ln>
        </p:spPr>
      </p:sp>
      <p:sp>
        <p:nvSpPr>
          <p:cNvPr id="27" name="Shape 23"/>
          <p:cNvSpPr/>
          <p:nvPr/>
        </p:nvSpPr>
        <p:spPr>
          <a:xfrm>
            <a:off x="5907024" y="3675888"/>
            <a:ext cx="1289304" cy="914400"/>
          </a:xfrm>
          <a:prstGeom prst="roundRect">
            <a:avLst>
              <a:gd name="adj" fmla="val 5000"/>
            </a:avLst>
          </a:prstGeom>
          <a:solidFill>
            <a:schemeClr val="bg1"/>
          </a:solidFill>
          <a:ln w="9525">
            <a:solidFill>
              <a:schemeClr val="accent5"/>
            </a:solidFill>
            <a:prstDash val="solid"/>
          </a:ln>
        </p:spPr>
      </p:sp>
      <p:sp>
        <p:nvSpPr>
          <p:cNvPr id="28" name="Shape 24"/>
          <p:cNvSpPr/>
          <p:nvPr/>
        </p:nvSpPr>
        <p:spPr>
          <a:xfrm>
            <a:off x="5980176" y="3758184"/>
            <a:ext cx="219456" cy="219456"/>
          </a:xfrm>
          <a:prstGeom prst="ellipse">
            <a:avLst/>
          </a:prstGeom>
          <a:solidFill>
            <a:schemeClr val="accent1"/>
          </a:solidFill>
          <a:ln w="12700">
            <a:solidFill>
              <a:schemeClr val="accent1"/>
            </a:solidFill>
            <a:prstDash val="solid"/>
          </a:ln>
        </p:spPr>
      </p:sp>
      <p:sp>
        <p:nvSpPr>
          <p:cNvPr id="29" name="Text 25"/>
          <p:cNvSpPr txBox="1"/>
          <p:nvPr/>
        </p:nvSpPr>
        <p:spPr>
          <a:xfrm>
            <a:off x="5980176" y="3758184"/>
            <a:ext cx="219456" cy="219456"/>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30" name="Text 26"/>
          <p:cNvSpPr txBox="1"/>
          <p:nvPr/>
        </p:nvSpPr>
        <p:spPr>
          <a:xfrm>
            <a:off x="6245352" y="3721608"/>
            <a:ext cx="905256" cy="310896"/>
          </a:xfrm>
          <a:prstGeom prst="rect">
            <a:avLst/>
          </a:prstGeom>
          <a:noFill/>
          <a:ln/>
        </p:spPr>
        <p:txBody>
          <a:bodyPr wrap="square" lIns="0" tIns="0" rIns="0" bIns="0" rtlCol="0" anchor="ctr"/>
          <a:lstStyle/>
          <a:p>
            <a:pPr indent="0" marL="0">
              <a:buNone/>
            </a:pPr>
            <a:r>
              <a:rPr lang="en-US" sz="900" b="1" dirty="0">
                <a:solidFill>
                  <a:schemeClr val="tx1"/>
                </a:solidFill>
              </a:rPr>
              <a:t>Diagnostic engine</a:t>
            </a:r>
            <a:endParaRPr lang="en-US" sz="900" dirty="0"/>
          </a:p>
        </p:txBody>
      </p:sp>
      <p:sp>
        <p:nvSpPr>
          <p:cNvPr id="31" name="Text 27"/>
          <p:cNvSpPr txBox="1"/>
          <p:nvPr/>
        </p:nvSpPr>
        <p:spPr>
          <a:xfrm>
            <a:off x="5989320" y="4059936"/>
            <a:ext cx="1143000" cy="502920"/>
          </a:xfrm>
          <a:prstGeom prst="rect">
            <a:avLst/>
          </a:prstGeom>
          <a:noFill/>
          <a:ln/>
        </p:spPr>
        <p:txBody>
          <a:bodyPr wrap="square" lIns="0" tIns="0" rIns="0" bIns="0" rtlCol="0" anchor="t"/>
          <a:lstStyle/>
          <a:p>
            <a:pPr indent="0" marL="0">
              <a:buNone/>
            </a:pPr>
            <a:r>
              <a:rPr lang="en-US" sz="850" dirty="0">
                <a:solidFill>
                  <a:schemeClr val="accent4"/>
                </a:solidFill>
              </a:rPr>
              <a:t>Bayesian ranking + next-best question</a:t>
            </a:r>
            <a:endParaRPr lang="en-US" sz="850" dirty="0"/>
          </a:p>
        </p:txBody>
      </p:sp>
      <p:sp>
        <p:nvSpPr>
          <p:cNvPr id="32" name="Shape 28"/>
          <p:cNvSpPr/>
          <p:nvPr/>
        </p:nvSpPr>
        <p:spPr>
          <a:xfrm>
            <a:off x="7205472" y="4133088"/>
            <a:ext cx="118872" cy="0"/>
          </a:xfrm>
          <a:prstGeom prst="line">
            <a:avLst/>
          </a:prstGeom>
          <a:noFill/>
          <a:ln w="12700">
            <a:solidFill>
              <a:schemeClr val="accent4"/>
            </a:solidFill>
            <a:prstDash val="solid"/>
            <a:tailEnd type="triangle"/>
          </a:ln>
        </p:spPr>
      </p:sp>
      <p:sp>
        <p:nvSpPr>
          <p:cNvPr id="33" name="Shape 29"/>
          <p:cNvSpPr/>
          <p:nvPr/>
        </p:nvSpPr>
        <p:spPr>
          <a:xfrm>
            <a:off x="7333488" y="3675888"/>
            <a:ext cx="1289304" cy="914400"/>
          </a:xfrm>
          <a:prstGeom prst="roundRect">
            <a:avLst>
              <a:gd name="adj" fmla="val 5000"/>
            </a:avLst>
          </a:prstGeom>
          <a:solidFill>
            <a:schemeClr val="bg1"/>
          </a:solidFill>
          <a:ln w="9525">
            <a:solidFill>
              <a:schemeClr val="accent5"/>
            </a:solidFill>
            <a:prstDash val="solid"/>
          </a:ln>
        </p:spPr>
      </p:sp>
      <p:sp>
        <p:nvSpPr>
          <p:cNvPr id="34" name="Shape 30"/>
          <p:cNvSpPr/>
          <p:nvPr/>
        </p:nvSpPr>
        <p:spPr>
          <a:xfrm>
            <a:off x="7406640" y="3758184"/>
            <a:ext cx="219456" cy="219456"/>
          </a:xfrm>
          <a:prstGeom prst="ellipse">
            <a:avLst/>
          </a:prstGeom>
          <a:solidFill>
            <a:schemeClr val="accent1"/>
          </a:solidFill>
          <a:ln w="12700">
            <a:solidFill>
              <a:schemeClr val="accent1"/>
            </a:solidFill>
            <a:prstDash val="solid"/>
          </a:ln>
        </p:spPr>
      </p:sp>
      <p:sp>
        <p:nvSpPr>
          <p:cNvPr id="35" name="Text 31"/>
          <p:cNvSpPr txBox="1"/>
          <p:nvPr/>
        </p:nvSpPr>
        <p:spPr>
          <a:xfrm>
            <a:off x="7406640" y="3758184"/>
            <a:ext cx="219456" cy="219456"/>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36" name="Text 32"/>
          <p:cNvSpPr txBox="1"/>
          <p:nvPr/>
        </p:nvSpPr>
        <p:spPr>
          <a:xfrm>
            <a:off x="7671816" y="3721608"/>
            <a:ext cx="905256" cy="310896"/>
          </a:xfrm>
          <a:prstGeom prst="rect">
            <a:avLst/>
          </a:prstGeom>
          <a:noFill/>
          <a:ln/>
        </p:spPr>
        <p:txBody>
          <a:bodyPr wrap="square" lIns="0" tIns="0" rIns="0" bIns="0" rtlCol="0" anchor="ctr"/>
          <a:lstStyle/>
          <a:p>
            <a:pPr indent="0" marL="0">
              <a:buNone/>
            </a:pPr>
            <a:r>
              <a:rPr lang="en-US" sz="900" b="1" dirty="0">
                <a:solidFill>
                  <a:schemeClr val="tx1"/>
                </a:solidFill>
              </a:rPr>
              <a:t>Safety gate</a:t>
            </a:r>
            <a:endParaRPr lang="en-US" sz="900" dirty="0"/>
          </a:p>
        </p:txBody>
      </p:sp>
      <p:sp>
        <p:nvSpPr>
          <p:cNvPr id="37" name="Text 33"/>
          <p:cNvSpPr txBox="1"/>
          <p:nvPr/>
        </p:nvSpPr>
        <p:spPr>
          <a:xfrm>
            <a:off x="7415784" y="4059936"/>
            <a:ext cx="1143000" cy="502920"/>
          </a:xfrm>
          <a:prstGeom prst="rect">
            <a:avLst/>
          </a:prstGeom>
          <a:noFill/>
          <a:ln/>
        </p:spPr>
        <p:txBody>
          <a:bodyPr wrap="square" lIns="0" tIns="0" rIns="0" bIns="0" rtlCol="0" anchor="t"/>
          <a:lstStyle/>
          <a:p>
            <a:pPr indent="0" marL="0">
              <a:buNone/>
            </a:pPr>
            <a:r>
              <a:rPr lang="en-US" sz="850" dirty="0">
                <a:solidFill>
                  <a:schemeClr val="accent4"/>
                </a:solidFill>
              </a:rPr>
              <a:t>Swelling, liquid or heat → stop &amp; route to a pro</a:t>
            </a:r>
            <a:endParaRPr lang="en-US" sz="850" dirty="0"/>
          </a:p>
        </p:txBody>
      </p:sp>
      <p:sp>
        <p:nvSpPr>
          <p:cNvPr id="38" name="Shape 34"/>
          <p:cNvSpPr/>
          <p:nvPr/>
        </p:nvSpPr>
        <p:spPr>
          <a:xfrm>
            <a:off x="8631936" y="4133088"/>
            <a:ext cx="118872" cy="0"/>
          </a:xfrm>
          <a:prstGeom prst="line">
            <a:avLst/>
          </a:prstGeom>
          <a:noFill/>
          <a:ln w="12700">
            <a:solidFill>
              <a:schemeClr val="accent4"/>
            </a:solidFill>
            <a:prstDash val="solid"/>
            <a:tailEnd type="triangle"/>
          </a:ln>
        </p:spPr>
      </p:sp>
      <p:sp>
        <p:nvSpPr>
          <p:cNvPr id="39" name="Shape 35"/>
          <p:cNvSpPr/>
          <p:nvPr/>
        </p:nvSpPr>
        <p:spPr>
          <a:xfrm>
            <a:off x="8759952" y="3675888"/>
            <a:ext cx="1289304" cy="914400"/>
          </a:xfrm>
          <a:prstGeom prst="roundRect">
            <a:avLst>
              <a:gd name="adj" fmla="val 5000"/>
            </a:avLst>
          </a:prstGeom>
          <a:solidFill>
            <a:schemeClr val="bg1"/>
          </a:solidFill>
          <a:ln w="9525">
            <a:solidFill>
              <a:schemeClr val="accent5"/>
            </a:solidFill>
            <a:prstDash val="solid"/>
          </a:ln>
        </p:spPr>
      </p:sp>
      <p:sp>
        <p:nvSpPr>
          <p:cNvPr id="40" name="Shape 36"/>
          <p:cNvSpPr/>
          <p:nvPr/>
        </p:nvSpPr>
        <p:spPr>
          <a:xfrm>
            <a:off x="8833104" y="3758184"/>
            <a:ext cx="219456" cy="219456"/>
          </a:xfrm>
          <a:prstGeom prst="ellipse">
            <a:avLst/>
          </a:prstGeom>
          <a:solidFill>
            <a:schemeClr val="accent1"/>
          </a:solidFill>
          <a:ln w="12700">
            <a:solidFill>
              <a:schemeClr val="accent1"/>
            </a:solidFill>
            <a:prstDash val="solid"/>
          </a:ln>
        </p:spPr>
      </p:sp>
      <p:sp>
        <p:nvSpPr>
          <p:cNvPr id="41" name="Text 37"/>
          <p:cNvSpPr txBox="1"/>
          <p:nvPr/>
        </p:nvSpPr>
        <p:spPr>
          <a:xfrm>
            <a:off x="8833104" y="3758184"/>
            <a:ext cx="219456" cy="219456"/>
          </a:xfrm>
          <a:prstGeom prst="rect">
            <a:avLst/>
          </a:prstGeom>
          <a:noFill/>
          <a:ln/>
        </p:spPr>
        <p:txBody>
          <a:bodyPr wrap="square" lIns="0" tIns="0" rIns="0" bIns="0" rtlCol="0" anchor="ctr"/>
          <a:lstStyle/>
          <a:p>
            <a:pPr algn="ctr" indent="0" marL="0">
              <a:buNone/>
            </a:pPr>
            <a:r>
              <a:rPr lang="en-US" sz="900" b="1" dirty="0">
                <a:solidFill>
                  <a:schemeClr val="bg1"/>
                </a:solidFill>
              </a:rPr>
              <a:t>4</a:t>
            </a:r>
            <a:endParaRPr lang="en-US" sz="900" dirty="0"/>
          </a:p>
        </p:txBody>
      </p:sp>
      <p:sp>
        <p:nvSpPr>
          <p:cNvPr id="42" name="Text 38"/>
          <p:cNvSpPr txBox="1"/>
          <p:nvPr/>
        </p:nvSpPr>
        <p:spPr>
          <a:xfrm>
            <a:off x="9098280" y="3721608"/>
            <a:ext cx="905256" cy="310896"/>
          </a:xfrm>
          <a:prstGeom prst="rect">
            <a:avLst/>
          </a:prstGeom>
          <a:noFill/>
          <a:ln/>
        </p:spPr>
        <p:txBody>
          <a:bodyPr wrap="square" lIns="0" tIns="0" rIns="0" bIns="0" rtlCol="0" anchor="ctr"/>
          <a:lstStyle/>
          <a:p>
            <a:pPr indent="0" marL="0">
              <a:buNone/>
            </a:pPr>
            <a:r>
              <a:rPr lang="en-US" sz="900" b="1" dirty="0">
                <a:solidFill>
                  <a:schemeClr val="tx1"/>
                </a:solidFill>
              </a:rPr>
              <a:t>Decision engine</a:t>
            </a:r>
            <a:endParaRPr lang="en-US" sz="900" dirty="0"/>
          </a:p>
        </p:txBody>
      </p:sp>
      <p:sp>
        <p:nvSpPr>
          <p:cNvPr id="43" name="Text 39"/>
          <p:cNvSpPr txBox="1"/>
          <p:nvPr/>
        </p:nvSpPr>
        <p:spPr>
          <a:xfrm>
            <a:off x="8842248" y="4059936"/>
            <a:ext cx="1143000" cy="502920"/>
          </a:xfrm>
          <a:prstGeom prst="rect">
            <a:avLst/>
          </a:prstGeom>
          <a:noFill/>
          <a:ln/>
        </p:spPr>
        <p:txBody>
          <a:bodyPr wrap="square" lIns="0" tIns="0" rIns="0" bIns="0" rtlCol="0" anchor="t"/>
          <a:lstStyle/>
          <a:p>
            <a:pPr indent="0" marL="0">
              <a:buNone/>
            </a:pPr>
            <a:r>
              <a:rPr lang="en-US" sz="850" dirty="0">
                <a:solidFill>
                  <a:schemeClr val="accent4"/>
                </a:solidFill>
              </a:rPr>
              <a:t>Repairability, ₹ economics, fair-price check</a:t>
            </a:r>
            <a:endParaRPr lang="en-US" sz="850" dirty="0"/>
          </a:p>
        </p:txBody>
      </p:sp>
      <p:sp>
        <p:nvSpPr>
          <p:cNvPr id="44" name="Shape 40"/>
          <p:cNvSpPr/>
          <p:nvPr/>
        </p:nvSpPr>
        <p:spPr>
          <a:xfrm>
            <a:off x="10058400" y="4133088"/>
            <a:ext cx="118872" cy="0"/>
          </a:xfrm>
          <a:prstGeom prst="line">
            <a:avLst/>
          </a:prstGeom>
          <a:noFill/>
          <a:ln w="12700">
            <a:solidFill>
              <a:schemeClr val="accent4"/>
            </a:solidFill>
            <a:prstDash val="solid"/>
            <a:tailEnd type="triangle"/>
          </a:ln>
        </p:spPr>
      </p:sp>
      <p:sp>
        <p:nvSpPr>
          <p:cNvPr id="45" name="Shape 41"/>
          <p:cNvSpPr/>
          <p:nvPr/>
        </p:nvSpPr>
        <p:spPr>
          <a:xfrm>
            <a:off x="10186416" y="3675888"/>
            <a:ext cx="1289304" cy="914400"/>
          </a:xfrm>
          <a:prstGeom prst="roundRect">
            <a:avLst>
              <a:gd name="adj" fmla="val 5000"/>
            </a:avLst>
          </a:prstGeom>
          <a:solidFill>
            <a:schemeClr val="bg1"/>
          </a:solidFill>
          <a:ln w="9525">
            <a:solidFill>
              <a:schemeClr val="accent5"/>
            </a:solidFill>
            <a:prstDash val="solid"/>
          </a:ln>
        </p:spPr>
      </p:sp>
      <p:sp>
        <p:nvSpPr>
          <p:cNvPr id="46" name="Shape 42"/>
          <p:cNvSpPr/>
          <p:nvPr/>
        </p:nvSpPr>
        <p:spPr>
          <a:xfrm>
            <a:off x="10259568" y="3758184"/>
            <a:ext cx="219456" cy="219456"/>
          </a:xfrm>
          <a:prstGeom prst="ellipse">
            <a:avLst/>
          </a:prstGeom>
          <a:solidFill>
            <a:schemeClr val="accent1"/>
          </a:solidFill>
          <a:ln w="12700">
            <a:solidFill>
              <a:schemeClr val="accent1"/>
            </a:solidFill>
            <a:prstDash val="solid"/>
          </a:ln>
        </p:spPr>
      </p:sp>
      <p:sp>
        <p:nvSpPr>
          <p:cNvPr id="47" name="Text 43"/>
          <p:cNvSpPr txBox="1"/>
          <p:nvPr/>
        </p:nvSpPr>
        <p:spPr>
          <a:xfrm>
            <a:off x="10259568" y="3758184"/>
            <a:ext cx="219456" cy="219456"/>
          </a:xfrm>
          <a:prstGeom prst="rect">
            <a:avLst/>
          </a:prstGeom>
          <a:noFill/>
          <a:ln/>
        </p:spPr>
        <p:txBody>
          <a:bodyPr wrap="square" lIns="0" tIns="0" rIns="0" bIns="0" rtlCol="0" anchor="ctr"/>
          <a:lstStyle/>
          <a:p>
            <a:pPr algn="ctr" indent="0" marL="0">
              <a:buNone/>
            </a:pPr>
            <a:r>
              <a:rPr lang="en-US" sz="900" b="1" dirty="0">
                <a:solidFill>
                  <a:schemeClr val="bg1"/>
                </a:solidFill>
              </a:rPr>
              <a:t>5</a:t>
            </a:r>
            <a:endParaRPr lang="en-US" sz="900" dirty="0"/>
          </a:p>
        </p:txBody>
      </p:sp>
      <p:sp>
        <p:nvSpPr>
          <p:cNvPr id="48" name="Text 44"/>
          <p:cNvSpPr txBox="1"/>
          <p:nvPr/>
        </p:nvSpPr>
        <p:spPr>
          <a:xfrm>
            <a:off x="10524744" y="3721608"/>
            <a:ext cx="905256" cy="310896"/>
          </a:xfrm>
          <a:prstGeom prst="rect">
            <a:avLst/>
          </a:prstGeom>
          <a:noFill/>
          <a:ln/>
        </p:spPr>
        <p:txBody>
          <a:bodyPr wrap="square" lIns="0" tIns="0" rIns="0" bIns="0" rtlCol="0" anchor="ctr"/>
          <a:lstStyle/>
          <a:p>
            <a:pPr indent="0" marL="0">
              <a:buNone/>
            </a:pPr>
            <a:r>
              <a:rPr lang="en-US" sz="900" b="1" dirty="0">
                <a:solidFill>
                  <a:schemeClr val="tx1"/>
                </a:solidFill>
              </a:rPr>
              <a:t>Report &amp; Passport</a:t>
            </a:r>
            <a:endParaRPr lang="en-US" sz="900" dirty="0"/>
          </a:p>
        </p:txBody>
      </p:sp>
      <p:sp>
        <p:nvSpPr>
          <p:cNvPr id="49" name="Text 45"/>
          <p:cNvSpPr txBox="1"/>
          <p:nvPr/>
        </p:nvSpPr>
        <p:spPr>
          <a:xfrm>
            <a:off x="10268712" y="4059936"/>
            <a:ext cx="1143000" cy="502920"/>
          </a:xfrm>
          <a:prstGeom prst="rect">
            <a:avLst/>
          </a:prstGeom>
          <a:noFill/>
          <a:ln/>
        </p:spPr>
        <p:txBody>
          <a:bodyPr wrap="square" lIns="0" tIns="0" rIns="0" bIns="0" rtlCol="0" anchor="t"/>
          <a:lstStyle/>
          <a:p>
            <a:pPr indent="0" marL="0">
              <a:buNone/>
            </a:pPr>
            <a:r>
              <a:rPr lang="en-US" sz="850" dirty="0">
                <a:solidFill>
                  <a:schemeClr val="accent4"/>
                </a:solidFill>
              </a:rPr>
              <a:t>PDF report, QR link, hash-chained history</a:t>
            </a:r>
            <a:endParaRPr lang="en-US" sz="850" dirty="0"/>
          </a:p>
        </p:txBody>
      </p:sp>
      <p:sp>
        <p:nvSpPr>
          <p:cNvPr id="50" name="Shape 46"/>
          <p:cNvSpPr/>
          <p:nvPr/>
        </p:nvSpPr>
        <p:spPr>
          <a:xfrm>
            <a:off x="4389120" y="4974336"/>
            <a:ext cx="2240280" cy="566928"/>
          </a:xfrm>
          <a:prstGeom prst="roundRect">
            <a:avLst>
              <a:gd name="adj" fmla="val 9677"/>
            </a:avLst>
          </a:prstGeom>
          <a:solidFill>
            <a:schemeClr val="bg1"/>
          </a:solidFill>
          <a:ln w="11430">
            <a:solidFill>
              <a:schemeClr val="accent5"/>
            </a:solidFill>
            <a:prstDash val="solid"/>
          </a:ln>
        </p:spPr>
      </p:sp>
      <p:sp>
        <p:nvSpPr>
          <p:cNvPr id="51" name="Text 47"/>
          <p:cNvSpPr txBox="1"/>
          <p:nvPr/>
        </p:nvSpPr>
        <p:spPr>
          <a:xfrm>
            <a:off x="4480560" y="5010912"/>
            <a:ext cx="2057400" cy="493776"/>
          </a:xfrm>
          <a:prstGeom prst="rect">
            <a:avLst/>
          </a:prstGeom>
          <a:noFill/>
          <a:ln/>
        </p:spPr>
        <p:txBody>
          <a:bodyPr wrap="square" lIns="0" tIns="0" rIns="0" bIns="0" rtlCol="0" anchor="ctr"/>
          <a:lstStyle/>
          <a:p>
            <a:pPr indent="0" marL="0">
              <a:buNone/>
            </a:pPr>
            <a:r>
              <a:rPr lang="en-US" sz="1000" b="1" dirty="0">
                <a:solidFill>
                  <a:schemeClr val="tx1"/>
                </a:solidFill>
              </a:rPr>
              <a:t>AI services</a:t>
            </a:r>
            <a:endParaRPr lang="en-US" sz="1000" dirty="0"/>
          </a:p>
          <a:p>
            <a:pPr indent="0" marL="0">
              <a:buNone/>
            </a:pPr>
            <a:r>
              <a:rPr lang="en-US" sz="850" dirty="0">
                <a:solidFill>
                  <a:schemeClr val="accent4"/>
                </a:solidFill>
              </a:rPr>
              <a:t>LLM · vision · OCR APIs</a:t>
            </a:r>
            <a:endParaRPr lang="en-US" sz="1000" dirty="0"/>
          </a:p>
        </p:txBody>
      </p:sp>
      <p:sp>
        <p:nvSpPr>
          <p:cNvPr id="52" name="Shape 48"/>
          <p:cNvSpPr/>
          <p:nvPr/>
        </p:nvSpPr>
        <p:spPr>
          <a:xfrm>
            <a:off x="6766560" y="4974336"/>
            <a:ext cx="2514600" cy="566928"/>
          </a:xfrm>
          <a:prstGeom prst="roundRect">
            <a:avLst>
              <a:gd name="adj" fmla="val 9677"/>
            </a:avLst>
          </a:prstGeom>
          <a:solidFill>
            <a:schemeClr val="bg1"/>
          </a:solidFill>
          <a:ln w="11430">
            <a:solidFill>
              <a:schemeClr val="accent5"/>
            </a:solidFill>
            <a:prstDash val="solid"/>
          </a:ln>
        </p:spPr>
      </p:sp>
      <p:sp>
        <p:nvSpPr>
          <p:cNvPr id="53" name="Text 49"/>
          <p:cNvSpPr txBox="1"/>
          <p:nvPr/>
        </p:nvSpPr>
        <p:spPr>
          <a:xfrm>
            <a:off x="6858000" y="5010912"/>
            <a:ext cx="2331720" cy="493776"/>
          </a:xfrm>
          <a:prstGeom prst="rect">
            <a:avLst/>
          </a:prstGeom>
          <a:noFill/>
          <a:ln/>
        </p:spPr>
        <p:txBody>
          <a:bodyPr wrap="square" lIns="0" tIns="0" rIns="0" bIns="0" rtlCol="0" anchor="ctr"/>
          <a:lstStyle/>
          <a:p>
            <a:pPr indent="0" marL="0">
              <a:buNone/>
            </a:pPr>
            <a:r>
              <a:rPr lang="en-US" sz="1000" b="1" dirty="0">
                <a:solidFill>
                  <a:schemeClr val="tx1"/>
                </a:solidFill>
              </a:rPr>
              <a:t>Device knowledge base</a:t>
            </a:r>
            <a:endParaRPr lang="en-US" sz="1000" dirty="0"/>
          </a:p>
          <a:p>
            <a:pPr indent="0" marL="0">
              <a:buNone/>
            </a:pPr>
            <a:r>
              <a:rPr lang="en-US" sz="850" dirty="0">
                <a:solidFill>
                  <a:schemeClr val="accent4"/>
                </a:solidFill>
              </a:rPr>
              <a:t>Specs · failure priors · parts · ₹ bands (pgvector)</a:t>
            </a:r>
            <a:endParaRPr lang="en-US" sz="1000" dirty="0"/>
          </a:p>
        </p:txBody>
      </p:sp>
      <p:sp>
        <p:nvSpPr>
          <p:cNvPr id="54" name="Shape 50"/>
          <p:cNvSpPr/>
          <p:nvPr/>
        </p:nvSpPr>
        <p:spPr>
          <a:xfrm>
            <a:off x="9418320" y="4974336"/>
            <a:ext cx="2148840" cy="566928"/>
          </a:xfrm>
          <a:prstGeom prst="roundRect">
            <a:avLst>
              <a:gd name="adj" fmla="val 9677"/>
            </a:avLst>
          </a:prstGeom>
          <a:solidFill>
            <a:schemeClr val="bg1"/>
          </a:solidFill>
          <a:ln w="11430">
            <a:solidFill>
              <a:schemeClr val="accent5"/>
            </a:solidFill>
            <a:prstDash val="solid"/>
          </a:ln>
        </p:spPr>
      </p:sp>
      <p:sp>
        <p:nvSpPr>
          <p:cNvPr id="55" name="Text 51"/>
          <p:cNvSpPr txBox="1"/>
          <p:nvPr/>
        </p:nvSpPr>
        <p:spPr>
          <a:xfrm>
            <a:off x="9509760" y="5010912"/>
            <a:ext cx="1965960" cy="493776"/>
          </a:xfrm>
          <a:prstGeom prst="rect">
            <a:avLst/>
          </a:prstGeom>
          <a:noFill/>
          <a:ln/>
        </p:spPr>
        <p:txBody>
          <a:bodyPr wrap="square" lIns="0" tIns="0" rIns="0" bIns="0" rtlCol="0" anchor="ctr"/>
          <a:lstStyle/>
          <a:p>
            <a:pPr indent="0" marL="0">
              <a:buNone/>
            </a:pPr>
            <a:r>
              <a:rPr lang="en-US" sz="1000" b="1" dirty="0">
                <a:solidFill>
                  <a:schemeClr val="tx1"/>
                </a:solidFill>
              </a:rPr>
              <a:t>Supabase</a:t>
            </a:r>
            <a:endParaRPr lang="en-US" sz="1000" dirty="0"/>
          </a:p>
          <a:p>
            <a:pPr indent="0" marL="0">
              <a:buNone/>
            </a:pPr>
            <a:r>
              <a:rPr lang="en-US" sz="850" dirty="0">
                <a:solidFill>
                  <a:schemeClr val="accent4"/>
                </a:solidFill>
              </a:rPr>
              <a:t>Postgres · Auth · Storage</a:t>
            </a:r>
            <a:endParaRPr lang="en-US" sz="1000" dirty="0"/>
          </a:p>
        </p:txBody>
      </p:sp>
      <p:sp>
        <p:nvSpPr>
          <p:cNvPr id="56" name="Shape 52"/>
          <p:cNvSpPr/>
          <p:nvPr/>
        </p:nvSpPr>
        <p:spPr>
          <a:xfrm flipV="1">
            <a:off x="5120640" y="4718304"/>
            <a:ext cx="0" cy="237744"/>
          </a:xfrm>
          <a:prstGeom prst="line">
            <a:avLst/>
          </a:prstGeom>
          <a:noFill/>
          <a:ln w="15875">
            <a:solidFill>
              <a:schemeClr val="accent4"/>
            </a:solidFill>
            <a:prstDash val="solid"/>
            <a:tailEnd type="triangle"/>
          </a:ln>
        </p:spPr>
      </p:sp>
      <p:sp>
        <p:nvSpPr>
          <p:cNvPr id="57" name="Shape 53"/>
          <p:cNvSpPr/>
          <p:nvPr/>
        </p:nvSpPr>
        <p:spPr>
          <a:xfrm flipV="1">
            <a:off x="7479792" y="4718304"/>
            <a:ext cx="0" cy="237744"/>
          </a:xfrm>
          <a:prstGeom prst="line">
            <a:avLst/>
          </a:prstGeom>
          <a:noFill/>
          <a:ln w="15875">
            <a:solidFill>
              <a:schemeClr val="accent4"/>
            </a:solidFill>
            <a:prstDash val="solid"/>
            <a:tailEnd type="triangle"/>
          </a:ln>
        </p:spPr>
      </p:sp>
      <p:sp>
        <p:nvSpPr>
          <p:cNvPr id="58" name="Shape 54"/>
          <p:cNvSpPr/>
          <p:nvPr/>
        </p:nvSpPr>
        <p:spPr>
          <a:xfrm flipV="1">
            <a:off x="8595360" y="4718304"/>
            <a:ext cx="0" cy="237744"/>
          </a:xfrm>
          <a:prstGeom prst="line">
            <a:avLst/>
          </a:prstGeom>
          <a:noFill/>
          <a:ln w="15875">
            <a:solidFill>
              <a:schemeClr val="accent4"/>
            </a:solidFill>
            <a:prstDash val="solid"/>
            <a:tailEnd type="triangle"/>
          </a:ln>
        </p:spPr>
      </p:sp>
      <p:sp>
        <p:nvSpPr>
          <p:cNvPr id="59" name="Shape 55"/>
          <p:cNvSpPr/>
          <p:nvPr/>
        </p:nvSpPr>
        <p:spPr>
          <a:xfrm>
            <a:off x="10881360" y="4718304"/>
            <a:ext cx="0" cy="237744"/>
          </a:xfrm>
          <a:prstGeom prst="line">
            <a:avLst/>
          </a:prstGeom>
          <a:noFill/>
          <a:ln w="15875">
            <a:solidFill>
              <a:schemeClr val="accent4"/>
            </a:solidFill>
            <a:prstDash val="solid"/>
            <a:tailEnd type="triangle"/>
          </a:ln>
        </p:spPr>
      </p:sp>
      <p:sp>
        <p:nvSpPr>
          <p:cNvPr id="60" name="Learning loop"/>
          <p:cNvSpPr/>
          <p:nvPr/>
        </p:nvSpPr>
        <p:spPr>
          <a:xfrm>
            <a:off x="4389120" y="5705856"/>
            <a:ext cx="7178040" cy="475488"/>
          </a:xfrm>
          <a:prstGeom prst="roundRect">
            <a:avLst>
              <a:gd name="adj" fmla="val 11538"/>
            </a:avLst>
          </a:prstGeom>
          <a:solidFill>
            <a:schemeClr val="tx2"/>
          </a:solidFill>
          <a:ln w="12700">
            <a:solidFill>
              <a:schemeClr val="tx2"/>
            </a:solidFill>
            <a:prstDash val="solid"/>
          </a:ln>
        </p:spPr>
      </p:sp>
      <p:pic>
        <p:nvPicPr>
          <p:cNvPr id="61" name="Image 2" descr="preencoded.png">    </p:cNvPr>
          <p:cNvPicPr>
            <a:picLocks noChangeAspect="1"/>
          </p:cNvPicPr>
          <p:nvPr/>
        </p:nvPicPr>
        <p:blipFill>
          <a:blip r:embed="rId3"/>
          <a:stretch>
            <a:fillRect/>
          </a:stretch>
        </p:blipFill>
        <p:spPr>
          <a:xfrm>
            <a:off x="4544568" y="5833872"/>
            <a:ext cx="219456" cy="219456"/>
          </a:xfrm>
          <a:prstGeom prst="rect">
            <a:avLst/>
          </a:prstGeom>
        </p:spPr>
      </p:pic>
      <p:sp>
        <p:nvSpPr>
          <p:cNvPr id="62" name="Text 57"/>
          <p:cNvSpPr txBox="1"/>
          <p:nvPr/>
        </p:nvSpPr>
        <p:spPr>
          <a:xfrm>
            <a:off x="4864608" y="5705856"/>
            <a:ext cx="6583680" cy="475488"/>
          </a:xfrm>
          <a:prstGeom prst="rect">
            <a:avLst/>
          </a:prstGeom>
          <a:noFill/>
          <a:ln/>
        </p:spPr>
        <p:txBody>
          <a:bodyPr wrap="square" lIns="0" tIns="0" rIns="0" bIns="0" rtlCol="0" anchor="ctr"/>
          <a:lstStyle/>
          <a:p>
            <a:pPr indent="0" marL="0">
              <a:buNone/>
            </a:pPr>
            <a:r>
              <a:rPr lang="en-US" sz="1000" b="1" dirty="0">
                <a:solidFill>
                  <a:schemeClr val="bg1"/>
                </a:solidFill>
              </a:rPr>
              <a:t>Learning loop: </a:t>
            </a:r>
            <a:pPr indent="0" marL="0">
              <a:buNone/>
            </a:pPr>
            <a:r>
              <a:rPr lang="en-US" sz="1000" dirty="0">
                <a:solidFill>
                  <a:schemeClr val="bg1"/>
                </a:solidFill>
              </a:rPr>
              <a:t>shop-verified repair outcomes update each model's failure priors — every repair sharpens the next diagnosis.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2514600" y="146304"/>
            <a:ext cx="7086600" cy="987552"/>
          </a:xfrm>
          <a:prstGeom prst="rect">
            <a:avLst/>
          </a:prstGeom>
          <a:noFill/>
          <a:ln/>
        </p:spPr>
        <p:txBody>
          <a:bodyPr wrap="square" lIns="0" tIns="0" rIns="0" bIns="0" rtlCol="0" anchor="ctr"/>
          <a:lstStyle/>
          <a:p>
            <a:pPr algn="ctr" indent="0" marL="0">
              <a:buNone/>
            </a:pPr>
            <a:r>
              <a:rPr lang="en-US" sz="2700" b="1" dirty="0">
                <a:solidFill>
                  <a:schemeClr val="tx1"/>
                </a:solidFill>
                <a:latin typeface="Georgia" pitchFamily="34" charset="0"/>
                <a:ea typeface="Georgia" pitchFamily="34" charset="-122"/>
                <a:cs typeface="Georgia" pitchFamily="34" charset="-120"/>
              </a:rPr>
              <a:t>FEASIBILITY AND SHOWSTOPPERS</a:t>
            </a:r>
            <a:endParaRPr lang="en-US" sz="2700" dirty="0"/>
          </a:p>
        </p:txBody>
      </p:sp>
      <p:sp>
        <p:nvSpPr>
          <p:cNvPr id="3" name="Key message"/>
          <p:cNvSpPr txBox="1"/>
          <p:nvPr/>
        </p:nvSpPr>
        <p:spPr>
          <a:xfrm>
            <a:off x="2743200" y="1005840"/>
            <a:ext cx="9006840" cy="704088"/>
          </a:xfrm>
          <a:prstGeom prst="rect">
            <a:avLst/>
          </a:prstGeom>
          <a:noFill/>
          <a:ln/>
        </p:spPr>
        <p:txBody>
          <a:bodyPr wrap="square" lIns="0" tIns="0" rIns="0" bIns="0" rtlCol="0" anchor="ctr"/>
          <a:lstStyle/>
          <a:p>
            <a:pPr indent="0" marL="0">
              <a:buNone/>
            </a:pPr>
            <a:r>
              <a:rPr lang="en-US" sz="1500" dirty="0">
                <a:solidFill>
                  <a:schemeClr val="tx1"/>
                </a:solidFill>
              </a:rPr>
              <a:t>Scoped to </a:t>
            </a:r>
            <a:pPr indent="0" marL="0">
              <a:buNone/>
            </a:pPr>
            <a:r>
              <a:rPr lang="en-US" sz="1500" b="1" dirty="0">
                <a:solidFill>
                  <a:schemeClr val="accent1"/>
                </a:solidFill>
              </a:rPr>
              <a:t>one believable end-to-end flow</a:t>
            </a:r>
            <a:pPr indent="0" marL="0">
              <a:buNone/>
            </a:pPr>
            <a:r>
              <a:rPr lang="en-US" sz="1500" dirty="0">
                <a:solidFill>
                  <a:schemeClr val="tx1"/>
                </a:solidFill>
              </a:rPr>
              <a:t> —</a:t>
            </a:r>
            <a:endParaRPr lang="en-US" sz="1500" dirty="0"/>
          </a:p>
          <a:p>
            <a:pPr indent="0" marL="0">
              <a:buNone/>
            </a:pPr>
            <a:r>
              <a:rPr lang="en-US" sz="1500" dirty="0">
                <a:solidFill>
                  <a:schemeClr val="tx1"/>
                </a:solidFill>
              </a:rPr>
              <a:t>built on APIs, rules and public data, with no model training required.</a:t>
            </a:r>
            <a:endParaRPr lang="en-US" sz="1500" dirty="0"/>
          </a:p>
        </p:txBody>
      </p:sp>
      <p:sp>
        <p:nvSpPr>
          <p:cNvPr id="4" name="Feasibility panel"/>
          <p:cNvSpPr/>
          <p:nvPr/>
        </p:nvSpPr>
        <p:spPr>
          <a:xfrm>
            <a:off x="457200" y="2057400"/>
            <a:ext cx="4983480" cy="3310128"/>
          </a:xfrm>
          <a:prstGeom prst="roundRect">
            <a:avLst>
              <a:gd name="adj" fmla="val 1934"/>
            </a:avLst>
          </a:prstGeom>
          <a:solidFill>
            <a:schemeClr val="bg2"/>
          </a:solidFill>
          <a:ln w="9525">
            <a:solidFill>
              <a:schemeClr val="accent5"/>
            </a:solidFill>
            <a:prstDash val="solid"/>
          </a:ln>
        </p:spPr>
      </p:sp>
      <p:sp>
        <p:nvSpPr>
          <p:cNvPr id="5" name="Shape 3"/>
          <p:cNvSpPr/>
          <p:nvPr/>
        </p:nvSpPr>
        <p:spPr>
          <a:xfrm>
            <a:off x="640080" y="2194560"/>
            <a:ext cx="365760" cy="365760"/>
          </a:xfrm>
          <a:prstGeom prst="roundRect">
            <a:avLst>
              <a:gd name="adj" fmla="val 20000"/>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22376" y="2276856"/>
            <a:ext cx="201168" cy="201168"/>
          </a:xfrm>
          <a:prstGeom prst="rect">
            <a:avLst/>
          </a:prstGeom>
        </p:spPr>
      </p:pic>
      <p:sp>
        <p:nvSpPr>
          <p:cNvPr id="7" name="Section: Feasibility"/>
          <p:cNvSpPr txBox="1"/>
          <p:nvPr/>
        </p:nvSpPr>
        <p:spPr>
          <a:xfrm>
            <a:off x="1115568" y="21945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Feasibility</a:t>
            </a:r>
            <a:endParaRPr lang="en-US" sz="1800" dirty="0"/>
          </a:p>
        </p:txBody>
      </p:sp>
      <p:sp>
        <p:nvSpPr>
          <p:cNvPr id="8" name="Shape 5"/>
          <p:cNvSpPr/>
          <p:nvPr/>
        </p:nvSpPr>
        <p:spPr>
          <a:xfrm>
            <a:off x="640080" y="2670048"/>
            <a:ext cx="1444752" cy="786384"/>
          </a:xfrm>
          <a:prstGeom prst="roundRect">
            <a:avLst>
              <a:gd name="adj" fmla="val 6977"/>
            </a:avLst>
          </a:prstGeom>
          <a:solidFill>
            <a:schemeClr val="bg1"/>
          </a:solidFill>
          <a:ln w="9525">
            <a:solidFill>
              <a:schemeClr val="accent5"/>
            </a:solidFill>
            <a:prstDash val="solid"/>
          </a:ln>
        </p:spPr>
      </p:sp>
      <p:sp>
        <p:nvSpPr>
          <p:cNvPr id="9" name="Text 6"/>
          <p:cNvSpPr txBox="1"/>
          <p:nvPr/>
        </p:nvSpPr>
        <p:spPr>
          <a:xfrm>
            <a:off x="749808" y="2715768"/>
            <a:ext cx="1280160" cy="347472"/>
          </a:xfrm>
          <a:prstGeom prst="rect">
            <a:avLst/>
          </a:prstGeom>
          <a:noFill/>
          <a:ln/>
        </p:spPr>
        <p:txBody>
          <a:bodyPr wrap="square" lIns="0" tIns="0" rIns="0" bIns="0" rtlCol="0" anchor="ctr"/>
          <a:lstStyle/>
          <a:p>
            <a:pPr indent="0" marL="0">
              <a:buNone/>
            </a:pPr>
            <a:r>
              <a:rPr lang="en-US" sz="2100" b="1" dirty="0">
                <a:solidFill>
                  <a:schemeClr val="accent1"/>
                </a:solidFill>
              </a:rPr>
              <a:t>2</a:t>
            </a:r>
            <a:endParaRPr lang="en-US" sz="2100" dirty="0"/>
          </a:p>
        </p:txBody>
      </p:sp>
      <p:sp>
        <p:nvSpPr>
          <p:cNvPr id="10" name="Text 7"/>
          <p:cNvSpPr txBox="1"/>
          <p:nvPr/>
        </p:nvSpPr>
        <p:spPr>
          <a:xfrm>
            <a:off x="749808" y="3063240"/>
            <a:ext cx="1280160" cy="365760"/>
          </a:xfrm>
          <a:prstGeom prst="rect">
            <a:avLst/>
          </a:prstGeom>
          <a:noFill/>
          <a:ln/>
        </p:spPr>
        <p:txBody>
          <a:bodyPr wrap="square" lIns="0" tIns="0" rIns="0" bIns="0" rtlCol="0" anchor="t"/>
          <a:lstStyle/>
          <a:p>
            <a:pPr indent="0" marL="0">
              <a:buNone/>
            </a:pPr>
            <a:r>
              <a:rPr lang="en-US" sz="900" dirty="0">
                <a:solidFill>
                  <a:schemeClr val="tx1"/>
                </a:solidFill>
              </a:rPr>
              <a:t>device categories: phones + laptops</a:t>
            </a:r>
            <a:endParaRPr lang="en-US" sz="900" dirty="0"/>
          </a:p>
        </p:txBody>
      </p:sp>
      <p:sp>
        <p:nvSpPr>
          <p:cNvPr id="11" name="Shape 8"/>
          <p:cNvSpPr/>
          <p:nvPr/>
        </p:nvSpPr>
        <p:spPr>
          <a:xfrm>
            <a:off x="2194560" y="2670048"/>
            <a:ext cx="1444752" cy="786384"/>
          </a:xfrm>
          <a:prstGeom prst="roundRect">
            <a:avLst>
              <a:gd name="adj" fmla="val 6977"/>
            </a:avLst>
          </a:prstGeom>
          <a:solidFill>
            <a:schemeClr val="bg1"/>
          </a:solidFill>
          <a:ln w="9525">
            <a:solidFill>
              <a:schemeClr val="accent5"/>
            </a:solidFill>
            <a:prstDash val="solid"/>
          </a:ln>
        </p:spPr>
      </p:sp>
      <p:sp>
        <p:nvSpPr>
          <p:cNvPr id="12" name="Text 9"/>
          <p:cNvSpPr txBox="1"/>
          <p:nvPr/>
        </p:nvSpPr>
        <p:spPr>
          <a:xfrm>
            <a:off x="2304288" y="2715768"/>
            <a:ext cx="1280160" cy="347472"/>
          </a:xfrm>
          <a:prstGeom prst="rect">
            <a:avLst/>
          </a:prstGeom>
          <a:noFill/>
          <a:ln/>
        </p:spPr>
        <p:txBody>
          <a:bodyPr wrap="square" lIns="0" tIns="0" rIns="0" bIns="0" rtlCol="0" anchor="ctr"/>
          <a:lstStyle/>
          <a:p>
            <a:pPr indent="0" marL="0">
              <a:buNone/>
            </a:pPr>
            <a:r>
              <a:rPr lang="en-US" sz="2100" b="1" dirty="0">
                <a:solidFill>
                  <a:schemeClr val="accent1"/>
                </a:solidFill>
              </a:rPr>
              <a:t>10</a:t>
            </a:r>
            <a:endParaRPr lang="en-US" sz="2100" dirty="0"/>
          </a:p>
        </p:txBody>
      </p:sp>
      <p:sp>
        <p:nvSpPr>
          <p:cNvPr id="13" name="Text 10"/>
          <p:cNvSpPr txBox="1"/>
          <p:nvPr/>
        </p:nvSpPr>
        <p:spPr>
          <a:xfrm>
            <a:off x="2304288" y="3063240"/>
            <a:ext cx="1280160" cy="365760"/>
          </a:xfrm>
          <a:prstGeom prst="rect">
            <a:avLst/>
          </a:prstGeom>
          <a:noFill/>
          <a:ln/>
        </p:spPr>
        <p:txBody>
          <a:bodyPr wrap="square" lIns="0" tIns="0" rIns="0" bIns="0" rtlCol="0" anchor="t"/>
          <a:lstStyle/>
          <a:p>
            <a:pPr indent="0" marL="0">
              <a:buNone/>
            </a:pPr>
            <a:r>
              <a:rPr lang="en-US" sz="900" dirty="0">
                <a:solidFill>
                  <a:schemeClr val="tx1"/>
                </a:solidFill>
              </a:rPr>
              <a:t>high-frequency fault families</a:t>
            </a:r>
            <a:endParaRPr lang="en-US" sz="900" dirty="0"/>
          </a:p>
        </p:txBody>
      </p:sp>
      <p:sp>
        <p:nvSpPr>
          <p:cNvPr id="14" name="Shape 11"/>
          <p:cNvSpPr/>
          <p:nvPr/>
        </p:nvSpPr>
        <p:spPr>
          <a:xfrm>
            <a:off x="3749040" y="2670048"/>
            <a:ext cx="1444752" cy="786384"/>
          </a:xfrm>
          <a:prstGeom prst="roundRect">
            <a:avLst>
              <a:gd name="adj" fmla="val 6977"/>
            </a:avLst>
          </a:prstGeom>
          <a:solidFill>
            <a:schemeClr val="bg1"/>
          </a:solidFill>
          <a:ln w="9525">
            <a:solidFill>
              <a:schemeClr val="accent5"/>
            </a:solidFill>
            <a:prstDash val="solid"/>
          </a:ln>
        </p:spPr>
      </p:sp>
      <p:sp>
        <p:nvSpPr>
          <p:cNvPr id="15" name="Text 12"/>
          <p:cNvSpPr txBox="1"/>
          <p:nvPr/>
        </p:nvSpPr>
        <p:spPr>
          <a:xfrm>
            <a:off x="3858768" y="2715768"/>
            <a:ext cx="1280160" cy="347472"/>
          </a:xfrm>
          <a:prstGeom prst="rect">
            <a:avLst/>
          </a:prstGeom>
          <a:noFill/>
          <a:ln/>
        </p:spPr>
        <p:txBody>
          <a:bodyPr wrap="square" lIns="0" tIns="0" rIns="0" bIns="0" rtlCol="0" anchor="ctr"/>
          <a:lstStyle/>
          <a:p>
            <a:pPr indent="0" marL="0">
              <a:buNone/>
            </a:pPr>
            <a:r>
              <a:rPr lang="en-US" sz="2100" b="1" dirty="0">
                <a:solidFill>
                  <a:schemeClr val="accent1"/>
                </a:solidFill>
              </a:rPr>
              <a:t>25</a:t>
            </a:r>
            <a:endParaRPr lang="en-US" sz="2100" dirty="0"/>
          </a:p>
        </p:txBody>
      </p:sp>
      <p:sp>
        <p:nvSpPr>
          <p:cNvPr id="16" name="Text 13"/>
          <p:cNvSpPr txBox="1"/>
          <p:nvPr/>
        </p:nvSpPr>
        <p:spPr>
          <a:xfrm>
            <a:off x="3858768" y="3063240"/>
            <a:ext cx="1280160" cy="365760"/>
          </a:xfrm>
          <a:prstGeom prst="rect">
            <a:avLst/>
          </a:prstGeom>
          <a:noFill/>
          <a:ln/>
        </p:spPr>
        <p:txBody>
          <a:bodyPr wrap="square" lIns="0" tIns="0" rIns="0" bIns="0" rtlCol="0" anchor="t"/>
          <a:lstStyle/>
          <a:p>
            <a:pPr indent="0" marL="0">
              <a:buNone/>
            </a:pPr>
            <a:r>
              <a:rPr lang="en-US" sz="900" dirty="0">
                <a:solidFill>
                  <a:schemeClr val="tx1"/>
                </a:solidFill>
              </a:rPr>
              <a:t>top-selling models seeded in India</a:t>
            </a:r>
            <a:endParaRPr lang="en-US" sz="900" dirty="0"/>
          </a:p>
        </p:txBody>
      </p:sp>
      <p:sp>
        <p:nvSpPr>
          <p:cNvPr id="17" name="Why buildable"/>
          <p:cNvSpPr txBox="1"/>
          <p:nvPr/>
        </p:nvSpPr>
        <p:spPr>
          <a:xfrm>
            <a:off x="640080" y="3611880"/>
            <a:ext cx="4663440" cy="169164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chemeClr val="tx1"/>
                </a:solidFill>
              </a:rPr>
              <a:t>No model training: pretrained LLM/vision APIs; reasoning is rules + Bayes in plain Python</a:t>
            </a:r>
            <a:endParaRPr lang="en-US" sz="1100" dirty="0"/>
          </a:p>
          <a:p>
            <a:pPr marL="152400" indent="-152400">
              <a:spcAft>
                <a:spcPts val="700"/>
              </a:spcAft>
              <a:buSzPct val="100000"/>
              <a:buChar char="•"/>
            </a:pPr>
            <a:r>
              <a:rPr lang="en-US" sz="1100" dirty="0">
                <a:solidFill>
                  <a:schemeClr val="tx1"/>
                </a:solidFill>
              </a:rPr>
              <a:t>Real device evidence is free: Windows battery report, macOS system_profiler, browser sensor APIs</a:t>
            </a:r>
            <a:endParaRPr lang="en-US" sz="1100" dirty="0"/>
          </a:p>
          <a:p>
            <a:pPr marL="152400" indent="-152400">
              <a:spcAft>
                <a:spcPts val="700"/>
              </a:spcAft>
              <a:buSzPct val="100000"/>
              <a:buChar char="•"/>
            </a:pPr>
            <a:r>
              <a:rPr lang="en-US" sz="1100" dirty="0">
                <a:solidFill>
                  <a:schemeClr val="tx1"/>
                </a:solidFill>
              </a:rPr>
              <a:t>Knowledge base seeded from public spec sheets, service manuals and parts listings</a:t>
            </a:r>
            <a:endParaRPr lang="en-US" sz="1100" dirty="0"/>
          </a:p>
          <a:p>
            <a:pPr marL="152400" indent="-152400">
              <a:spcAft>
                <a:spcPts val="700"/>
              </a:spcAft>
              <a:buSzPct val="100000"/>
              <a:buChar char="•"/>
            </a:pPr>
            <a:r>
              <a:rPr lang="en-US" sz="1100" dirty="0">
                <a:solidFill>
                  <a:schemeClr val="tx1"/>
                </a:solidFill>
              </a:rPr>
              <a:t>Skills map 1:1 to modules (frontend, engine, AI, product); free-tier hosting</a:t>
            </a:r>
            <a:endParaRPr lang="en-US" sz="1100" dirty="0"/>
          </a:p>
        </p:txBody>
      </p:sp>
      <p:sp>
        <p:nvSpPr>
          <p:cNvPr id="18" name="Showstoppers panel"/>
          <p:cNvSpPr/>
          <p:nvPr/>
        </p:nvSpPr>
        <p:spPr>
          <a:xfrm>
            <a:off x="5669280" y="2057400"/>
            <a:ext cx="6080760" cy="3310128"/>
          </a:xfrm>
          <a:prstGeom prst="roundRect">
            <a:avLst>
              <a:gd name="adj" fmla="val 1934"/>
            </a:avLst>
          </a:prstGeom>
          <a:solidFill>
            <a:schemeClr val="bg2"/>
          </a:solidFill>
          <a:ln w="9525">
            <a:solidFill>
              <a:schemeClr val="accent5"/>
            </a:solidFill>
            <a:prstDash val="solid"/>
          </a:ln>
        </p:spPr>
      </p:sp>
      <p:sp>
        <p:nvSpPr>
          <p:cNvPr id="19" name="Shape 16"/>
          <p:cNvSpPr/>
          <p:nvPr/>
        </p:nvSpPr>
        <p:spPr>
          <a:xfrm>
            <a:off x="5852160" y="2194560"/>
            <a:ext cx="365760" cy="365760"/>
          </a:xfrm>
          <a:prstGeom prst="roundRect">
            <a:avLst>
              <a:gd name="adj" fmla="val 20000"/>
            </a:avLst>
          </a:prstGeom>
          <a:solidFill>
            <a:schemeClr val="accent6"/>
          </a:solidFill>
          <a:ln w="12700">
            <a:solidFill>
              <a:schemeClr val="accent6"/>
            </a:solidFill>
            <a:prstDash val="solid"/>
          </a:ln>
        </p:spPr>
      </p:sp>
      <p:pic>
        <p:nvPicPr>
          <p:cNvPr id="20" name="Image 1" descr="preencoded.png">    </p:cNvPr>
          <p:cNvPicPr>
            <a:picLocks noChangeAspect="1"/>
          </p:cNvPicPr>
          <p:nvPr/>
        </p:nvPicPr>
        <p:blipFill>
          <a:blip r:embed="rId2"/>
          <a:stretch>
            <a:fillRect/>
          </a:stretch>
        </p:blipFill>
        <p:spPr>
          <a:xfrm>
            <a:off x="5934456" y="2276856"/>
            <a:ext cx="201168" cy="201168"/>
          </a:xfrm>
          <a:prstGeom prst="rect">
            <a:avLst/>
          </a:prstGeom>
        </p:spPr>
      </p:pic>
      <p:sp>
        <p:nvSpPr>
          <p:cNvPr id="21" name="Section: Showstoppers"/>
          <p:cNvSpPr txBox="1"/>
          <p:nvPr/>
        </p:nvSpPr>
        <p:spPr>
          <a:xfrm>
            <a:off x="6327648" y="21945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Showstoppers</a:t>
            </a:r>
            <a:endParaRPr lang="en-US" sz="1800" dirty="0"/>
          </a:p>
        </p:txBody>
      </p:sp>
      <p:sp>
        <p:nvSpPr>
          <p:cNvPr id="22" name="Text 18"/>
          <p:cNvSpPr txBox="1"/>
          <p:nvPr/>
        </p:nvSpPr>
        <p:spPr>
          <a:xfrm>
            <a:off x="5852160" y="2651760"/>
            <a:ext cx="1828800" cy="201168"/>
          </a:xfrm>
          <a:prstGeom prst="rect">
            <a:avLst/>
          </a:prstGeom>
          <a:noFill/>
          <a:ln/>
        </p:spPr>
        <p:txBody>
          <a:bodyPr wrap="square" lIns="0" tIns="0" rIns="0" bIns="0" rtlCol="0" anchor="ctr"/>
          <a:lstStyle/>
          <a:p>
            <a:pPr indent="0" marL="0">
              <a:buNone/>
            </a:pPr>
            <a:r>
              <a:rPr lang="en-US" sz="850" b="1" spc="100" kern="0" dirty="0">
                <a:solidFill>
                  <a:schemeClr val="accent4"/>
                </a:solidFill>
              </a:rPr>
              <a:t>RISK</a:t>
            </a:r>
            <a:endParaRPr lang="en-US" sz="850" dirty="0"/>
          </a:p>
        </p:txBody>
      </p:sp>
      <p:sp>
        <p:nvSpPr>
          <p:cNvPr id="23" name="Text 19"/>
          <p:cNvSpPr txBox="1"/>
          <p:nvPr/>
        </p:nvSpPr>
        <p:spPr>
          <a:xfrm>
            <a:off x="7818120" y="2651760"/>
            <a:ext cx="3749040" cy="201168"/>
          </a:xfrm>
          <a:prstGeom prst="rect">
            <a:avLst/>
          </a:prstGeom>
          <a:noFill/>
          <a:ln/>
        </p:spPr>
        <p:txBody>
          <a:bodyPr wrap="square" lIns="0" tIns="0" rIns="0" bIns="0" rtlCol="0" anchor="ctr"/>
          <a:lstStyle/>
          <a:p>
            <a:pPr indent="0" marL="0">
              <a:buNone/>
            </a:pPr>
            <a:r>
              <a:rPr lang="en-US" sz="850" b="1" spc="100" kern="0" dirty="0">
                <a:solidFill>
                  <a:schemeClr val="accent4"/>
                </a:solidFill>
              </a:rPr>
              <a:t>MITIGATION</a:t>
            </a:r>
            <a:endParaRPr lang="en-US" sz="850" dirty="0"/>
          </a:p>
        </p:txBody>
      </p:sp>
      <p:sp>
        <p:nvSpPr>
          <p:cNvPr id="24" name="Shape 20"/>
          <p:cNvSpPr/>
          <p:nvPr/>
        </p:nvSpPr>
        <p:spPr>
          <a:xfrm>
            <a:off x="5852160" y="2871216"/>
            <a:ext cx="5715000" cy="0"/>
          </a:xfrm>
          <a:prstGeom prst="line">
            <a:avLst/>
          </a:prstGeom>
          <a:noFill/>
          <a:ln w="9525">
            <a:solidFill>
              <a:schemeClr val="accent5"/>
            </a:solidFill>
            <a:prstDash val="solid"/>
          </a:ln>
        </p:spPr>
      </p:sp>
      <p:pic>
        <p:nvPicPr>
          <p:cNvPr id="25" name="Image 2" descr="preencoded.png">    </p:cNvPr>
          <p:cNvPicPr>
            <a:picLocks noChangeAspect="1"/>
          </p:cNvPicPr>
          <p:nvPr/>
        </p:nvPicPr>
        <p:blipFill>
          <a:blip r:embed="rId3"/>
          <a:stretch>
            <a:fillRect/>
          </a:stretch>
        </p:blipFill>
        <p:spPr>
          <a:xfrm>
            <a:off x="5852160" y="3035808"/>
            <a:ext cx="73152" cy="73152"/>
          </a:xfrm>
          <a:prstGeom prst="rect">
            <a:avLst/>
          </a:prstGeom>
        </p:spPr>
      </p:pic>
      <p:sp>
        <p:nvSpPr>
          <p:cNvPr id="26" name="Text 21"/>
          <p:cNvSpPr txBox="1"/>
          <p:nvPr/>
        </p:nvSpPr>
        <p:spPr>
          <a:xfrm>
            <a:off x="5998464" y="2871216"/>
            <a:ext cx="1737360" cy="402336"/>
          </a:xfrm>
          <a:prstGeom prst="rect">
            <a:avLst/>
          </a:prstGeom>
          <a:noFill/>
          <a:ln/>
        </p:spPr>
        <p:txBody>
          <a:bodyPr wrap="square" lIns="0" tIns="0" rIns="0" bIns="0" rtlCol="0" anchor="ctr"/>
          <a:lstStyle/>
          <a:p>
            <a:pPr indent="0" marL="0">
              <a:buNone/>
            </a:pPr>
            <a:r>
              <a:rPr lang="en-US" sz="950" b="1" dirty="0">
                <a:solidFill>
                  <a:schemeClr val="tx1"/>
                </a:solidFill>
              </a:rPr>
              <a:t>Wrong or over-confident diagnosis</a:t>
            </a:r>
            <a:endParaRPr lang="en-US" sz="950" dirty="0"/>
          </a:p>
        </p:txBody>
      </p:sp>
      <p:sp>
        <p:nvSpPr>
          <p:cNvPr id="27" name="Text 22"/>
          <p:cNvSpPr txBox="1"/>
          <p:nvPr/>
        </p:nvSpPr>
        <p:spPr>
          <a:xfrm>
            <a:off x="7818120" y="2871216"/>
            <a:ext cx="3794760" cy="402336"/>
          </a:xfrm>
          <a:prstGeom prst="rect">
            <a:avLst/>
          </a:prstGeom>
          <a:noFill/>
          <a:ln/>
        </p:spPr>
        <p:txBody>
          <a:bodyPr wrap="square" lIns="0" tIns="0" rIns="0" bIns="0" rtlCol="0" anchor="ctr"/>
          <a:lstStyle/>
          <a:p>
            <a:pPr indent="0" marL="0">
              <a:buNone/>
            </a:pPr>
            <a:r>
              <a:rPr lang="en-US" sz="950" dirty="0">
                <a:solidFill>
                  <a:schemeClr val="tx1"/>
                </a:solidFill>
              </a:rPr>
              <a:t>LLM only extracts; the Bayesian engine decides and shows confidence. Low confidence ⇒ “get it inspected”, never “replace”.</a:t>
            </a:r>
            <a:endParaRPr lang="en-US" sz="950" dirty="0"/>
          </a:p>
        </p:txBody>
      </p:sp>
      <p:sp>
        <p:nvSpPr>
          <p:cNvPr id="28" name="Shape 23"/>
          <p:cNvSpPr/>
          <p:nvPr/>
        </p:nvSpPr>
        <p:spPr>
          <a:xfrm>
            <a:off x="5852160" y="3273552"/>
            <a:ext cx="5715000" cy="0"/>
          </a:xfrm>
          <a:prstGeom prst="line">
            <a:avLst/>
          </a:prstGeom>
          <a:noFill/>
          <a:ln w="9525">
            <a:solidFill>
              <a:schemeClr val="accent5"/>
            </a:solidFill>
            <a:prstDash val="solid"/>
          </a:ln>
        </p:spPr>
      </p:sp>
      <p:pic>
        <p:nvPicPr>
          <p:cNvPr id="29" name="Image 3" descr="preencoded.png">    </p:cNvPr>
          <p:cNvPicPr>
            <a:picLocks noChangeAspect="1"/>
          </p:cNvPicPr>
          <p:nvPr/>
        </p:nvPicPr>
        <p:blipFill>
          <a:blip r:embed="rId4"/>
          <a:stretch>
            <a:fillRect/>
          </a:stretch>
        </p:blipFill>
        <p:spPr>
          <a:xfrm>
            <a:off x="5852160" y="3438144"/>
            <a:ext cx="73152" cy="73152"/>
          </a:xfrm>
          <a:prstGeom prst="rect">
            <a:avLst/>
          </a:prstGeom>
        </p:spPr>
      </p:pic>
      <p:sp>
        <p:nvSpPr>
          <p:cNvPr id="30" name="Text 24"/>
          <p:cNvSpPr txBox="1"/>
          <p:nvPr/>
        </p:nvSpPr>
        <p:spPr>
          <a:xfrm>
            <a:off x="5998464" y="3273552"/>
            <a:ext cx="1737360" cy="402336"/>
          </a:xfrm>
          <a:prstGeom prst="rect">
            <a:avLst/>
          </a:prstGeom>
          <a:noFill/>
          <a:ln/>
        </p:spPr>
        <p:txBody>
          <a:bodyPr wrap="square" lIns="0" tIns="0" rIns="0" bIns="0" rtlCol="0" anchor="ctr"/>
          <a:lstStyle/>
          <a:p>
            <a:pPr indent="0" marL="0">
              <a:buNone/>
            </a:pPr>
            <a:r>
              <a:rPr lang="en-US" sz="950" b="1" dirty="0">
                <a:solidFill>
                  <a:schemeClr val="tx1"/>
                </a:solidFill>
              </a:rPr>
              <a:t>Unsafe DIY advice</a:t>
            </a:r>
            <a:endParaRPr lang="en-US" sz="950" dirty="0"/>
          </a:p>
        </p:txBody>
      </p:sp>
      <p:sp>
        <p:nvSpPr>
          <p:cNvPr id="31" name="Text 25"/>
          <p:cNvSpPr txBox="1"/>
          <p:nvPr/>
        </p:nvSpPr>
        <p:spPr>
          <a:xfrm>
            <a:off x="7818120" y="3273552"/>
            <a:ext cx="3794760" cy="402336"/>
          </a:xfrm>
          <a:prstGeom prst="rect">
            <a:avLst/>
          </a:prstGeom>
          <a:noFill/>
          <a:ln/>
        </p:spPr>
        <p:txBody>
          <a:bodyPr wrap="square" lIns="0" tIns="0" rIns="0" bIns="0" rtlCol="0" anchor="ctr"/>
          <a:lstStyle/>
          <a:p>
            <a:pPr indent="0" marL="0">
              <a:buNone/>
            </a:pPr>
            <a:r>
              <a:rPr lang="en-US" sz="950" dirty="0">
                <a:solidFill>
                  <a:schemeClr val="tx1"/>
                </a:solidFill>
              </a:rPr>
              <a:t>Hard safety gate: swollen battery, liquid or burning smell stops self-help and routes to a professional.</a:t>
            </a:r>
            <a:endParaRPr lang="en-US" sz="950" dirty="0"/>
          </a:p>
        </p:txBody>
      </p:sp>
      <p:sp>
        <p:nvSpPr>
          <p:cNvPr id="32" name="Shape 26"/>
          <p:cNvSpPr/>
          <p:nvPr/>
        </p:nvSpPr>
        <p:spPr>
          <a:xfrm>
            <a:off x="5852160" y="3675888"/>
            <a:ext cx="5715000" cy="0"/>
          </a:xfrm>
          <a:prstGeom prst="line">
            <a:avLst/>
          </a:prstGeom>
          <a:noFill/>
          <a:ln w="9525">
            <a:solidFill>
              <a:schemeClr val="accent5"/>
            </a:solidFill>
            <a:prstDash val="solid"/>
          </a:ln>
        </p:spPr>
      </p:sp>
      <p:pic>
        <p:nvPicPr>
          <p:cNvPr id="33" name="Image 4" descr="preencoded.png">    </p:cNvPr>
          <p:cNvPicPr>
            <a:picLocks noChangeAspect="1"/>
          </p:cNvPicPr>
          <p:nvPr/>
        </p:nvPicPr>
        <p:blipFill>
          <a:blip r:embed="rId5"/>
          <a:stretch>
            <a:fillRect/>
          </a:stretch>
        </p:blipFill>
        <p:spPr>
          <a:xfrm>
            <a:off x="5852160" y="3840480"/>
            <a:ext cx="73152" cy="73152"/>
          </a:xfrm>
          <a:prstGeom prst="rect">
            <a:avLst/>
          </a:prstGeom>
        </p:spPr>
      </p:pic>
      <p:sp>
        <p:nvSpPr>
          <p:cNvPr id="34" name="Text 27"/>
          <p:cNvSpPr txBox="1"/>
          <p:nvPr/>
        </p:nvSpPr>
        <p:spPr>
          <a:xfrm>
            <a:off x="5998464" y="3675888"/>
            <a:ext cx="1737360" cy="402336"/>
          </a:xfrm>
          <a:prstGeom prst="rect">
            <a:avLst/>
          </a:prstGeom>
          <a:noFill/>
          <a:ln/>
        </p:spPr>
        <p:txBody>
          <a:bodyPr wrap="square" lIns="0" tIns="0" rIns="0" bIns="0" rtlCol="0" anchor="ctr"/>
          <a:lstStyle/>
          <a:p>
            <a:pPr indent="0" marL="0">
              <a:buNone/>
            </a:pPr>
            <a:r>
              <a:rPr lang="en-US" sz="950" b="1" dirty="0">
                <a:solidFill>
                  <a:schemeClr val="tx1"/>
                </a:solidFill>
              </a:rPr>
              <a:t>Thin or volatile price data</a:t>
            </a:r>
            <a:endParaRPr lang="en-US" sz="950" dirty="0"/>
          </a:p>
        </p:txBody>
      </p:sp>
      <p:sp>
        <p:nvSpPr>
          <p:cNvPr id="35" name="Text 28"/>
          <p:cNvSpPr txBox="1"/>
          <p:nvPr/>
        </p:nvSpPr>
        <p:spPr>
          <a:xfrm>
            <a:off x="7818120" y="3675888"/>
            <a:ext cx="3794760" cy="402336"/>
          </a:xfrm>
          <a:prstGeom prst="rect">
            <a:avLst/>
          </a:prstGeom>
          <a:noFill/>
          <a:ln/>
        </p:spPr>
        <p:txBody>
          <a:bodyPr wrap="square" lIns="0" tIns="0" rIns="0" bIns="0" rtlCol="0" anchor="ctr"/>
          <a:lstStyle/>
          <a:p>
            <a:pPr indent="0" marL="0">
              <a:buNone/>
            </a:pPr>
            <a:r>
              <a:rPr lang="en-US" sz="950" dirty="0">
                <a:solidFill>
                  <a:schemeClr val="tx1"/>
                </a:solidFill>
              </a:rPr>
              <a:t>₹ bands labelled indicative, with source and date; partner-shop quotes refine them.</a:t>
            </a:r>
            <a:endParaRPr lang="en-US" sz="950" dirty="0"/>
          </a:p>
        </p:txBody>
      </p:sp>
      <p:sp>
        <p:nvSpPr>
          <p:cNvPr id="36" name="Shape 29"/>
          <p:cNvSpPr/>
          <p:nvPr/>
        </p:nvSpPr>
        <p:spPr>
          <a:xfrm>
            <a:off x="5852160" y="4078224"/>
            <a:ext cx="5715000" cy="0"/>
          </a:xfrm>
          <a:prstGeom prst="line">
            <a:avLst/>
          </a:prstGeom>
          <a:noFill/>
          <a:ln w="9525">
            <a:solidFill>
              <a:schemeClr val="accent5"/>
            </a:solidFill>
            <a:prstDash val="solid"/>
          </a:ln>
        </p:spPr>
      </p:sp>
      <p:pic>
        <p:nvPicPr>
          <p:cNvPr id="37" name="Image 5" descr="preencoded.png">    </p:cNvPr>
          <p:cNvPicPr>
            <a:picLocks noChangeAspect="1"/>
          </p:cNvPicPr>
          <p:nvPr/>
        </p:nvPicPr>
        <p:blipFill>
          <a:blip r:embed="rId6"/>
          <a:stretch>
            <a:fillRect/>
          </a:stretch>
        </p:blipFill>
        <p:spPr>
          <a:xfrm>
            <a:off x="5852160" y="4242816"/>
            <a:ext cx="73152" cy="73152"/>
          </a:xfrm>
          <a:prstGeom prst="rect">
            <a:avLst/>
          </a:prstGeom>
        </p:spPr>
      </p:pic>
      <p:sp>
        <p:nvSpPr>
          <p:cNvPr id="38" name="Text 30"/>
          <p:cNvSpPr txBox="1"/>
          <p:nvPr/>
        </p:nvSpPr>
        <p:spPr>
          <a:xfrm>
            <a:off x="5998464" y="4078224"/>
            <a:ext cx="1737360" cy="402336"/>
          </a:xfrm>
          <a:prstGeom prst="rect">
            <a:avLst/>
          </a:prstGeom>
          <a:noFill/>
          <a:ln/>
        </p:spPr>
        <p:txBody>
          <a:bodyPr wrap="square" lIns="0" tIns="0" rIns="0" bIns="0" rtlCol="0" anchor="ctr"/>
          <a:lstStyle/>
          <a:p>
            <a:pPr indent="0" marL="0">
              <a:buNone/>
            </a:pPr>
            <a:r>
              <a:rPr lang="en-US" sz="950" b="1" dirty="0">
                <a:solidFill>
                  <a:schemeClr val="tx1"/>
                </a:solidFill>
              </a:rPr>
              <a:t>Long tail of device models</a:t>
            </a:r>
            <a:endParaRPr lang="en-US" sz="950" dirty="0"/>
          </a:p>
        </p:txBody>
      </p:sp>
      <p:sp>
        <p:nvSpPr>
          <p:cNvPr id="39" name="Text 31"/>
          <p:cNvSpPr txBox="1"/>
          <p:nvPr/>
        </p:nvSpPr>
        <p:spPr>
          <a:xfrm>
            <a:off x="7818120" y="4078224"/>
            <a:ext cx="3794760" cy="402336"/>
          </a:xfrm>
          <a:prstGeom prst="rect">
            <a:avLst/>
          </a:prstGeom>
          <a:noFill/>
          <a:ln/>
        </p:spPr>
        <p:txBody>
          <a:bodyPr wrap="square" lIns="0" tIns="0" rIns="0" bIns="0" rtlCol="0" anchor="ctr"/>
          <a:lstStyle/>
          <a:p>
            <a:pPr indent="0" marL="0">
              <a:buNone/>
            </a:pPr>
            <a:r>
              <a:rPr lang="en-US" sz="950" dirty="0">
                <a:solidFill>
                  <a:schemeClr val="tx1"/>
                </a:solidFill>
              </a:rPr>
              <a:t>Category-level priors as fallback; manual model entry when OCR fails.</a:t>
            </a:r>
            <a:endParaRPr lang="en-US" sz="950" dirty="0"/>
          </a:p>
        </p:txBody>
      </p:sp>
      <p:sp>
        <p:nvSpPr>
          <p:cNvPr id="40" name="Shape 32"/>
          <p:cNvSpPr/>
          <p:nvPr/>
        </p:nvSpPr>
        <p:spPr>
          <a:xfrm>
            <a:off x="5852160" y="4480560"/>
            <a:ext cx="5715000" cy="0"/>
          </a:xfrm>
          <a:prstGeom prst="line">
            <a:avLst/>
          </a:prstGeom>
          <a:noFill/>
          <a:ln w="9525">
            <a:solidFill>
              <a:schemeClr val="accent5"/>
            </a:solidFill>
            <a:prstDash val="solid"/>
          </a:ln>
        </p:spPr>
      </p:sp>
      <p:pic>
        <p:nvPicPr>
          <p:cNvPr id="41" name="Image 6" descr="preencoded.png">    </p:cNvPr>
          <p:cNvPicPr>
            <a:picLocks noChangeAspect="1"/>
          </p:cNvPicPr>
          <p:nvPr/>
        </p:nvPicPr>
        <p:blipFill>
          <a:blip r:embed="rId7"/>
          <a:stretch>
            <a:fillRect/>
          </a:stretch>
        </p:blipFill>
        <p:spPr>
          <a:xfrm>
            <a:off x="5852160" y="4645152"/>
            <a:ext cx="73152" cy="73152"/>
          </a:xfrm>
          <a:prstGeom prst="rect">
            <a:avLst/>
          </a:prstGeom>
        </p:spPr>
      </p:pic>
      <p:sp>
        <p:nvSpPr>
          <p:cNvPr id="42" name="Text 33"/>
          <p:cNvSpPr txBox="1"/>
          <p:nvPr/>
        </p:nvSpPr>
        <p:spPr>
          <a:xfrm>
            <a:off x="5998464" y="4480560"/>
            <a:ext cx="1737360" cy="402336"/>
          </a:xfrm>
          <a:prstGeom prst="rect">
            <a:avLst/>
          </a:prstGeom>
          <a:noFill/>
          <a:ln/>
        </p:spPr>
        <p:txBody>
          <a:bodyPr wrap="square" lIns="0" tIns="0" rIns="0" bIns="0" rtlCol="0" anchor="ctr"/>
          <a:lstStyle/>
          <a:p>
            <a:pPr indent="0" marL="0">
              <a:buNone/>
            </a:pPr>
            <a:r>
              <a:rPr lang="en-US" sz="950" b="1" dirty="0">
                <a:solidFill>
                  <a:schemeClr val="tx1"/>
                </a:solidFill>
              </a:rPr>
              <a:t>LLM latency, cost or outage</a:t>
            </a:r>
            <a:endParaRPr lang="en-US" sz="950" dirty="0"/>
          </a:p>
        </p:txBody>
      </p:sp>
      <p:sp>
        <p:nvSpPr>
          <p:cNvPr id="43" name="Text 34"/>
          <p:cNvSpPr txBox="1"/>
          <p:nvPr/>
        </p:nvSpPr>
        <p:spPr>
          <a:xfrm>
            <a:off x="7818120" y="4480560"/>
            <a:ext cx="3794760" cy="402336"/>
          </a:xfrm>
          <a:prstGeom prst="rect">
            <a:avLst/>
          </a:prstGeom>
          <a:noFill/>
          <a:ln/>
        </p:spPr>
        <p:txBody>
          <a:bodyPr wrap="square" lIns="0" tIns="0" rIns="0" bIns="0" rtlCol="0" anchor="ctr"/>
          <a:lstStyle/>
          <a:p>
            <a:pPr indent="0" marL="0">
              <a:buNone/>
            </a:pPr>
            <a:r>
              <a:rPr lang="en-US" sz="950" dirty="0">
                <a:solidFill>
                  <a:schemeClr val="tx1"/>
                </a:solidFill>
              </a:rPr>
              <a:t>Schema-bound, cached calls; rule-only fallback keeps the core flow running.</a:t>
            </a:r>
            <a:endParaRPr lang="en-US" sz="950" dirty="0"/>
          </a:p>
        </p:txBody>
      </p:sp>
      <p:sp>
        <p:nvSpPr>
          <p:cNvPr id="44" name="Shape 35"/>
          <p:cNvSpPr/>
          <p:nvPr/>
        </p:nvSpPr>
        <p:spPr>
          <a:xfrm>
            <a:off x="5852160" y="4882896"/>
            <a:ext cx="5715000" cy="0"/>
          </a:xfrm>
          <a:prstGeom prst="line">
            <a:avLst/>
          </a:prstGeom>
          <a:noFill/>
          <a:ln w="9525">
            <a:solidFill>
              <a:schemeClr val="accent5"/>
            </a:solidFill>
            <a:prstDash val="solid"/>
          </a:ln>
        </p:spPr>
      </p:sp>
      <p:pic>
        <p:nvPicPr>
          <p:cNvPr id="45" name="Image 7" descr="preencoded.png">    </p:cNvPr>
          <p:cNvPicPr>
            <a:picLocks noChangeAspect="1"/>
          </p:cNvPicPr>
          <p:nvPr/>
        </p:nvPicPr>
        <p:blipFill>
          <a:blip r:embed="rId8"/>
          <a:stretch>
            <a:fillRect/>
          </a:stretch>
        </p:blipFill>
        <p:spPr>
          <a:xfrm>
            <a:off x="5852160" y="5047488"/>
            <a:ext cx="73152" cy="73152"/>
          </a:xfrm>
          <a:prstGeom prst="rect">
            <a:avLst/>
          </a:prstGeom>
        </p:spPr>
      </p:pic>
      <p:sp>
        <p:nvSpPr>
          <p:cNvPr id="46" name="Text 36"/>
          <p:cNvSpPr txBox="1"/>
          <p:nvPr/>
        </p:nvSpPr>
        <p:spPr>
          <a:xfrm>
            <a:off x="5998464" y="4882896"/>
            <a:ext cx="1737360" cy="402336"/>
          </a:xfrm>
          <a:prstGeom prst="rect">
            <a:avLst/>
          </a:prstGeom>
          <a:noFill/>
          <a:ln/>
        </p:spPr>
        <p:txBody>
          <a:bodyPr wrap="square" lIns="0" tIns="0" rIns="0" bIns="0" rtlCol="0" anchor="ctr"/>
          <a:lstStyle/>
          <a:p>
            <a:pPr indent="0" marL="0">
              <a:buNone/>
            </a:pPr>
            <a:r>
              <a:rPr lang="en-US" sz="950" b="1" dirty="0">
                <a:solidFill>
                  <a:schemeClr val="tx1"/>
                </a:solidFill>
              </a:rPr>
              <a:t>Privacy of IMEI and photos</a:t>
            </a:r>
            <a:endParaRPr lang="en-US" sz="950" dirty="0"/>
          </a:p>
        </p:txBody>
      </p:sp>
      <p:sp>
        <p:nvSpPr>
          <p:cNvPr id="47" name="Text 37"/>
          <p:cNvSpPr txBox="1"/>
          <p:nvPr/>
        </p:nvSpPr>
        <p:spPr>
          <a:xfrm>
            <a:off x="7818120" y="4882896"/>
            <a:ext cx="3794760" cy="402336"/>
          </a:xfrm>
          <a:prstGeom prst="rect">
            <a:avLst/>
          </a:prstGeom>
          <a:noFill/>
          <a:ln/>
        </p:spPr>
        <p:txBody>
          <a:bodyPr wrap="square" lIns="0" tIns="0" rIns="0" bIns="0" rtlCol="0" anchor="ctr"/>
          <a:lstStyle/>
          <a:p>
            <a:pPr indent="0" marL="0">
              <a:buNone/>
            </a:pPr>
            <a:r>
              <a:rPr lang="en-US" sz="950" dirty="0">
                <a:solidFill>
                  <a:schemeClr val="tx1"/>
                </a:solidFill>
              </a:rPr>
              <a:t>Hashed device IDs, consent-first uploads; photos deleted unless saved to the Passport.</a:t>
            </a:r>
            <a:endParaRPr lang="en-US" sz="950" dirty="0"/>
          </a:p>
        </p:txBody>
      </p:sp>
      <p:sp>
        <p:nvSpPr>
          <p:cNvPr id="48" name="Text 38"/>
          <p:cNvSpPr txBox="1"/>
          <p:nvPr/>
        </p:nvSpPr>
        <p:spPr>
          <a:xfrm>
            <a:off x="457200" y="5504688"/>
            <a:ext cx="11292840" cy="219456"/>
          </a:xfrm>
          <a:prstGeom prst="rect">
            <a:avLst/>
          </a:prstGeom>
          <a:noFill/>
          <a:ln/>
        </p:spPr>
        <p:txBody>
          <a:bodyPr wrap="square" lIns="0" tIns="0" rIns="0" bIns="0" rtlCol="0" anchor="ctr"/>
          <a:lstStyle/>
          <a:p>
            <a:pPr indent="0" marL="0">
              <a:buNone/>
            </a:pPr>
            <a:r>
              <a:rPr lang="en-US" sz="900" b="1" spc="50" kern="0" dirty="0">
                <a:solidFill>
                  <a:schemeClr val="tx1"/>
                </a:solidFill>
              </a:rPr>
              <a:t>24-HOUR BUILD PLAN</a:t>
            </a:r>
            <a:pPr indent="0" marL="0">
              <a:buNone/>
            </a:pPr>
            <a:r>
              <a:rPr lang="en-US" sz="900" spc="50" kern="0" dirty="0">
                <a:solidFill>
                  <a:schemeClr val="accent4"/>
                </a:solidFill>
              </a:rPr>
              <a:t>  ·  demo-first: one complete flow (“laptop won't hold charge”) working by hour 15</a:t>
            </a:r>
            <a:endParaRPr lang="en-US" sz="900" dirty="0"/>
          </a:p>
        </p:txBody>
      </p:sp>
      <p:sp>
        <p:nvSpPr>
          <p:cNvPr id="49" name="Shape 39"/>
          <p:cNvSpPr/>
          <p:nvPr/>
        </p:nvSpPr>
        <p:spPr>
          <a:xfrm>
            <a:off x="457200" y="5760720"/>
            <a:ext cx="1844040" cy="566928"/>
          </a:xfrm>
          <a:prstGeom prst="roundRect">
            <a:avLst>
              <a:gd name="adj" fmla="val 8065"/>
            </a:avLst>
          </a:prstGeom>
          <a:solidFill>
            <a:schemeClr val="tx2"/>
          </a:solidFill>
          <a:ln w="12700">
            <a:solidFill>
              <a:schemeClr val="tx2"/>
            </a:solidFill>
            <a:prstDash val="solid"/>
          </a:ln>
        </p:spPr>
      </p:sp>
      <p:sp>
        <p:nvSpPr>
          <p:cNvPr id="50" name="Text 40"/>
          <p:cNvSpPr txBox="1"/>
          <p:nvPr/>
        </p:nvSpPr>
        <p:spPr>
          <a:xfrm>
            <a:off x="530352" y="5779008"/>
            <a:ext cx="1716024" cy="530352"/>
          </a:xfrm>
          <a:prstGeom prst="rect">
            <a:avLst/>
          </a:prstGeom>
          <a:noFill/>
          <a:ln/>
        </p:spPr>
        <p:txBody>
          <a:bodyPr wrap="square" lIns="0" tIns="0" rIns="0" bIns="0" rtlCol="0" anchor="ctr"/>
          <a:lstStyle/>
          <a:p>
            <a:pPr indent="0" marL="0">
              <a:buNone/>
            </a:pPr>
            <a:r>
              <a:rPr lang="en-US" sz="850" b="1" dirty="0">
                <a:solidFill>
                  <a:srgbClr val="F29AAA"/>
                </a:solidFill>
              </a:rPr>
              <a:t>0–4h</a:t>
            </a:r>
            <a:endParaRPr lang="en-US" sz="850" dirty="0"/>
          </a:p>
          <a:p>
            <a:pPr indent="0" marL="0">
              <a:buNone/>
            </a:pPr>
            <a:r>
              <a:rPr lang="en-US" sz="900" dirty="0">
                <a:solidFill>
                  <a:schemeClr val="bg1"/>
                </a:solidFill>
              </a:rPr>
              <a:t>Scaffold: UI, DB, API contracts</a:t>
            </a:r>
            <a:endParaRPr lang="en-US" sz="850" dirty="0"/>
          </a:p>
        </p:txBody>
      </p:sp>
      <p:sp>
        <p:nvSpPr>
          <p:cNvPr id="51" name="Shape 41"/>
          <p:cNvSpPr/>
          <p:nvPr/>
        </p:nvSpPr>
        <p:spPr>
          <a:xfrm>
            <a:off x="2346960" y="5760720"/>
            <a:ext cx="2766060" cy="566928"/>
          </a:xfrm>
          <a:prstGeom prst="roundRect">
            <a:avLst>
              <a:gd name="adj" fmla="val 8065"/>
            </a:avLst>
          </a:prstGeom>
          <a:solidFill>
            <a:srgbClr val="2C3A4B"/>
          </a:solidFill>
          <a:ln w="12700">
            <a:solidFill>
              <a:srgbClr val="2C3A4B"/>
            </a:solidFill>
            <a:prstDash val="solid"/>
          </a:ln>
        </p:spPr>
      </p:sp>
      <p:sp>
        <p:nvSpPr>
          <p:cNvPr id="52" name="Text 42"/>
          <p:cNvSpPr txBox="1"/>
          <p:nvPr/>
        </p:nvSpPr>
        <p:spPr>
          <a:xfrm>
            <a:off x="2420112" y="5779008"/>
            <a:ext cx="2638044" cy="530352"/>
          </a:xfrm>
          <a:prstGeom prst="rect">
            <a:avLst/>
          </a:prstGeom>
          <a:noFill/>
          <a:ln/>
        </p:spPr>
        <p:txBody>
          <a:bodyPr wrap="square" lIns="0" tIns="0" rIns="0" bIns="0" rtlCol="0" anchor="ctr"/>
          <a:lstStyle/>
          <a:p>
            <a:pPr indent="0" marL="0">
              <a:buNone/>
            </a:pPr>
            <a:r>
              <a:rPr lang="en-US" sz="850" b="1" dirty="0">
                <a:solidFill>
                  <a:srgbClr val="F29AAA"/>
                </a:solidFill>
              </a:rPr>
              <a:t>4–10h</a:t>
            </a:r>
            <a:endParaRPr lang="en-US" sz="850" dirty="0"/>
          </a:p>
          <a:p>
            <a:pPr indent="0" marL="0">
              <a:buNone/>
            </a:pPr>
            <a:r>
              <a:rPr lang="en-US" sz="900" dirty="0">
                <a:solidFill>
                  <a:schemeClr val="bg1"/>
                </a:solidFill>
              </a:rPr>
              <a:t>Knowledge base + Bayesian engine</a:t>
            </a:r>
            <a:endParaRPr lang="en-US" sz="850" dirty="0"/>
          </a:p>
        </p:txBody>
      </p:sp>
      <p:sp>
        <p:nvSpPr>
          <p:cNvPr id="53" name="Shape 43"/>
          <p:cNvSpPr/>
          <p:nvPr/>
        </p:nvSpPr>
        <p:spPr>
          <a:xfrm>
            <a:off x="5158740" y="5760720"/>
            <a:ext cx="2305050" cy="566928"/>
          </a:xfrm>
          <a:prstGeom prst="roundRect">
            <a:avLst>
              <a:gd name="adj" fmla="val 8065"/>
            </a:avLst>
          </a:prstGeom>
          <a:solidFill>
            <a:schemeClr val="tx2"/>
          </a:solidFill>
          <a:ln w="12700">
            <a:solidFill>
              <a:schemeClr val="tx2"/>
            </a:solidFill>
            <a:prstDash val="solid"/>
          </a:ln>
        </p:spPr>
      </p:sp>
      <p:sp>
        <p:nvSpPr>
          <p:cNvPr id="54" name="Text 44"/>
          <p:cNvSpPr txBox="1"/>
          <p:nvPr/>
        </p:nvSpPr>
        <p:spPr>
          <a:xfrm>
            <a:off x="5231892" y="5779008"/>
            <a:ext cx="2177034" cy="530352"/>
          </a:xfrm>
          <a:prstGeom prst="rect">
            <a:avLst/>
          </a:prstGeom>
          <a:noFill/>
          <a:ln/>
        </p:spPr>
        <p:txBody>
          <a:bodyPr wrap="square" lIns="0" tIns="0" rIns="0" bIns="0" rtlCol="0" anchor="ctr"/>
          <a:lstStyle/>
          <a:p>
            <a:pPr indent="0" marL="0">
              <a:buNone/>
            </a:pPr>
            <a:r>
              <a:rPr lang="en-US" sz="850" b="1" dirty="0">
                <a:solidFill>
                  <a:srgbClr val="F29AAA"/>
                </a:solidFill>
              </a:rPr>
              <a:t>10–15h</a:t>
            </a:r>
            <a:endParaRPr lang="en-US" sz="850" dirty="0"/>
          </a:p>
          <a:p>
            <a:pPr indent="0" marL="0">
              <a:buNone/>
            </a:pPr>
            <a:r>
              <a:rPr lang="en-US" sz="900" dirty="0">
                <a:solidFill>
                  <a:schemeClr val="bg1"/>
                </a:solidFill>
              </a:rPr>
              <a:t>AI evidence: LLM, OCR, battery report</a:t>
            </a:r>
            <a:endParaRPr lang="en-US" sz="850" dirty="0"/>
          </a:p>
        </p:txBody>
      </p:sp>
      <p:sp>
        <p:nvSpPr>
          <p:cNvPr id="55" name="Shape 45"/>
          <p:cNvSpPr/>
          <p:nvPr/>
        </p:nvSpPr>
        <p:spPr>
          <a:xfrm>
            <a:off x="7509510" y="5760720"/>
            <a:ext cx="1844040" cy="566928"/>
          </a:xfrm>
          <a:prstGeom prst="roundRect">
            <a:avLst>
              <a:gd name="adj" fmla="val 8065"/>
            </a:avLst>
          </a:prstGeom>
          <a:solidFill>
            <a:srgbClr val="2C3A4B"/>
          </a:solidFill>
          <a:ln w="12700">
            <a:solidFill>
              <a:srgbClr val="2C3A4B"/>
            </a:solidFill>
            <a:prstDash val="solid"/>
          </a:ln>
        </p:spPr>
      </p:sp>
      <p:sp>
        <p:nvSpPr>
          <p:cNvPr id="56" name="Text 46"/>
          <p:cNvSpPr txBox="1"/>
          <p:nvPr/>
        </p:nvSpPr>
        <p:spPr>
          <a:xfrm>
            <a:off x="7582662" y="5779008"/>
            <a:ext cx="1716024" cy="530352"/>
          </a:xfrm>
          <a:prstGeom prst="rect">
            <a:avLst/>
          </a:prstGeom>
          <a:noFill/>
          <a:ln/>
        </p:spPr>
        <p:txBody>
          <a:bodyPr wrap="square" lIns="0" tIns="0" rIns="0" bIns="0" rtlCol="0" anchor="ctr"/>
          <a:lstStyle/>
          <a:p>
            <a:pPr indent="0" marL="0">
              <a:buNone/>
            </a:pPr>
            <a:r>
              <a:rPr lang="en-US" sz="850" b="1" dirty="0">
                <a:solidFill>
                  <a:srgbClr val="F29AAA"/>
                </a:solidFill>
              </a:rPr>
              <a:t>15–19h</a:t>
            </a:r>
            <a:endParaRPr lang="en-US" sz="850" dirty="0"/>
          </a:p>
          <a:p>
            <a:pPr indent="0" marL="0">
              <a:buNone/>
            </a:pPr>
            <a:r>
              <a:rPr lang="en-US" sz="900" dirty="0">
                <a:solidFill>
                  <a:schemeClr val="bg1"/>
                </a:solidFill>
              </a:rPr>
              <a:t>Decision, economics, safety gate</a:t>
            </a:r>
            <a:endParaRPr lang="en-US" sz="850" dirty="0"/>
          </a:p>
        </p:txBody>
      </p:sp>
      <p:sp>
        <p:nvSpPr>
          <p:cNvPr id="57" name="Shape 47"/>
          <p:cNvSpPr/>
          <p:nvPr/>
        </p:nvSpPr>
        <p:spPr>
          <a:xfrm>
            <a:off x="9399270" y="5760720"/>
            <a:ext cx="1383030" cy="566928"/>
          </a:xfrm>
          <a:prstGeom prst="roundRect">
            <a:avLst>
              <a:gd name="adj" fmla="val 8065"/>
            </a:avLst>
          </a:prstGeom>
          <a:solidFill>
            <a:schemeClr val="tx2"/>
          </a:solidFill>
          <a:ln w="12700">
            <a:solidFill>
              <a:schemeClr val="tx2"/>
            </a:solidFill>
            <a:prstDash val="solid"/>
          </a:ln>
        </p:spPr>
      </p:sp>
      <p:sp>
        <p:nvSpPr>
          <p:cNvPr id="58" name="Text 48"/>
          <p:cNvSpPr txBox="1"/>
          <p:nvPr/>
        </p:nvSpPr>
        <p:spPr>
          <a:xfrm>
            <a:off x="9472422" y="5779008"/>
            <a:ext cx="1255014" cy="530352"/>
          </a:xfrm>
          <a:prstGeom prst="rect">
            <a:avLst/>
          </a:prstGeom>
          <a:noFill/>
          <a:ln/>
        </p:spPr>
        <p:txBody>
          <a:bodyPr wrap="square" lIns="0" tIns="0" rIns="0" bIns="0" rtlCol="0" anchor="ctr"/>
          <a:lstStyle/>
          <a:p>
            <a:pPr indent="0" marL="0">
              <a:buNone/>
            </a:pPr>
            <a:r>
              <a:rPr lang="en-US" sz="850" b="1" dirty="0">
                <a:solidFill>
                  <a:srgbClr val="F29AAA"/>
                </a:solidFill>
              </a:rPr>
              <a:t>19–22h</a:t>
            </a:r>
            <a:endParaRPr lang="en-US" sz="850" dirty="0"/>
          </a:p>
          <a:p>
            <a:pPr indent="0" marL="0">
              <a:buNone/>
            </a:pPr>
            <a:r>
              <a:rPr lang="en-US" sz="900" dirty="0">
                <a:solidFill>
                  <a:schemeClr val="bg1"/>
                </a:solidFill>
              </a:rPr>
              <a:t>Report + Repair Passport</a:t>
            </a:r>
            <a:endParaRPr lang="en-US" sz="850" dirty="0"/>
          </a:p>
        </p:txBody>
      </p:sp>
      <p:sp>
        <p:nvSpPr>
          <p:cNvPr id="59" name="Shape 49"/>
          <p:cNvSpPr/>
          <p:nvPr/>
        </p:nvSpPr>
        <p:spPr>
          <a:xfrm>
            <a:off x="10828020" y="5760720"/>
            <a:ext cx="922020" cy="566928"/>
          </a:xfrm>
          <a:prstGeom prst="roundRect">
            <a:avLst>
              <a:gd name="adj" fmla="val 8065"/>
            </a:avLst>
          </a:prstGeom>
          <a:solidFill>
            <a:srgbClr val="2C3A4B"/>
          </a:solidFill>
          <a:ln w="12700">
            <a:solidFill>
              <a:srgbClr val="2C3A4B"/>
            </a:solidFill>
            <a:prstDash val="solid"/>
          </a:ln>
        </p:spPr>
      </p:sp>
      <p:sp>
        <p:nvSpPr>
          <p:cNvPr id="60" name="Text 50"/>
          <p:cNvSpPr txBox="1"/>
          <p:nvPr/>
        </p:nvSpPr>
        <p:spPr>
          <a:xfrm>
            <a:off x="10901172" y="5779008"/>
            <a:ext cx="794004" cy="530352"/>
          </a:xfrm>
          <a:prstGeom prst="rect">
            <a:avLst/>
          </a:prstGeom>
          <a:noFill/>
          <a:ln/>
        </p:spPr>
        <p:txBody>
          <a:bodyPr wrap="square" lIns="0" tIns="0" rIns="0" bIns="0" rtlCol="0" anchor="ctr"/>
          <a:lstStyle/>
          <a:p>
            <a:pPr indent="0" marL="0">
              <a:buNone/>
            </a:pPr>
            <a:r>
              <a:rPr lang="en-US" sz="850" b="1" dirty="0">
                <a:solidFill>
                  <a:srgbClr val="F29AAA"/>
                </a:solidFill>
              </a:rPr>
              <a:t>22–24h</a:t>
            </a:r>
            <a:endParaRPr lang="en-US" sz="850" dirty="0"/>
          </a:p>
          <a:p>
            <a:pPr indent="0" marL="0">
              <a:buNone/>
            </a:pPr>
            <a:r>
              <a:rPr lang="en-US" sz="900" dirty="0">
                <a:solidFill>
                  <a:schemeClr val="bg1"/>
                </a:solidFill>
              </a:rPr>
              <a:t>Test &amp; demo polish</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2514600" y="146304"/>
            <a:ext cx="7086600" cy="987552"/>
          </a:xfrm>
          <a:prstGeom prst="rect">
            <a:avLst/>
          </a:prstGeom>
          <a:noFill/>
          <a:ln/>
        </p:spPr>
        <p:txBody>
          <a:bodyPr wrap="square" lIns="0" tIns="0" rIns="0" bIns="0" rtlCol="0" anchor="ctr"/>
          <a:lstStyle/>
          <a:p>
            <a:pPr algn="ctr" indent="0" marL="0">
              <a:buNone/>
            </a:pPr>
            <a:r>
              <a:rPr lang="en-US" sz="2700" b="1" dirty="0">
                <a:solidFill>
                  <a:schemeClr val="tx1"/>
                </a:solidFill>
                <a:latin typeface="Georgia" pitchFamily="34" charset="0"/>
                <a:ea typeface="Georgia" pitchFamily="34" charset="-122"/>
                <a:cs typeface="Georgia" pitchFamily="34" charset="-120"/>
              </a:rPr>
              <a:t>USP(UNIQUE SELLING PRICE) &amp;</a:t>
            </a:r>
            <a:endParaRPr lang="en-US" sz="2700" dirty="0"/>
          </a:p>
          <a:p>
            <a:pPr algn="ctr" indent="0" marL="0">
              <a:buNone/>
            </a:pPr>
            <a:r>
              <a:rPr lang="en-US" sz="2700" b="1" dirty="0">
                <a:solidFill>
                  <a:schemeClr val="tx1"/>
                </a:solidFill>
                <a:latin typeface="Georgia" pitchFamily="34" charset="0"/>
                <a:ea typeface="Georgia" pitchFamily="34" charset="-122"/>
                <a:cs typeface="Georgia" pitchFamily="34" charset="-120"/>
              </a:rPr>
              <a:t>BUSINESS MODEL</a:t>
            </a:r>
            <a:endParaRPr lang="en-US" sz="2700" dirty="0"/>
          </a:p>
        </p:txBody>
      </p:sp>
      <p:sp>
        <p:nvSpPr>
          <p:cNvPr id="3" name="Key message"/>
          <p:cNvSpPr txBox="1"/>
          <p:nvPr/>
        </p:nvSpPr>
        <p:spPr>
          <a:xfrm>
            <a:off x="2743200" y="1005840"/>
            <a:ext cx="9006840" cy="704088"/>
          </a:xfrm>
          <a:prstGeom prst="rect">
            <a:avLst/>
          </a:prstGeom>
          <a:noFill/>
          <a:ln/>
        </p:spPr>
        <p:txBody>
          <a:bodyPr wrap="square" lIns="0" tIns="0" rIns="0" bIns="0" rtlCol="0" anchor="ctr"/>
          <a:lstStyle/>
          <a:p>
            <a:pPr indent="0" marL="0">
              <a:buNone/>
            </a:pPr>
            <a:r>
              <a:rPr lang="en-US" sz="1500" dirty="0">
                <a:solidFill>
                  <a:schemeClr val="tx1"/>
                </a:solidFill>
              </a:rPr>
              <a:t>We earn whether a device is </a:t>
            </a:r>
            <a:pPr indent="0" marL="0">
              <a:buNone/>
            </a:pPr>
            <a:r>
              <a:rPr lang="en-US" sz="1500" b="1" dirty="0">
                <a:solidFill>
                  <a:schemeClr val="accent1"/>
                </a:solidFill>
              </a:rPr>
              <a:t>repaired, resold or recycled</a:t>
            </a:r>
            <a:pPr indent="0" marL="0">
              <a:buNone/>
            </a:pPr>
            <a:r>
              <a:rPr lang="en-US" sz="1500" dirty="0">
                <a:solidFill>
                  <a:schemeClr val="tx1"/>
                </a:solidFill>
              </a:rPr>
              <a:t> — so the advice stays honest.</a:t>
            </a:r>
            <a:endParaRPr lang="en-US" sz="1500" dirty="0"/>
          </a:p>
        </p:txBody>
      </p:sp>
      <p:sp>
        <p:nvSpPr>
          <p:cNvPr id="4" name="USP panel"/>
          <p:cNvSpPr/>
          <p:nvPr/>
        </p:nvSpPr>
        <p:spPr>
          <a:xfrm>
            <a:off x="457200" y="2057400"/>
            <a:ext cx="5257800" cy="4261104"/>
          </a:xfrm>
          <a:prstGeom prst="roundRect">
            <a:avLst>
              <a:gd name="adj" fmla="val 1502"/>
            </a:avLst>
          </a:prstGeom>
          <a:solidFill>
            <a:schemeClr val="bg2"/>
          </a:solidFill>
          <a:ln w="9525">
            <a:solidFill>
              <a:schemeClr val="accent5"/>
            </a:solidFill>
            <a:prstDash val="solid"/>
          </a:ln>
        </p:spPr>
      </p:sp>
      <p:sp>
        <p:nvSpPr>
          <p:cNvPr id="5" name="Shape 3"/>
          <p:cNvSpPr/>
          <p:nvPr/>
        </p:nvSpPr>
        <p:spPr>
          <a:xfrm>
            <a:off x="640080" y="2194560"/>
            <a:ext cx="365760" cy="365760"/>
          </a:xfrm>
          <a:prstGeom prst="roundRect">
            <a:avLst>
              <a:gd name="adj" fmla="val 20000"/>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22376" y="2276856"/>
            <a:ext cx="201168" cy="201168"/>
          </a:xfrm>
          <a:prstGeom prst="rect">
            <a:avLst/>
          </a:prstGeom>
        </p:spPr>
      </p:pic>
      <p:sp>
        <p:nvSpPr>
          <p:cNvPr id="7" name="Section: USP (Unique Selling Proposition)"/>
          <p:cNvSpPr txBox="1"/>
          <p:nvPr/>
        </p:nvSpPr>
        <p:spPr>
          <a:xfrm>
            <a:off x="1115568" y="2194560"/>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USP (Unique Selling Proposition)</a:t>
            </a:r>
            <a:endParaRPr lang="en-US" sz="1800" dirty="0"/>
          </a:p>
        </p:txBody>
      </p:sp>
      <p:sp>
        <p:nvSpPr>
          <p:cNvPr id="8" name="Text 5"/>
          <p:cNvSpPr txBox="1"/>
          <p:nvPr/>
        </p:nvSpPr>
        <p:spPr>
          <a:xfrm>
            <a:off x="640080" y="2697480"/>
            <a:ext cx="502920" cy="292608"/>
          </a:xfrm>
          <a:prstGeom prst="rect">
            <a:avLst/>
          </a:prstGeom>
          <a:noFill/>
          <a:ln/>
        </p:spPr>
        <p:txBody>
          <a:bodyPr wrap="square" lIns="0" tIns="0" rIns="0" bIns="0" rtlCol="0" anchor="ctr"/>
          <a:lstStyle/>
          <a:p>
            <a:pPr indent="0" marL="0">
              <a:buNone/>
            </a:pPr>
            <a:r>
              <a:rPr lang="en-US" sz="1800" b="1" dirty="0">
                <a:solidFill>
                  <a:schemeClr val="accent1"/>
                </a:solidFill>
              </a:rPr>
              <a:t>01</a:t>
            </a:r>
            <a:endParaRPr lang="en-US" sz="1800" dirty="0"/>
          </a:p>
        </p:txBody>
      </p:sp>
      <p:sp>
        <p:nvSpPr>
          <p:cNvPr id="9" name="Text 6"/>
          <p:cNvSpPr txBox="1"/>
          <p:nvPr/>
        </p:nvSpPr>
        <p:spPr>
          <a:xfrm>
            <a:off x="1170432" y="2697480"/>
            <a:ext cx="4389120" cy="256032"/>
          </a:xfrm>
          <a:prstGeom prst="rect">
            <a:avLst/>
          </a:prstGeom>
          <a:noFill/>
          <a:ln/>
        </p:spPr>
        <p:txBody>
          <a:bodyPr wrap="square" lIns="0" tIns="0" rIns="0" bIns="0" rtlCol="0" anchor="ctr"/>
          <a:lstStyle/>
          <a:p>
            <a:pPr indent="0" marL="0">
              <a:buNone/>
            </a:pPr>
            <a:r>
              <a:rPr lang="en-US" sz="1200" b="1" dirty="0">
                <a:solidFill>
                  <a:schemeClr val="tx1"/>
                </a:solidFill>
              </a:rPr>
              <a:t>Evidence, not opinions</a:t>
            </a:r>
            <a:endParaRPr lang="en-US" sz="1200" dirty="0"/>
          </a:p>
        </p:txBody>
      </p:sp>
      <p:sp>
        <p:nvSpPr>
          <p:cNvPr id="10" name="Text 7"/>
          <p:cNvSpPr txBox="1"/>
          <p:nvPr/>
        </p:nvSpPr>
        <p:spPr>
          <a:xfrm>
            <a:off x="1170432" y="2953512"/>
            <a:ext cx="4389120" cy="384048"/>
          </a:xfrm>
          <a:prstGeom prst="rect">
            <a:avLst/>
          </a:prstGeom>
          <a:noFill/>
          <a:ln/>
        </p:spPr>
        <p:txBody>
          <a:bodyPr wrap="square" lIns="0" tIns="0" rIns="0" bIns="0" rtlCol="0" anchor="t"/>
          <a:lstStyle/>
          <a:p>
            <a:pPr indent="0" marL="0">
              <a:buNone/>
            </a:pPr>
            <a:r>
              <a:rPr lang="en-US" sz="1000" dirty="0">
                <a:solidFill>
                  <a:schemeClr val="accent4"/>
                </a:solidFill>
              </a:rPr>
              <a:t>Reads the device's own health data — battery wear, self-tests, photos — and shows the confidence behind every verdict.</a:t>
            </a:r>
            <a:endParaRPr lang="en-US" sz="1000" dirty="0"/>
          </a:p>
        </p:txBody>
      </p:sp>
      <p:sp>
        <p:nvSpPr>
          <p:cNvPr id="11" name="Text 8"/>
          <p:cNvSpPr txBox="1"/>
          <p:nvPr/>
        </p:nvSpPr>
        <p:spPr>
          <a:xfrm>
            <a:off x="640080" y="3383280"/>
            <a:ext cx="502920" cy="292608"/>
          </a:xfrm>
          <a:prstGeom prst="rect">
            <a:avLst/>
          </a:prstGeom>
          <a:noFill/>
          <a:ln/>
        </p:spPr>
        <p:txBody>
          <a:bodyPr wrap="square" lIns="0" tIns="0" rIns="0" bIns="0" rtlCol="0" anchor="ctr"/>
          <a:lstStyle/>
          <a:p>
            <a:pPr indent="0" marL="0">
              <a:buNone/>
            </a:pPr>
            <a:r>
              <a:rPr lang="en-US" sz="1800" b="1" dirty="0">
                <a:solidFill>
                  <a:schemeClr val="accent1"/>
                </a:solidFill>
              </a:rPr>
              <a:t>02</a:t>
            </a:r>
            <a:endParaRPr lang="en-US" sz="1800" dirty="0"/>
          </a:p>
        </p:txBody>
      </p:sp>
      <p:sp>
        <p:nvSpPr>
          <p:cNvPr id="12" name="Text 9"/>
          <p:cNvSpPr txBox="1"/>
          <p:nvPr/>
        </p:nvSpPr>
        <p:spPr>
          <a:xfrm>
            <a:off x="1170432" y="3383280"/>
            <a:ext cx="4389120" cy="256032"/>
          </a:xfrm>
          <a:prstGeom prst="rect">
            <a:avLst/>
          </a:prstGeom>
          <a:noFill/>
          <a:ln/>
        </p:spPr>
        <p:txBody>
          <a:bodyPr wrap="square" lIns="0" tIns="0" rIns="0" bIns="0" rtlCol="0" anchor="ctr"/>
          <a:lstStyle/>
          <a:p>
            <a:pPr indent="0" marL="0">
              <a:buNone/>
            </a:pPr>
            <a:r>
              <a:rPr lang="en-US" sz="1200" b="1" dirty="0">
                <a:solidFill>
                  <a:schemeClr val="tx1"/>
                </a:solidFill>
              </a:rPr>
              <a:t>The decision, not just a diagnosis</a:t>
            </a:r>
            <a:endParaRPr lang="en-US" sz="1200" dirty="0"/>
          </a:p>
        </p:txBody>
      </p:sp>
      <p:sp>
        <p:nvSpPr>
          <p:cNvPr id="13" name="Text 10"/>
          <p:cNvSpPr txBox="1"/>
          <p:nvPr/>
        </p:nvSpPr>
        <p:spPr>
          <a:xfrm>
            <a:off x="1170432" y="3639312"/>
            <a:ext cx="4389120" cy="384048"/>
          </a:xfrm>
          <a:prstGeom prst="rect">
            <a:avLst/>
          </a:prstGeom>
          <a:noFill/>
          <a:ln/>
        </p:spPr>
        <p:txBody>
          <a:bodyPr wrap="square" lIns="0" tIns="0" rIns="0" bIns="0" rtlCol="0" anchor="t"/>
          <a:lstStyle/>
          <a:p>
            <a:pPr indent="0" marL="0">
              <a:buNone/>
            </a:pPr>
            <a:r>
              <a:rPr lang="en-US" sz="1000" dirty="0">
                <a:solidFill>
                  <a:schemeClr val="accent4"/>
                </a:solidFill>
              </a:rPr>
              <a:t>Repair vs replace in ₹ per month of extra life, with a fair-price band and a check on any quote a shop gives you.</a:t>
            </a:r>
            <a:endParaRPr lang="en-US" sz="1000" dirty="0"/>
          </a:p>
        </p:txBody>
      </p:sp>
      <p:sp>
        <p:nvSpPr>
          <p:cNvPr id="14" name="Text 11"/>
          <p:cNvSpPr txBox="1"/>
          <p:nvPr/>
        </p:nvSpPr>
        <p:spPr>
          <a:xfrm>
            <a:off x="640080" y="4069080"/>
            <a:ext cx="502920" cy="292608"/>
          </a:xfrm>
          <a:prstGeom prst="rect">
            <a:avLst/>
          </a:prstGeom>
          <a:noFill/>
          <a:ln/>
        </p:spPr>
        <p:txBody>
          <a:bodyPr wrap="square" lIns="0" tIns="0" rIns="0" bIns="0" rtlCol="0" anchor="ctr"/>
          <a:lstStyle/>
          <a:p>
            <a:pPr indent="0" marL="0">
              <a:buNone/>
            </a:pPr>
            <a:r>
              <a:rPr lang="en-US" sz="1800" b="1" dirty="0">
                <a:solidFill>
                  <a:schemeClr val="accent1"/>
                </a:solidFill>
              </a:rPr>
              <a:t>03</a:t>
            </a:r>
            <a:endParaRPr lang="en-US" sz="1800" dirty="0"/>
          </a:p>
        </p:txBody>
      </p:sp>
      <p:sp>
        <p:nvSpPr>
          <p:cNvPr id="15" name="Text 12"/>
          <p:cNvSpPr txBox="1"/>
          <p:nvPr/>
        </p:nvSpPr>
        <p:spPr>
          <a:xfrm>
            <a:off x="1170432" y="4069080"/>
            <a:ext cx="4389120" cy="256032"/>
          </a:xfrm>
          <a:prstGeom prst="rect">
            <a:avLst/>
          </a:prstGeom>
          <a:noFill/>
          <a:ln/>
        </p:spPr>
        <p:txBody>
          <a:bodyPr wrap="square" lIns="0" tIns="0" rIns="0" bIns="0" rtlCol="0" anchor="ctr"/>
          <a:lstStyle/>
          <a:p>
            <a:pPr indent="0" marL="0">
              <a:buNone/>
            </a:pPr>
            <a:r>
              <a:rPr lang="en-US" sz="1200" b="1" dirty="0">
                <a:solidFill>
                  <a:schemeClr val="tx1"/>
                </a:solidFill>
              </a:rPr>
              <a:t>Outcome-neutral by design</a:t>
            </a:r>
            <a:endParaRPr lang="en-US" sz="1200" dirty="0"/>
          </a:p>
        </p:txBody>
      </p:sp>
      <p:sp>
        <p:nvSpPr>
          <p:cNvPr id="16" name="Text 13"/>
          <p:cNvSpPr txBox="1"/>
          <p:nvPr/>
        </p:nvSpPr>
        <p:spPr>
          <a:xfrm>
            <a:off x="1170432" y="4325112"/>
            <a:ext cx="4389120" cy="384048"/>
          </a:xfrm>
          <a:prstGeom prst="rect">
            <a:avLst/>
          </a:prstGeom>
          <a:noFill/>
          <a:ln/>
        </p:spPr>
        <p:txBody>
          <a:bodyPr wrap="square" lIns="0" tIns="0" rIns="0" bIns="0" rtlCol="0" anchor="t"/>
          <a:lstStyle/>
          <a:p>
            <a:pPr indent="0" marL="0">
              <a:buNone/>
            </a:pPr>
            <a:r>
              <a:rPr lang="en-US" sz="1000" dirty="0">
                <a:solidFill>
                  <a:schemeClr val="accent4"/>
                </a:solidFill>
              </a:rPr>
              <a:t>Revenue from every path — repair, resale, recycling — so there is no reason to push a new device.</a:t>
            </a:r>
            <a:endParaRPr lang="en-US" sz="1000" dirty="0"/>
          </a:p>
        </p:txBody>
      </p:sp>
      <p:sp>
        <p:nvSpPr>
          <p:cNvPr id="17" name="Text 14"/>
          <p:cNvSpPr txBox="1"/>
          <p:nvPr/>
        </p:nvSpPr>
        <p:spPr>
          <a:xfrm>
            <a:off x="640080" y="4754880"/>
            <a:ext cx="502920" cy="292608"/>
          </a:xfrm>
          <a:prstGeom prst="rect">
            <a:avLst/>
          </a:prstGeom>
          <a:noFill/>
          <a:ln/>
        </p:spPr>
        <p:txBody>
          <a:bodyPr wrap="square" lIns="0" tIns="0" rIns="0" bIns="0" rtlCol="0" anchor="ctr"/>
          <a:lstStyle/>
          <a:p>
            <a:pPr indent="0" marL="0">
              <a:buNone/>
            </a:pPr>
            <a:r>
              <a:rPr lang="en-US" sz="1800" b="1" dirty="0">
                <a:solidFill>
                  <a:schemeClr val="accent1"/>
                </a:solidFill>
              </a:rPr>
              <a:t>04</a:t>
            </a:r>
            <a:endParaRPr lang="en-US" sz="1800" dirty="0"/>
          </a:p>
        </p:txBody>
      </p:sp>
      <p:sp>
        <p:nvSpPr>
          <p:cNvPr id="18" name="Text 15"/>
          <p:cNvSpPr txBox="1"/>
          <p:nvPr/>
        </p:nvSpPr>
        <p:spPr>
          <a:xfrm>
            <a:off x="1170432" y="4754880"/>
            <a:ext cx="4389120" cy="256032"/>
          </a:xfrm>
          <a:prstGeom prst="rect">
            <a:avLst/>
          </a:prstGeom>
          <a:noFill/>
          <a:ln/>
        </p:spPr>
        <p:txBody>
          <a:bodyPr wrap="square" lIns="0" tIns="0" rIns="0" bIns="0" rtlCol="0" anchor="ctr"/>
          <a:lstStyle/>
          <a:p>
            <a:pPr indent="0" marL="0">
              <a:buNone/>
            </a:pPr>
            <a:r>
              <a:rPr lang="en-US" sz="1200" b="1" dirty="0">
                <a:solidFill>
                  <a:schemeClr val="tx1"/>
                </a:solidFill>
              </a:rPr>
              <a:t>Repair Passport</a:t>
            </a:r>
            <a:endParaRPr lang="en-US" sz="1200" dirty="0"/>
          </a:p>
        </p:txBody>
      </p:sp>
      <p:sp>
        <p:nvSpPr>
          <p:cNvPr id="19" name="Text 16"/>
          <p:cNvSpPr txBox="1"/>
          <p:nvPr/>
        </p:nvSpPr>
        <p:spPr>
          <a:xfrm>
            <a:off x="1170432" y="5010912"/>
            <a:ext cx="4389120" cy="384048"/>
          </a:xfrm>
          <a:prstGeom prst="rect">
            <a:avLst/>
          </a:prstGeom>
          <a:noFill/>
          <a:ln/>
        </p:spPr>
        <p:txBody>
          <a:bodyPr wrap="square" lIns="0" tIns="0" rIns="0" bIns="0" rtlCol="0" anchor="t"/>
          <a:lstStyle/>
          <a:p>
            <a:pPr indent="0" marL="0">
              <a:buNone/>
            </a:pPr>
            <a:r>
              <a:rPr lang="en-US" sz="1000" dirty="0">
                <a:solidFill>
                  <a:schemeClr val="accent4"/>
                </a:solidFill>
              </a:rPr>
              <a:t>A portable, tamper-evident service history that makes used devices easier to trust, insure and resell.</a:t>
            </a:r>
            <a:endParaRPr lang="en-US" sz="1000" dirty="0"/>
          </a:p>
        </p:txBody>
      </p:sp>
      <p:sp>
        <p:nvSpPr>
          <p:cNvPr id="20" name="Why now"/>
          <p:cNvSpPr/>
          <p:nvPr/>
        </p:nvSpPr>
        <p:spPr>
          <a:xfrm>
            <a:off x="640080" y="5468112"/>
            <a:ext cx="4892040" cy="749808"/>
          </a:xfrm>
          <a:prstGeom prst="roundRect">
            <a:avLst>
              <a:gd name="adj" fmla="val 7317"/>
            </a:avLst>
          </a:prstGeom>
          <a:solidFill>
            <a:schemeClr val="tx2"/>
          </a:solidFill>
          <a:ln w="12700">
            <a:solidFill>
              <a:schemeClr val="tx2"/>
            </a:solidFill>
            <a:prstDash val="solid"/>
          </a:ln>
        </p:spPr>
      </p:sp>
      <p:sp>
        <p:nvSpPr>
          <p:cNvPr id="21" name="Text 18"/>
          <p:cNvSpPr txBox="1"/>
          <p:nvPr/>
        </p:nvSpPr>
        <p:spPr>
          <a:xfrm>
            <a:off x="777240" y="5486400"/>
            <a:ext cx="4645152" cy="713232"/>
          </a:xfrm>
          <a:prstGeom prst="rect">
            <a:avLst/>
          </a:prstGeom>
          <a:noFill/>
          <a:ln/>
        </p:spPr>
        <p:txBody>
          <a:bodyPr wrap="square" lIns="0" tIns="0" rIns="0" bIns="0" rtlCol="0" anchor="ctr"/>
          <a:lstStyle/>
          <a:p>
            <a:pPr indent="0" marL="0">
              <a:buNone/>
            </a:pPr>
            <a:r>
              <a:rPr lang="en-US" sz="950" b="1" spc="100" kern="0" dirty="0">
                <a:solidFill>
                  <a:srgbClr val="F29AAA"/>
                </a:solidFill>
              </a:rPr>
              <a:t>WHY NOW  </a:t>
            </a:r>
            <a:pPr indent="0" marL="0">
              <a:buNone/>
            </a:pPr>
            <a:r>
              <a:rPr lang="en-US" sz="950" dirty="0">
                <a:solidFill>
                  <a:schemeClr val="bg1"/>
                </a:solidFill>
              </a:rPr>
              <a:t>India's Repairability Index framework (DoCA, 2025) and the EU's A–E repairability label (June 2025) score the same six factors RepairOS uses. We are the consumer-facing layer for them.</a:t>
            </a:r>
            <a:endParaRPr lang="en-US" sz="950" dirty="0"/>
          </a:p>
        </p:txBody>
      </p:sp>
      <p:sp>
        <p:nvSpPr>
          <p:cNvPr id="22" name="Business model panel"/>
          <p:cNvSpPr/>
          <p:nvPr/>
        </p:nvSpPr>
        <p:spPr>
          <a:xfrm>
            <a:off x="5943600" y="2057400"/>
            <a:ext cx="5806440" cy="4261104"/>
          </a:xfrm>
          <a:prstGeom prst="roundRect">
            <a:avLst>
              <a:gd name="adj" fmla="val 1502"/>
            </a:avLst>
          </a:prstGeom>
          <a:solidFill>
            <a:schemeClr val="bg2"/>
          </a:solidFill>
          <a:ln w="9525">
            <a:solidFill>
              <a:schemeClr val="accent5"/>
            </a:solidFill>
            <a:prstDash val="solid"/>
          </a:ln>
        </p:spPr>
      </p:sp>
      <p:sp>
        <p:nvSpPr>
          <p:cNvPr id="23" name="Shape 20"/>
          <p:cNvSpPr/>
          <p:nvPr/>
        </p:nvSpPr>
        <p:spPr>
          <a:xfrm>
            <a:off x="6126480" y="2194560"/>
            <a:ext cx="365760" cy="365760"/>
          </a:xfrm>
          <a:prstGeom prst="roundRect">
            <a:avLst>
              <a:gd name="adj" fmla="val 20000"/>
            </a:avLst>
          </a:prstGeom>
          <a:solidFill>
            <a:schemeClr val="accent6"/>
          </a:solidFill>
          <a:ln w="12700">
            <a:solidFill>
              <a:schemeClr val="accent6"/>
            </a:solidFill>
            <a:prstDash val="solid"/>
          </a:ln>
        </p:spPr>
      </p:sp>
      <p:pic>
        <p:nvPicPr>
          <p:cNvPr id="24" name="Image 1" descr="preencoded.png">    </p:cNvPr>
          <p:cNvPicPr>
            <a:picLocks noChangeAspect="1"/>
          </p:cNvPicPr>
          <p:nvPr/>
        </p:nvPicPr>
        <p:blipFill>
          <a:blip r:embed="rId2"/>
          <a:stretch>
            <a:fillRect/>
          </a:stretch>
        </p:blipFill>
        <p:spPr>
          <a:xfrm>
            <a:off x="6208776" y="2276856"/>
            <a:ext cx="201168" cy="201168"/>
          </a:xfrm>
          <a:prstGeom prst="rect">
            <a:avLst/>
          </a:prstGeom>
        </p:spPr>
      </p:pic>
      <p:sp>
        <p:nvSpPr>
          <p:cNvPr id="25" name="Section: Business Model"/>
          <p:cNvSpPr txBox="1"/>
          <p:nvPr/>
        </p:nvSpPr>
        <p:spPr>
          <a:xfrm>
            <a:off x="6601968" y="21945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Business Model</a:t>
            </a:r>
            <a:endParaRPr lang="en-US" sz="1800" dirty="0"/>
          </a:p>
        </p:txBody>
      </p:sp>
      <p:sp>
        <p:nvSpPr>
          <p:cNvPr id="26" name="Text 22"/>
          <p:cNvSpPr txBox="1"/>
          <p:nvPr/>
        </p:nvSpPr>
        <p:spPr>
          <a:xfrm>
            <a:off x="6126480" y="2651760"/>
            <a:ext cx="2578608" cy="201168"/>
          </a:xfrm>
          <a:prstGeom prst="rect">
            <a:avLst/>
          </a:prstGeom>
          <a:noFill/>
          <a:ln/>
        </p:spPr>
        <p:txBody>
          <a:bodyPr wrap="square" lIns="0" tIns="0" rIns="0" bIns="0" rtlCol="0" anchor="ctr"/>
          <a:lstStyle/>
          <a:p>
            <a:pPr indent="0" marL="0">
              <a:buNone/>
            </a:pPr>
            <a:r>
              <a:rPr lang="en-US" sz="800" b="1" spc="100" kern="0" dirty="0">
                <a:solidFill>
                  <a:schemeClr val="accent4"/>
                </a:solidFill>
              </a:rPr>
              <a:t>REVENUE STREAM</a:t>
            </a:r>
            <a:endParaRPr lang="en-US" sz="800" dirty="0"/>
          </a:p>
        </p:txBody>
      </p:sp>
      <p:sp>
        <p:nvSpPr>
          <p:cNvPr id="27" name="Text 23"/>
          <p:cNvSpPr txBox="1"/>
          <p:nvPr/>
        </p:nvSpPr>
        <p:spPr>
          <a:xfrm>
            <a:off x="8796528" y="2651760"/>
            <a:ext cx="1481328" cy="201168"/>
          </a:xfrm>
          <a:prstGeom prst="rect">
            <a:avLst/>
          </a:prstGeom>
          <a:noFill/>
          <a:ln/>
        </p:spPr>
        <p:txBody>
          <a:bodyPr wrap="square" lIns="0" tIns="0" rIns="0" bIns="0" rtlCol="0" anchor="ctr"/>
          <a:lstStyle/>
          <a:p>
            <a:pPr indent="0" marL="0">
              <a:buNone/>
            </a:pPr>
            <a:r>
              <a:rPr lang="en-US" sz="800" b="1" spc="100" kern="0" dirty="0">
                <a:solidFill>
                  <a:schemeClr val="accent4"/>
                </a:solidFill>
              </a:rPr>
              <a:t>WHO PAYS</a:t>
            </a:r>
            <a:endParaRPr lang="en-US" sz="800" dirty="0"/>
          </a:p>
        </p:txBody>
      </p:sp>
      <p:sp>
        <p:nvSpPr>
          <p:cNvPr id="28" name="Text 24"/>
          <p:cNvSpPr txBox="1"/>
          <p:nvPr/>
        </p:nvSpPr>
        <p:spPr>
          <a:xfrm>
            <a:off x="10351008" y="2651760"/>
            <a:ext cx="1261872" cy="201168"/>
          </a:xfrm>
          <a:prstGeom prst="rect">
            <a:avLst/>
          </a:prstGeom>
          <a:noFill/>
          <a:ln/>
        </p:spPr>
        <p:txBody>
          <a:bodyPr wrap="square" lIns="0" tIns="0" rIns="0" bIns="0" rtlCol="0" anchor="ctr"/>
          <a:lstStyle/>
          <a:p>
            <a:pPr indent="0" marL="0">
              <a:buNone/>
            </a:pPr>
            <a:r>
              <a:rPr lang="en-US" sz="800" b="1" spc="100" kern="0" dirty="0">
                <a:solidFill>
                  <a:schemeClr val="accent4"/>
                </a:solidFill>
              </a:rPr>
              <a:t>PRICING (PLANNED)</a:t>
            </a:r>
            <a:endParaRPr lang="en-US" sz="800" dirty="0"/>
          </a:p>
        </p:txBody>
      </p:sp>
      <p:sp>
        <p:nvSpPr>
          <p:cNvPr id="29" name="Shape 25"/>
          <p:cNvSpPr/>
          <p:nvPr/>
        </p:nvSpPr>
        <p:spPr>
          <a:xfrm>
            <a:off x="6126480" y="2871216"/>
            <a:ext cx="5468112" cy="0"/>
          </a:xfrm>
          <a:prstGeom prst="line">
            <a:avLst/>
          </a:prstGeom>
          <a:noFill/>
          <a:ln w="9525">
            <a:solidFill>
              <a:schemeClr val="accent5"/>
            </a:solidFill>
            <a:prstDash val="solid"/>
          </a:ln>
        </p:spPr>
      </p:sp>
      <p:sp>
        <p:nvSpPr>
          <p:cNvPr id="30" name="Text 26"/>
          <p:cNvSpPr txBox="1"/>
          <p:nvPr/>
        </p:nvSpPr>
        <p:spPr>
          <a:xfrm>
            <a:off x="6126480" y="2871216"/>
            <a:ext cx="2578608" cy="365760"/>
          </a:xfrm>
          <a:prstGeom prst="rect">
            <a:avLst/>
          </a:prstGeom>
          <a:noFill/>
          <a:ln/>
        </p:spPr>
        <p:txBody>
          <a:bodyPr wrap="square" lIns="0" tIns="0" rIns="0" bIns="0" rtlCol="0" anchor="ctr"/>
          <a:lstStyle/>
          <a:p>
            <a:pPr indent="0" marL="0">
              <a:buNone/>
            </a:pPr>
            <a:r>
              <a:rPr lang="en-US" sz="950" dirty="0">
                <a:solidFill>
                  <a:schemeClr val="tx1"/>
                </a:solidFill>
              </a:rPr>
              <a:t>Free diagnosis + basic Passport</a:t>
            </a:r>
            <a:endParaRPr lang="en-US" sz="950" dirty="0"/>
          </a:p>
        </p:txBody>
      </p:sp>
      <p:sp>
        <p:nvSpPr>
          <p:cNvPr id="31" name="Text 27"/>
          <p:cNvSpPr txBox="1"/>
          <p:nvPr/>
        </p:nvSpPr>
        <p:spPr>
          <a:xfrm>
            <a:off x="8796528" y="287121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Consumers</a:t>
            </a:r>
            <a:endParaRPr lang="en-US" sz="900" dirty="0"/>
          </a:p>
        </p:txBody>
      </p:sp>
      <p:sp>
        <p:nvSpPr>
          <p:cNvPr id="32" name="Text 28"/>
          <p:cNvSpPr txBox="1"/>
          <p:nvPr/>
        </p:nvSpPr>
        <p:spPr>
          <a:xfrm>
            <a:off x="10351008" y="287121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₹0 · acquisition</a:t>
            </a:r>
            <a:endParaRPr lang="en-US" sz="950" dirty="0"/>
          </a:p>
        </p:txBody>
      </p:sp>
      <p:sp>
        <p:nvSpPr>
          <p:cNvPr id="33" name="Shape 29"/>
          <p:cNvSpPr/>
          <p:nvPr/>
        </p:nvSpPr>
        <p:spPr>
          <a:xfrm>
            <a:off x="6126480" y="3236976"/>
            <a:ext cx="5468112" cy="0"/>
          </a:xfrm>
          <a:prstGeom prst="line">
            <a:avLst/>
          </a:prstGeom>
          <a:noFill/>
          <a:ln w="9525">
            <a:solidFill>
              <a:schemeClr val="accent5"/>
            </a:solidFill>
            <a:prstDash val="solid"/>
          </a:ln>
        </p:spPr>
      </p:sp>
      <p:sp>
        <p:nvSpPr>
          <p:cNvPr id="34" name="Text 30"/>
          <p:cNvSpPr txBox="1"/>
          <p:nvPr/>
        </p:nvSpPr>
        <p:spPr>
          <a:xfrm>
            <a:off x="6126480" y="3236976"/>
            <a:ext cx="2578608" cy="365760"/>
          </a:xfrm>
          <a:prstGeom prst="rect">
            <a:avLst/>
          </a:prstGeom>
          <a:noFill/>
          <a:ln/>
        </p:spPr>
        <p:txBody>
          <a:bodyPr wrap="square" lIns="0" tIns="0" rIns="0" bIns="0" rtlCol="0" anchor="ctr"/>
          <a:lstStyle/>
          <a:p>
            <a:pPr indent="0" marL="0">
              <a:buNone/>
            </a:pPr>
            <a:r>
              <a:rPr lang="en-US" sz="950" dirty="0">
                <a:solidFill>
                  <a:schemeClr val="tx1"/>
                </a:solidFill>
              </a:rPr>
              <a:t>Verified Repair Report for resale or insurance</a:t>
            </a:r>
            <a:endParaRPr lang="en-US" sz="950" dirty="0"/>
          </a:p>
        </p:txBody>
      </p:sp>
      <p:sp>
        <p:nvSpPr>
          <p:cNvPr id="35" name="Text 31"/>
          <p:cNvSpPr txBox="1"/>
          <p:nvPr/>
        </p:nvSpPr>
        <p:spPr>
          <a:xfrm>
            <a:off x="8796528" y="323697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Consumers</a:t>
            </a:r>
            <a:endParaRPr lang="en-US" sz="900" dirty="0"/>
          </a:p>
        </p:txBody>
      </p:sp>
      <p:sp>
        <p:nvSpPr>
          <p:cNvPr id="36" name="Text 32"/>
          <p:cNvSpPr txBox="1"/>
          <p:nvPr/>
        </p:nvSpPr>
        <p:spPr>
          <a:xfrm>
            <a:off x="10351008" y="323697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₹99 / report</a:t>
            </a:r>
            <a:endParaRPr lang="en-US" sz="950" dirty="0"/>
          </a:p>
        </p:txBody>
      </p:sp>
      <p:sp>
        <p:nvSpPr>
          <p:cNvPr id="37" name="Shape 33"/>
          <p:cNvSpPr/>
          <p:nvPr/>
        </p:nvSpPr>
        <p:spPr>
          <a:xfrm>
            <a:off x="6126480" y="3602736"/>
            <a:ext cx="5468112" cy="0"/>
          </a:xfrm>
          <a:prstGeom prst="line">
            <a:avLst/>
          </a:prstGeom>
          <a:noFill/>
          <a:ln w="9525">
            <a:solidFill>
              <a:schemeClr val="accent5"/>
            </a:solidFill>
            <a:prstDash val="solid"/>
          </a:ln>
        </p:spPr>
      </p:sp>
      <p:sp>
        <p:nvSpPr>
          <p:cNvPr id="38" name="Text 34"/>
          <p:cNvSpPr txBox="1"/>
          <p:nvPr/>
        </p:nvSpPr>
        <p:spPr>
          <a:xfrm>
            <a:off x="6126480" y="3602736"/>
            <a:ext cx="2578608" cy="365760"/>
          </a:xfrm>
          <a:prstGeom prst="rect">
            <a:avLst/>
          </a:prstGeom>
          <a:noFill/>
          <a:ln/>
        </p:spPr>
        <p:txBody>
          <a:bodyPr wrap="square" lIns="0" tIns="0" rIns="0" bIns="0" rtlCol="0" anchor="ctr"/>
          <a:lstStyle/>
          <a:p>
            <a:pPr indent="0" marL="0">
              <a:buNone/>
            </a:pPr>
            <a:r>
              <a:rPr lang="en-US" sz="950" dirty="0">
                <a:solidFill>
                  <a:schemeClr val="tx1"/>
                </a:solidFill>
              </a:rPr>
              <a:t>Booked-repair commission</a:t>
            </a:r>
            <a:endParaRPr lang="en-US" sz="950" dirty="0"/>
          </a:p>
        </p:txBody>
      </p:sp>
      <p:sp>
        <p:nvSpPr>
          <p:cNvPr id="39" name="Text 35"/>
          <p:cNvSpPr txBox="1"/>
          <p:nvPr/>
        </p:nvSpPr>
        <p:spPr>
          <a:xfrm>
            <a:off x="8796528" y="360273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Partner shops</a:t>
            </a:r>
            <a:endParaRPr lang="en-US" sz="900" dirty="0"/>
          </a:p>
        </p:txBody>
      </p:sp>
      <p:sp>
        <p:nvSpPr>
          <p:cNvPr id="40" name="Text 36"/>
          <p:cNvSpPr txBox="1"/>
          <p:nvPr/>
        </p:nvSpPr>
        <p:spPr>
          <a:xfrm>
            <a:off x="10351008" y="360273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8–10% of ticket</a:t>
            </a:r>
            <a:endParaRPr lang="en-US" sz="950" dirty="0"/>
          </a:p>
        </p:txBody>
      </p:sp>
      <p:sp>
        <p:nvSpPr>
          <p:cNvPr id="41" name="Shape 37"/>
          <p:cNvSpPr/>
          <p:nvPr/>
        </p:nvSpPr>
        <p:spPr>
          <a:xfrm>
            <a:off x="6126480" y="3968496"/>
            <a:ext cx="5468112" cy="0"/>
          </a:xfrm>
          <a:prstGeom prst="line">
            <a:avLst/>
          </a:prstGeom>
          <a:noFill/>
          <a:ln w="9525">
            <a:solidFill>
              <a:schemeClr val="accent5"/>
            </a:solidFill>
            <a:prstDash val="solid"/>
          </a:ln>
        </p:spPr>
      </p:sp>
      <p:sp>
        <p:nvSpPr>
          <p:cNvPr id="42" name="Text 38"/>
          <p:cNvSpPr txBox="1"/>
          <p:nvPr/>
        </p:nvSpPr>
        <p:spPr>
          <a:xfrm>
            <a:off x="6126480" y="3968496"/>
            <a:ext cx="2578608" cy="365760"/>
          </a:xfrm>
          <a:prstGeom prst="rect">
            <a:avLst/>
          </a:prstGeom>
          <a:noFill/>
          <a:ln/>
        </p:spPr>
        <p:txBody>
          <a:bodyPr wrap="square" lIns="0" tIns="0" rIns="0" bIns="0" rtlCol="0" anchor="ctr"/>
          <a:lstStyle/>
          <a:p>
            <a:pPr indent="0" marL="0">
              <a:buNone/>
            </a:pPr>
            <a:r>
              <a:rPr lang="en-US" sz="950" dirty="0">
                <a:solidFill>
                  <a:schemeClr val="tx1"/>
                </a:solidFill>
              </a:rPr>
              <a:t>Shop OS: pre-triage, job cards, parts lookup</a:t>
            </a:r>
            <a:endParaRPr lang="en-US" sz="950" dirty="0"/>
          </a:p>
        </p:txBody>
      </p:sp>
      <p:sp>
        <p:nvSpPr>
          <p:cNvPr id="43" name="Text 39"/>
          <p:cNvSpPr txBox="1"/>
          <p:nvPr/>
        </p:nvSpPr>
        <p:spPr>
          <a:xfrm>
            <a:off x="8796528" y="396849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Repair shops</a:t>
            </a:r>
            <a:endParaRPr lang="en-US" sz="900" dirty="0"/>
          </a:p>
        </p:txBody>
      </p:sp>
      <p:sp>
        <p:nvSpPr>
          <p:cNvPr id="44" name="Text 40"/>
          <p:cNvSpPr txBox="1"/>
          <p:nvPr/>
        </p:nvSpPr>
        <p:spPr>
          <a:xfrm>
            <a:off x="10351008" y="396849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₹499 / month</a:t>
            </a:r>
            <a:endParaRPr lang="en-US" sz="950" dirty="0"/>
          </a:p>
        </p:txBody>
      </p:sp>
      <p:sp>
        <p:nvSpPr>
          <p:cNvPr id="45" name="Shape 41"/>
          <p:cNvSpPr/>
          <p:nvPr/>
        </p:nvSpPr>
        <p:spPr>
          <a:xfrm>
            <a:off x="6126480" y="4334256"/>
            <a:ext cx="5468112" cy="0"/>
          </a:xfrm>
          <a:prstGeom prst="line">
            <a:avLst/>
          </a:prstGeom>
          <a:noFill/>
          <a:ln w="9525">
            <a:solidFill>
              <a:schemeClr val="accent5"/>
            </a:solidFill>
            <a:prstDash val="solid"/>
          </a:ln>
        </p:spPr>
      </p:sp>
      <p:sp>
        <p:nvSpPr>
          <p:cNvPr id="46" name="Text 42"/>
          <p:cNvSpPr txBox="1"/>
          <p:nvPr/>
        </p:nvSpPr>
        <p:spPr>
          <a:xfrm>
            <a:off x="6126480" y="4334256"/>
            <a:ext cx="2578608" cy="365760"/>
          </a:xfrm>
          <a:prstGeom prst="rect">
            <a:avLst/>
          </a:prstGeom>
          <a:noFill/>
          <a:ln/>
        </p:spPr>
        <p:txBody>
          <a:bodyPr wrap="square" lIns="0" tIns="0" rIns="0" bIns="0" rtlCol="0" anchor="ctr"/>
          <a:lstStyle/>
          <a:p>
            <a:pPr indent="0" marL="0">
              <a:buNone/>
            </a:pPr>
            <a:r>
              <a:rPr lang="en-US" sz="950" dirty="0">
                <a:solidFill>
                  <a:schemeClr val="tx1"/>
                </a:solidFill>
              </a:rPr>
              <a:t>Diagnostics API: claim &amp; grading triage</a:t>
            </a:r>
            <a:endParaRPr lang="en-US" sz="950" dirty="0"/>
          </a:p>
        </p:txBody>
      </p:sp>
      <p:sp>
        <p:nvSpPr>
          <p:cNvPr id="47" name="Text 43"/>
          <p:cNvSpPr txBox="1"/>
          <p:nvPr/>
        </p:nvSpPr>
        <p:spPr>
          <a:xfrm>
            <a:off x="8796528" y="433425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Insurers, refurbishers, IT fleets</a:t>
            </a:r>
            <a:endParaRPr lang="en-US" sz="900" dirty="0"/>
          </a:p>
        </p:txBody>
      </p:sp>
      <p:sp>
        <p:nvSpPr>
          <p:cNvPr id="48" name="Text 44"/>
          <p:cNvSpPr txBox="1"/>
          <p:nvPr/>
        </p:nvSpPr>
        <p:spPr>
          <a:xfrm>
            <a:off x="10351008" y="433425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Per device</a:t>
            </a:r>
            <a:endParaRPr lang="en-US" sz="950" dirty="0"/>
          </a:p>
        </p:txBody>
      </p:sp>
      <p:sp>
        <p:nvSpPr>
          <p:cNvPr id="49" name="Shape 45"/>
          <p:cNvSpPr/>
          <p:nvPr/>
        </p:nvSpPr>
        <p:spPr>
          <a:xfrm>
            <a:off x="6126480" y="4700016"/>
            <a:ext cx="5468112" cy="0"/>
          </a:xfrm>
          <a:prstGeom prst="line">
            <a:avLst/>
          </a:prstGeom>
          <a:noFill/>
          <a:ln w="9525">
            <a:solidFill>
              <a:schemeClr val="accent5"/>
            </a:solidFill>
            <a:prstDash val="solid"/>
          </a:ln>
        </p:spPr>
      </p:sp>
      <p:sp>
        <p:nvSpPr>
          <p:cNvPr id="50" name="Text 46"/>
          <p:cNvSpPr txBox="1"/>
          <p:nvPr/>
        </p:nvSpPr>
        <p:spPr>
          <a:xfrm>
            <a:off x="6126480" y="4700016"/>
            <a:ext cx="2578608" cy="365760"/>
          </a:xfrm>
          <a:prstGeom prst="rect">
            <a:avLst/>
          </a:prstGeom>
          <a:noFill/>
          <a:ln/>
        </p:spPr>
        <p:txBody>
          <a:bodyPr wrap="square" lIns="0" tIns="0" rIns="0" bIns="0" rtlCol="0" anchor="ctr"/>
          <a:lstStyle/>
          <a:p>
            <a:pPr indent="0" marL="0">
              <a:buNone/>
            </a:pPr>
            <a:r>
              <a:rPr lang="en-US" sz="950" dirty="0">
                <a:solidFill>
                  <a:schemeClr val="tx1"/>
                </a:solidFill>
              </a:rPr>
              <a:t>Trade-in &amp; recycling referrals</a:t>
            </a:r>
            <a:endParaRPr lang="en-US" sz="950" dirty="0"/>
          </a:p>
        </p:txBody>
      </p:sp>
      <p:sp>
        <p:nvSpPr>
          <p:cNvPr id="51" name="Text 47"/>
          <p:cNvSpPr txBox="1"/>
          <p:nvPr/>
        </p:nvSpPr>
        <p:spPr>
          <a:xfrm>
            <a:off x="8796528" y="4700016"/>
            <a:ext cx="1481328" cy="365760"/>
          </a:xfrm>
          <a:prstGeom prst="rect">
            <a:avLst/>
          </a:prstGeom>
          <a:noFill/>
          <a:ln/>
        </p:spPr>
        <p:txBody>
          <a:bodyPr wrap="square" lIns="0" tIns="0" rIns="0" bIns="0" rtlCol="0" anchor="ctr"/>
          <a:lstStyle/>
          <a:p>
            <a:pPr indent="0" marL="0">
              <a:buNone/>
            </a:pPr>
            <a:r>
              <a:rPr lang="en-US" sz="900" dirty="0">
                <a:solidFill>
                  <a:schemeClr val="accent4"/>
                </a:solidFill>
              </a:rPr>
              <a:t>Refurbishers, EPR recyclers</a:t>
            </a:r>
            <a:endParaRPr lang="en-US" sz="900" dirty="0"/>
          </a:p>
        </p:txBody>
      </p:sp>
      <p:sp>
        <p:nvSpPr>
          <p:cNvPr id="52" name="Text 48"/>
          <p:cNvSpPr txBox="1"/>
          <p:nvPr/>
        </p:nvSpPr>
        <p:spPr>
          <a:xfrm>
            <a:off x="10351008" y="4700016"/>
            <a:ext cx="1261872" cy="365760"/>
          </a:xfrm>
          <a:prstGeom prst="rect">
            <a:avLst/>
          </a:prstGeom>
          <a:noFill/>
          <a:ln/>
        </p:spPr>
        <p:txBody>
          <a:bodyPr wrap="square" lIns="0" tIns="0" rIns="0" bIns="0" rtlCol="0" anchor="ctr"/>
          <a:lstStyle/>
          <a:p>
            <a:pPr indent="0" marL="0">
              <a:buNone/>
            </a:pPr>
            <a:r>
              <a:rPr lang="en-US" sz="950" b="1" dirty="0">
                <a:solidFill>
                  <a:schemeClr val="accent1"/>
                </a:solidFill>
              </a:rPr>
              <a:t>Per referral</a:t>
            </a:r>
            <a:endParaRPr lang="en-US" sz="950" dirty="0"/>
          </a:p>
        </p:txBody>
      </p:sp>
      <p:sp>
        <p:nvSpPr>
          <p:cNvPr id="53" name="Text 49"/>
          <p:cNvSpPr txBox="1"/>
          <p:nvPr/>
        </p:nvSpPr>
        <p:spPr>
          <a:xfrm>
            <a:off x="6126480" y="5120640"/>
            <a:ext cx="2743200" cy="201168"/>
          </a:xfrm>
          <a:prstGeom prst="rect">
            <a:avLst/>
          </a:prstGeom>
          <a:noFill/>
          <a:ln/>
        </p:spPr>
        <p:txBody>
          <a:bodyPr wrap="square" lIns="0" tIns="0" rIns="0" bIns="0" rtlCol="0" anchor="ctr"/>
          <a:lstStyle/>
          <a:p>
            <a:pPr indent="0" marL="0">
              <a:buNone/>
            </a:pPr>
            <a:r>
              <a:rPr lang="en-US" sz="800" b="1" spc="100" kern="0" dirty="0">
                <a:solidFill>
                  <a:schemeClr val="accent4"/>
                </a:solidFill>
              </a:rPr>
              <a:t>GO-TO-MARKET</a:t>
            </a:r>
            <a:endParaRPr lang="en-US" sz="800" dirty="0"/>
          </a:p>
        </p:txBody>
      </p:sp>
      <p:sp>
        <p:nvSpPr>
          <p:cNvPr id="54" name="Shape 50"/>
          <p:cNvSpPr/>
          <p:nvPr/>
        </p:nvSpPr>
        <p:spPr>
          <a:xfrm>
            <a:off x="6126480" y="5358384"/>
            <a:ext cx="1728216" cy="859536"/>
          </a:xfrm>
          <a:prstGeom prst="roundRect">
            <a:avLst>
              <a:gd name="adj" fmla="val 6383"/>
            </a:avLst>
          </a:prstGeom>
          <a:solidFill>
            <a:schemeClr val="bg1"/>
          </a:solidFill>
          <a:ln w="9525">
            <a:solidFill>
              <a:schemeClr val="accent5"/>
            </a:solidFill>
            <a:prstDash val="solid"/>
          </a:ln>
        </p:spPr>
      </p:sp>
      <p:sp>
        <p:nvSpPr>
          <p:cNvPr id="55" name="Text 51"/>
          <p:cNvSpPr txBox="1"/>
          <p:nvPr/>
        </p:nvSpPr>
        <p:spPr>
          <a:xfrm>
            <a:off x="6217920" y="5413248"/>
            <a:ext cx="1545336" cy="749808"/>
          </a:xfrm>
          <a:prstGeom prst="rect">
            <a:avLst/>
          </a:prstGeom>
          <a:noFill/>
          <a:ln/>
        </p:spPr>
        <p:txBody>
          <a:bodyPr wrap="square" lIns="0" tIns="0" rIns="0" bIns="0" rtlCol="0" anchor="t"/>
          <a:lstStyle/>
          <a:p>
            <a:pPr indent="0" marL="0">
              <a:spcAft>
                <a:spcPts val="200"/>
              </a:spcAft>
              <a:buNone/>
            </a:pPr>
            <a:r>
              <a:rPr lang="en-US" sz="900" b="1" dirty="0">
                <a:solidFill>
                  <a:schemeClr val="accent1"/>
                </a:solidFill>
              </a:rPr>
              <a:t>Pilot · 0–6 months</a:t>
            </a:r>
            <a:endParaRPr lang="en-US" sz="900" dirty="0"/>
          </a:p>
          <a:p>
            <a:pPr indent="0" marL="0">
              <a:spcAft>
                <a:spcPts val="200"/>
              </a:spcAft>
              <a:buNone/>
            </a:pPr>
            <a:r>
              <a:rPr lang="en-US" sz="900" dirty="0">
                <a:solidFill>
                  <a:schemeClr val="tx1"/>
                </a:solidFill>
              </a:rPr>
              <a:t>One metro repair hub + 2 campuses; 30 partner shops</a:t>
            </a:r>
            <a:endParaRPr lang="en-US" sz="900" dirty="0"/>
          </a:p>
        </p:txBody>
      </p:sp>
      <p:sp>
        <p:nvSpPr>
          <p:cNvPr id="56" name="Shape 52"/>
          <p:cNvSpPr/>
          <p:nvPr/>
        </p:nvSpPr>
        <p:spPr>
          <a:xfrm>
            <a:off x="7872984" y="5788152"/>
            <a:ext cx="105156" cy="0"/>
          </a:xfrm>
          <a:prstGeom prst="line">
            <a:avLst/>
          </a:prstGeom>
          <a:noFill/>
          <a:ln w="12700">
            <a:solidFill>
              <a:schemeClr val="accent4"/>
            </a:solidFill>
            <a:prstDash val="solid"/>
            <a:tailEnd type="triangle"/>
          </a:ln>
        </p:spPr>
      </p:sp>
      <p:sp>
        <p:nvSpPr>
          <p:cNvPr id="57" name="Shape 53"/>
          <p:cNvSpPr/>
          <p:nvPr/>
        </p:nvSpPr>
        <p:spPr>
          <a:xfrm>
            <a:off x="7996428" y="5358384"/>
            <a:ext cx="1728216" cy="859536"/>
          </a:xfrm>
          <a:prstGeom prst="roundRect">
            <a:avLst>
              <a:gd name="adj" fmla="val 6383"/>
            </a:avLst>
          </a:prstGeom>
          <a:solidFill>
            <a:schemeClr val="bg1"/>
          </a:solidFill>
          <a:ln w="9525">
            <a:solidFill>
              <a:schemeClr val="accent5"/>
            </a:solidFill>
            <a:prstDash val="solid"/>
          </a:ln>
        </p:spPr>
      </p:sp>
      <p:sp>
        <p:nvSpPr>
          <p:cNvPr id="58" name="Text 54"/>
          <p:cNvSpPr txBox="1"/>
          <p:nvPr/>
        </p:nvSpPr>
        <p:spPr>
          <a:xfrm>
            <a:off x="8087868" y="5413248"/>
            <a:ext cx="1545336" cy="749808"/>
          </a:xfrm>
          <a:prstGeom prst="rect">
            <a:avLst/>
          </a:prstGeom>
          <a:noFill/>
          <a:ln/>
        </p:spPr>
        <p:txBody>
          <a:bodyPr wrap="square" lIns="0" tIns="0" rIns="0" bIns="0" rtlCol="0" anchor="t"/>
          <a:lstStyle/>
          <a:p>
            <a:pPr indent="0" marL="0">
              <a:spcAft>
                <a:spcPts val="200"/>
              </a:spcAft>
              <a:buNone/>
            </a:pPr>
            <a:r>
              <a:rPr lang="en-US" sz="900" b="1" dirty="0">
                <a:solidFill>
                  <a:schemeClr val="accent1"/>
                </a:solidFill>
              </a:rPr>
              <a:t>Scale · 6–18 months</a:t>
            </a:r>
            <a:endParaRPr lang="en-US" sz="900" dirty="0"/>
          </a:p>
          <a:p>
            <a:pPr indent="0" marL="0">
              <a:spcAft>
                <a:spcPts val="200"/>
              </a:spcAft>
              <a:buNone/>
            </a:pPr>
            <a:r>
              <a:rPr lang="en-US" sz="900" dirty="0">
                <a:solidFill>
                  <a:schemeClr val="tx1"/>
                </a:solidFill>
              </a:rPr>
              <a:t>Multi-city shop network; verified outcomes sharpen priors</a:t>
            </a:r>
            <a:endParaRPr lang="en-US" sz="900" dirty="0"/>
          </a:p>
        </p:txBody>
      </p:sp>
      <p:sp>
        <p:nvSpPr>
          <p:cNvPr id="59" name="Shape 55"/>
          <p:cNvSpPr/>
          <p:nvPr/>
        </p:nvSpPr>
        <p:spPr>
          <a:xfrm>
            <a:off x="9742932" y="5788152"/>
            <a:ext cx="105156" cy="0"/>
          </a:xfrm>
          <a:prstGeom prst="line">
            <a:avLst/>
          </a:prstGeom>
          <a:noFill/>
          <a:ln w="12700">
            <a:solidFill>
              <a:schemeClr val="accent4"/>
            </a:solidFill>
            <a:prstDash val="solid"/>
            <a:tailEnd type="triangle"/>
          </a:ln>
        </p:spPr>
      </p:sp>
      <p:sp>
        <p:nvSpPr>
          <p:cNvPr id="60" name="Shape 56"/>
          <p:cNvSpPr/>
          <p:nvPr/>
        </p:nvSpPr>
        <p:spPr>
          <a:xfrm>
            <a:off x="9866376" y="5358384"/>
            <a:ext cx="1728216" cy="859536"/>
          </a:xfrm>
          <a:prstGeom prst="roundRect">
            <a:avLst>
              <a:gd name="adj" fmla="val 6383"/>
            </a:avLst>
          </a:prstGeom>
          <a:solidFill>
            <a:schemeClr val="bg1"/>
          </a:solidFill>
          <a:ln w="9525">
            <a:solidFill>
              <a:schemeClr val="accent5"/>
            </a:solidFill>
            <a:prstDash val="solid"/>
          </a:ln>
        </p:spPr>
      </p:sp>
      <p:sp>
        <p:nvSpPr>
          <p:cNvPr id="61" name="Text 57"/>
          <p:cNvSpPr txBox="1"/>
          <p:nvPr/>
        </p:nvSpPr>
        <p:spPr>
          <a:xfrm>
            <a:off x="9957816" y="5413248"/>
            <a:ext cx="1545336" cy="749808"/>
          </a:xfrm>
          <a:prstGeom prst="rect">
            <a:avLst/>
          </a:prstGeom>
          <a:noFill/>
          <a:ln/>
        </p:spPr>
        <p:txBody>
          <a:bodyPr wrap="square" lIns="0" tIns="0" rIns="0" bIns="0" rtlCol="0" anchor="t"/>
          <a:lstStyle/>
          <a:p>
            <a:pPr indent="0" marL="0">
              <a:spcAft>
                <a:spcPts val="200"/>
              </a:spcAft>
              <a:buNone/>
            </a:pPr>
            <a:r>
              <a:rPr lang="en-US" sz="900" b="1" dirty="0">
                <a:solidFill>
                  <a:schemeClr val="accent1"/>
                </a:solidFill>
              </a:rPr>
              <a:t>Platform · 18 months+</a:t>
            </a:r>
            <a:endParaRPr lang="en-US" sz="900" dirty="0"/>
          </a:p>
          <a:p>
            <a:pPr indent="0" marL="0">
              <a:spcAft>
                <a:spcPts val="200"/>
              </a:spcAft>
              <a:buNone/>
            </a:pPr>
            <a:r>
              <a:rPr lang="en-US" sz="900" dirty="0">
                <a:solidFill>
                  <a:schemeClr val="tx1"/>
                </a:solidFill>
              </a:rPr>
              <a:t>B2B API for insurers, refurbishers and OEM after-sales</a:t>
            </a:r>
            <a:endParaRPr lang="en-US" sz="900" dirty="0"/>
          </a:p>
        </p:txBody>
      </p:sp>
      <p:sp>
        <p:nvSpPr>
          <p:cNvPr id="62" name="Sources"/>
          <p:cNvSpPr txBox="1"/>
          <p:nvPr/>
        </p:nvSpPr>
        <p:spPr>
          <a:xfrm>
            <a:off x="457200" y="6391656"/>
            <a:ext cx="11292840" cy="384048"/>
          </a:xfrm>
          <a:prstGeom prst="rect">
            <a:avLst/>
          </a:prstGeom>
          <a:noFill/>
          <a:ln/>
        </p:spPr>
        <p:txBody>
          <a:bodyPr wrap="square" lIns="0" tIns="0" rIns="0" bIns="0" rtlCol="0" anchor="t"/>
          <a:lstStyle/>
          <a:p>
            <a:pPr indent="0" marL="0">
              <a:buNone/>
            </a:pPr>
            <a:r>
              <a:rPr lang="en-US" sz="900" dirty="0">
                <a:solidFill>
                  <a:schemeClr val="accent4"/>
                </a:solidFill>
              </a:rPr>
              <a:t>Sources: Dept. of Consumer Affairs, Govt. of India — Repairability Index framework for the mobile &amp; electronics sector (committee report, 2025) · EU Delegated Regulation 2023/1669 (repairability class on smartphone and tablet labels from 20 Jun 2025) · MoEFCC, E-Waste (Management) Rules, 2022. Pricing is planned and indicative.</a:t>
            </a:r>
            <a:endParaRPr lang="en-US" sz="900" dirty="0"/>
          </a:p>
        </p:txBody>
      </p:sp>
    </p:spTree>
  </p:cSld>
  <p:clrMapOvr>
    <a:masterClrMapping/>
  </p:clrMapOvr>
</p:sld>
</file>

<file path=ppt/theme/theme1.xml><?xml version="1.0" encoding="utf-8"?>
<a:theme xmlns:a="http://schemas.openxmlformats.org/drawingml/2006/main" name="RepairOS CodeSlayer">
  <a:themeElements>
    <a:clrScheme name="RepairOS CodeSlayer">
      <a:dk1>
        <a:srgbClr val="141821"/>
      </a:dk1>
      <a:lt1>
        <a:srgbClr val="FFFFFF"/>
      </a:lt1>
      <a:dk2>
        <a:srgbClr val="1B2430"/>
      </a:dk2>
      <a:lt2>
        <a:srgbClr val="F4F5F7"/>
      </a:lt2>
      <a:accent1>
        <a:srgbClr val="B3122E"/>
      </a:accent1>
      <a:accent2>
        <a:srgbClr val="1E8E5A"/>
      </a:accent2>
      <a:accent3>
        <a:srgbClr val="C77C02"/>
      </a:accent3>
      <a:accent4>
        <a:srgbClr val="5B6472"/>
      </a:accent4>
      <a:accent5>
        <a:srgbClr val="DDE1E6"/>
      </a:accent5>
      <a:accent6>
        <a:srgbClr val="FBEAED"/>
      </a:accent6>
      <a:hlink>
        <a:srgbClr val="B3122E"/>
      </a:hlink>
      <a:folHlink>
        <a:srgbClr val="7A0C1F"/>
      </a:folHlink>
    </a:clrScheme>
    <a:fontScheme name="RepairOS CodeSlaye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RepairOS — Diagnose Before You Replace</dc:title>
  <dc:subject>CodeSlayer 2K26 submission</dc:subject>
  <dc:creator>Team Name</dc:creator>
  <cp:lastModifiedBy>Team Name</cp:lastModifiedBy>
  <cp:revision>1</cp:revision>
  <dcterms:created xsi:type="dcterms:W3CDTF">2026-10-04T14:13:33Z</dcterms:created>
  <dcterms:modified xsi:type="dcterms:W3CDTF">2026-10-04T14:13:33Z</dcterms:modified>
</cp:coreProperties>
</file>